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Lst>
  <p:sldSz cy="6858000" cx="12192000"/>
  <p:notesSz cx="6858000" cy="9144000"/>
  <p:embeddedFontLst>
    <p:embeddedFont>
      <p:font typeface="Libre Franklin"/>
      <p:regular r:id="rId26"/>
      <p:bold r:id="rId27"/>
      <p:italic r:id="rId28"/>
      <p:boldItalic r:id="rId29"/>
    </p:embeddedFont>
    <p:embeddedFont>
      <p:font typeface="Franklin Gothic"/>
      <p:bold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31" roundtripDataSignature="AMtx7mhczx3Xrd+8o1jXu/u0o/qGmVchb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LibreFranklin-regular.fntdata"/><Relationship Id="rId25" Type="http://schemas.openxmlformats.org/officeDocument/2006/relationships/slide" Target="slides/slide21.xml"/><Relationship Id="rId28" Type="http://schemas.openxmlformats.org/officeDocument/2006/relationships/font" Target="fonts/LibreFranklin-italic.fntdata"/><Relationship Id="rId27" Type="http://schemas.openxmlformats.org/officeDocument/2006/relationships/font" Target="fonts/LibreFranklin-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LibreFranklin-boldItalic.fntdata"/><Relationship Id="rId7" Type="http://schemas.openxmlformats.org/officeDocument/2006/relationships/slide" Target="slides/slide3.xml"/><Relationship Id="rId8" Type="http://schemas.openxmlformats.org/officeDocument/2006/relationships/slide" Target="slides/slide4.xml"/><Relationship Id="rId31" Type="http://customschemas.google.com/relationships/presentationmetadata" Target="metadata"/><Relationship Id="rId30" Type="http://schemas.openxmlformats.org/officeDocument/2006/relationships/font" Target="fonts/FranklinGothic-bold.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1: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5" name="Google Shape;65;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5"/>
          <p:cNvSpPr txBox="1"/>
          <p:nvPr>
            <p:ph type="ctrTitle"/>
          </p:nvPr>
        </p:nvSpPr>
        <p:spPr>
          <a:xfrm>
            <a:off x="1524000" y="1122363"/>
            <a:ext cx="9144000" cy="2387600"/>
          </a:xfrm>
          <a:prstGeom prst="rect">
            <a:avLst/>
          </a:prstGeom>
          <a:noFill/>
          <a:ln>
            <a:noFill/>
          </a:ln>
        </p:spPr>
        <p:txBody>
          <a:bodyPr anchorCtr="0" anchor="b" bIns="91425" lIns="91425" spcFirstLastPara="1" rIns="91425" wrap="square" tIns="91425">
            <a:noAutofit/>
          </a:bodyPr>
          <a:lstStyle>
            <a:lvl1pPr lvl="0" marR="0" algn="ctr">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p:txBody>
      </p:sp>
      <p:sp>
        <p:nvSpPr>
          <p:cNvPr id="13" name="Google Shape;13;p25"/>
          <p:cNvSpPr txBox="1"/>
          <p:nvPr>
            <p:ph idx="1" type="subTitle"/>
          </p:nvPr>
        </p:nvSpPr>
        <p:spPr>
          <a:xfrm>
            <a:off x="1524000" y="3602038"/>
            <a:ext cx="9144000" cy="1655762"/>
          </a:xfrm>
          <a:prstGeom prst="rect">
            <a:avLst/>
          </a:prstGeom>
          <a:noFill/>
          <a:ln>
            <a:noFill/>
          </a:ln>
        </p:spPr>
        <p:txBody>
          <a:bodyPr anchorCtr="0" anchor="t" bIns="91425" lIns="91425" spcFirstLastPara="1" rIns="91425" wrap="square" tIns="91425">
            <a:noAutofit/>
          </a:bodyPr>
          <a:lstStyle>
            <a:lvl1pPr lvl="0" marR="0" algn="ctr">
              <a:lnSpc>
                <a:spcPct val="90000"/>
              </a:lnSpc>
              <a:spcBef>
                <a:spcPts val="100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1pPr>
            <a:lvl2pPr lvl="1" marR="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2pPr>
            <a:lvl3pPr lvl="2" marR="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3pPr>
            <a:lvl4pPr lvl="3"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4pPr>
            <a:lvl5pPr lvl="4"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5pPr>
            <a:lvl6pPr lvl="5"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6pPr>
            <a:lvl7pPr lvl="6"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7pPr>
            <a:lvl8pPr lvl="7"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8pPr>
            <a:lvl9pPr lvl="8"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9pPr>
          </a:lstStyle>
          <a:p/>
        </p:txBody>
      </p:sp>
      <p:sp>
        <p:nvSpPr>
          <p:cNvPr id="14" name="Google Shape;14;p25"/>
          <p:cNvSpPr txBox="1"/>
          <p:nvPr>
            <p:ph idx="10" type="dt"/>
          </p:nvPr>
        </p:nvSpPr>
        <p:spPr>
          <a:xfrm>
            <a:off x="838200" y="6356350"/>
            <a:ext cx="2743200" cy="365125"/>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 name="Google Shape;15;p25"/>
          <p:cNvSpPr txBox="1"/>
          <p:nvPr>
            <p:ph idx="11" type="ftr"/>
          </p:nvPr>
        </p:nvSpPr>
        <p:spPr>
          <a:xfrm>
            <a:off x="4038600" y="6356350"/>
            <a:ext cx="4114800" cy="365125"/>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 name="Google Shape;16;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6"/>
          <p:cNvSpPr txBox="1"/>
          <p:nvPr>
            <p:ph type="title"/>
          </p:nvPr>
        </p:nvSpPr>
        <p:spPr>
          <a:xfrm>
            <a:off x="838200" y="365125"/>
            <a:ext cx="10515600" cy="1325563"/>
          </a:xfrm>
          <a:prstGeom prst="rect">
            <a:avLst/>
          </a:prstGeom>
          <a:noFill/>
          <a:ln>
            <a:noFill/>
          </a:ln>
        </p:spPr>
        <p:txBody>
          <a:bodyPr anchorCtr="0" anchor="ctr" bIns="91425" lIns="91425" spcFirstLastPara="1" rIns="91425" wrap="square" tIns="91425">
            <a:noAutofit/>
          </a:bodyPr>
          <a:lstStyle>
            <a:lvl1pPr lvl="0" marR="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p:txBody>
      </p:sp>
      <p:sp>
        <p:nvSpPr>
          <p:cNvPr id="19" name="Google Shape;19;p26"/>
          <p:cNvSpPr txBox="1"/>
          <p:nvPr>
            <p:ph idx="1" type="body"/>
          </p:nvPr>
        </p:nvSpPr>
        <p:spPr>
          <a:xfrm>
            <a:off x="838200" y="1825625"/>
            <a:ext cx="10515600" cy="4351338"/>
          </a:xfrm>
          <a:prstGeom prst="rect">
            <a:avLst/>
          </a:prstGeom>
          <a:noFill/>
          <a:ln>
            <a:noFill/>
          </a:ln>
        </p:spPr>
        <p:txBody>
          <a:bodyPr anchorCtr="0" anchor="t" bIns="91425" lIns="91425" spcFirstLastPara="1" rIns="91425" wrap="square" tIns="91425">
            <a:noAutofit/>
          </a:bodyPr>
          <a:lstStyle>
            <a:lvl1pPr indent="-406400" lvl="0" marL="457200" marR="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0" name="Google Shape;20;p26"/>
          <p:cNvSpPr txBox="1"/>
          <p:nvPr>
            <p:ph idx="10" type="dt"/>
          </p:nvPr>
        </p:nvSpPr>
        <p:spPr>
          <a:xfrm>
            <a:off x="838200" y="6356350"/>
            <a:ext cx="2743200" cy="365125"/>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SzPts val="1400"/>
              <a:buNone/>
              <a:defRPr sz="1200">
                <a:solidFill>
                  <a:srgbClr val="888888"/>
                </a:solidFill>
                <a:latin typeface="Calibri"/>
                <a:ea typeface="Calibri"/>
                <a:cs typeface="Calibri"/>
                <a:sym typeface="Calibri"/>
              </a:defRPr>
            </a:lvl1pPr>
            <a:lvl2pPr lvl="1"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1" name="Google Shape;21;p26"/>
          <p:cNvSpPr txBox="1"/>
          <p:nvPr>
            <p:ph idx="11" type="ftr"/>
          </p:nvPr>
        </p:nvSpPr>
        <p:spPr>
          <a:xfrm>
            <a:off x="4038600" y="6356350"/>
            <a:ext cx="4114800" cy="365125"/>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SzPts val="1400"/>
              <a:buNone/>
              <a:defRPr sz="1200">
                <a:solidFill>
                  <a:srgbClr val="888888"/>
                </a:solidFill>
                <a:latin typeface="Calibri"/>
                <a:ea typeface="Calibri"/>
                <a:cs typeface="Calibri"/>
                <a:sym typeface="Calibri"/>
              </a:defRPr>
            </a:lvl1pPr>
            <a:lvl2pPr lvl="1"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2" name="Google Shape;22;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3" name="Shape 23"/>
        <p:cNvGrpSpPr/>
        <p:nvPr/>
      </p:nvGrpSpPr>
      <p:grpSpPr>
        <a:xfrm>
          <a:off x="0" y="0"/>
          <a:ext cx="0" cy="0"/>
          <a:chOff x="0" y="0"/>
          <a:chExt cx="0" cy="0"/>
        </a:xfrm>
      </p:grpSpPr>
      <p:sp>
        <p:nvSpPr>
          <p:cNvPr id="24" name="Google Shape;24;p27"/>
          <p:cNvSpPr txBox="1"/>
          <p:nvPr>
            <p:ph type="title"/>
          </p:nvPr>
        </p:nvSpPr>
        <p:spPr>
          <a:xfrm>
            <a:off x="839788" y="365125"/>
            <a:ext cx="10515600" cy="1325563"/>
          </a:xfrm>
          <a:prstGeom prst="rect">
            <a:avLst/>
          </a:prstGeom>
          <a:noFill/>
          <a:ln>
            <a:noFill/>
          </a:ln>
        </p:spPr>
        <p:txBody>
          <a:bodyPr anchorCtr="0" anchor="ctr" bIns="91425" lIns="91425" spcFirstLastPara="1" rIns="91425" wrap="square" tIns="91425">
            <a:noAutofit/>
          </a:bodyPr>
          <a:lstStyle>
            <a:lvl1pPr lvl="0" marR="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p:txBody>
      </p:sp>
      <p:sp>
        <p:nvSpPr>
          <p:cNvPr id="25" name="Google Shape;25;p27"/>
          <p:cNvSpPr txBox="1"/>
          <p:nvPr>
            <p:ph idx="1" type="body"/>
          </p:nvPr>
        </p:nvSpPr>
        <p:spPr>
          <a:xfrm>
            <a:off x="839788" y="1681163"/>
            <a:ext cx="5157787" cy="823912"/>
          </a:xfrm>
          <a:prstGeom prst="rect">
            <a:avLst/>
          </a:prstGeom>
          <a:noFill/>
          <a:ln>
            <a:noFill/>
          </a:ln>
        </p:spPr>
        <p:txBody>
          <a:bodyPr anchorCtr="0" anchor="b" bIns="91425" lIns="91425" spcFirstLastPara="1" rIns="91425" wrap="square" tIns="91425">
            <a:noAutofit/>
          </a:bodyPr>
          <a:lstStyle>
            <a:lvl1pPr indent="-228600" lvl="0" marL="457200" marR="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26" name="Google Shape;26;p27"/>
          <p:cNvSpPr txBox="1"/>
          <p:nvPr>
            <p:ph idx="2" type="body"/>
          </p:nvPr>
        </p:nvSpPr>
        <p:spPr>
          <a:xfrm>
            <a:off x="839788" y="2505075"/>
            <a:ext cx="5157787" cy="3684588"/>
          </a:xfrm>
          <a:prstGeom prst="rect">
            <a:avLst/>
          </a:prstGeom>
          <a:noFill/>
          <a:ln>
            <a:noFill/>
          </a:ln>
        </p:spPr>
        <p:txBody>
          <a:bodyPr anchorCtr="0" anchor="t" bIns="91425" lIns="91425" spcFirstLastPara="1" rIns="91425" wrap="square" tIns="91425">
            <a:noAutofit/>
          </a:bodyPr>
          <a:lstStyle>
            <a:lvl1pPr indent="-406400" lvl="0" marL="457200" marR="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7" name="Google Shape;27;p27"/>
          <p:cNvSpPr txBox="1"/>
          <p:nvPr>
            <p:ph idx="3" type="body"/>
          </p:nvPr>
        </p:nvSpPr>
        <p:spPr>
          <a:xfrm>
            <a:off x="6172200" y="1681163"/>
            <a:ext cx="5183188" cy="823912"/>
          </a:xfrm>
          <a:prstGeom prst="rect">
            <a:avLst/>
          </a:prstGeom>
          <a:noFill/>
          <a:ln>
            <a:noFill/>
          </a:ln>
        </p:spPr>
        <p:txBody>
          <a:bodyPr anchorCtr="0" anchor="b" bIns="91425" lIns="91425" spcFirstLastPara="1" rIns="91425" wrap="square" tIns="91425">
            <a:noAutofit/>
          </a:bodyPr>
          <a:lstStyle>
            <a:lvl1pPr indent="-228600" lvl="0" marL="457200" marR="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28" name="Google Shape;28;p27"/>
          <p:cNvSpPr txBox="1"/>
          <p:nvPr>
            <p:ph idx="4" type="body"/>
          </p:nvPr>
        </p:nvSpPr>
        <p:spPr>
          <a:xfrm>
            <a:off x="6172200" y="2505075"/>
            <a:ext cx="5183188" cy="3684588"/>
          </a:xfrm>
          <a:prstGeom prst="rect">
            <a:avLst/>
          </a:prstGeom>
          <a:noFill/>
          <a:ln>
            <a:noFill/>
          </a:ln>
        </p:spPr>
        <p:txBody>
          <a:bodyPr anchorCtr="0" anchor="t" bIns="91425" lIns="91425" spcFirstLastPara="1" rIns="91425" wrap="square" tIns="91425">
            <a:noAutofit/>
          </a:bodyPr>
          <a:lstStyle>
            <a:lvl1pPr indent="-406400" lvl="0" marL="457200" marR="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9" name="Google Shape;29;p27"/>
          <p:cNvSpPr txBox="1"/>
          <p:nvPr>
            <p:ph idx="10" type="dt"/>
          </p:nvPr>
        </p:nvSpPr>
        <p:spPr>
          <a:xfrm>
            <a:off x="838200" y="6356350"/>
            <a:ext cx="2743200" cy="365125"/>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SzPts val="1400"/>
              <a:buNone/>
              <a:defRPr sz="1200">
                <a:solidFill>
                  <a:srgbClr val="888888"/>
                </a:solidFill>
                <a:latin typeface="Calibri"/>
                <a:ea typeface="Calibri"/>
                <a:cs typeface="Calibri"/>
                <a:sym typeface="Calibri"/>
              </a:defRPr>
            </a:lvl1pPr>
            <a:lvl2pPr lvl="1"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0" name="Google Shape;30;p27"/>
          <p:cNvSpPr txBox="1"/>
          <p:nvPr>
            <p:ph idx="11" type="ftr"/>
          </p:nvPr>
        </p:nvSpPr>
        <p:spPr>
          <a:xfrm>
            <a:off x="4038600" y="6356350"/>
            <a:ext cx="4114800" cy="365125"/>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SzPts val="1400"/>
              <a:buNone/>
              <a:defRPr sz="1200">
                <a:solidFill>
                  <a:srgbClr val="888888"/>
                </a:solidFill>
                <a:latin typeface="Calibri"/>
                <a:ea typeface="Calibri"/>
                <a:cs typeface="Calibri"/>
                <a:sym typeface="Calibri"/>
              </a:defRPr>
            </a:lvl1pPr>
            <a:lvl2pPr lvl="1"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1" name="Google Shape;31;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28"/>
          <p:cNvSpPr txBox="1"/>
          <p:nvPr>
            <p:ph type="title"/>
          </p:nvPr>
        </p:nvSpPr>
        <p:spPr>
          <a:xfrm>
            <a:off x="838200" y="365125"/>
            <a:ext cx="10515600" cy="1325563"/>
          </a:xfrm>
          <a:prstGeom prst="rect">
            <a:avLst/>
          </a:prstGeom>
          <a:noFill/>
          <a:ln>
            <a:noFill/>
          </a:ln>
        </p:spPr>
        <p:txBody>
          <a:bodyPr anchorCtr="0" anchor="ctr" bIns="91425" lIns="91425" spcFirstLastPara="1" rIns="91425" wrap="square" tIns="91425">
            <a:noAutofit/>
          </a:bodyPr>
          <a:lstStyle>
            <a:lvl1pPr lvl="0" marR="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p:txBody>
      </p:sp>
      <p:sp>
        <p:nvSpPr>
          <p:cNvPr id="34" name="Google Shape;34;p28"/>
          <p:cNvSpPr txBox="1"/>
          <p:nvPr>
            <p:ph idx="10" type="dt"/>
          </p:nvPr>
        </p:nvSpPr>
        <p:spPr>
          <a:xfrm>
            <a:off x="838200" y="6356350"/>
            <a:ext cx="2743200" cy="365125"/>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SzPts val="1400"/>
              <a:buNone/>
              <a:defRPr sz="1200">
                <a:solidFill>
                  <a:srgbClr val="888888"/>
                </a:solidFill>
                <a:latin typeface="Calibri"/>
                <a:ea typeface="Calibri"/>
                <a:cs typeface="Calibri"/>
                <a:sym typeface="Calibri"/>
              </a:defRPr>
            </a:lvl1pPr>
            <a:lvl2pPr lvl="1"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5" name="Google Shape;35;p28"/>
          <p:cNvSpPr txBox="1"/>
          <p:nvPr>
            <p:ph idx="11" type="ftr"/>
          </p:nvPr>
        </p:nvSpPr>
        <p:spPr>
          <a:xfrm>
            <a:off x="4038600" y="6356350"/>
            <a:ext cx="4114800" cy="365125"/>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SzPts val="1400"/>
              <a:buNone/>
              <a:defRPr sz="1200">
                <a:solidFill>
                  <a:srgbClr val="888888"/>
                </a:solidFill>
                <a:latin typeface="Calibri"/>
                <a:ea typeface="Calibri"/>
                <a:cs typeface="Calibri"/>
                <a:sym typeface="Calibri"/>
              </a:defRPr>
            </a:lvl1pPr>
            <a:lvl2pPr lvl="1"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6" name="Google Shape;36;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7" name="Shape 37"/>
        <p:cNvGrpSpPr/>
        <p:nvPr/>
      </p:nvGrpSpPr>
      <p:grpSpPr>
        <a:xfrm>
          <a:off x="0" y="0"/>
          <a:ext cx="0" cy="0"/>
          <a:chOff x="0" y="0"/>
          <a:chExt cx="0" cy="0"/>
        </a:xfrm>
      </p:grpSpPr>
      <p:sp>
        <p:nvSpPr>
          <p:cNvPr id="38" name="Google Shape;38;p29"/>
          <p:cNvSpPr txBox="1"/>
          <p:nvPr>
            <p:ph type="title"/>
          </p:nvPr>
        </p:nvSpPr>
        <p:spPr>
          <a:xfrm>
            <a:off x="839788" y="457200"/>
            <a:ext cx="3932237" cy="1600200"/>
          </a:xfrm>
          <a:prstGeom prst="rect">
            <a:avLst/>
          </a:prstGeom>
          <a:noFill/>
          <a:ln>
            <a:noFill/>
          </a:ln>
        </p:spPr>
        <p:txBody>
          <a:bodyPr anchorCtr="0" anchor="b" bIns="91425" lIns="91425" spcFirstLastPara="1" rIns="91425" wrap="square" tIns="91425">
            <a:noAutofit/>
          </a:bodyPr>
          <a:lstStyle>
            <a:lvl1pPr lvl="0" marR="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p:txBody>
      </p:sp>
      <p:sp>
        <p:nvSpPr>
          <p:cNvPr id="39" name="Google Shape;39;p29"/>
          <p:cNvSpPr txBox="1"/>
          <p:nvPr>
            <p:ph idx="1" type="body"/>
          </p:nvPr>
        </p:nvSpPr>
        <p:spPr>
          <a:xfrm>
            <a:off x="5183188" y="987425"/>
            <a:ext cx="6172200" cy="4873625"/>
          </a:xfrm>
          <a:prstGeom prst="rect">
            <a:avLst/>
          </a:prstGeom>
          <a:noFill/>
          <a:ln>
            <a:noFill/>
          </a:ln>
        </p:spPr>
        <p:txBody>
          <a:bodyPr anchorCtr="0" anchor="t" bIns="91425" lIns="91425" spcFirstLastPara="1" rIns="91425" wrap="square" tIns="91425">
            <a:noAutofit/>
          </a:bodyPr>
          <a:lstStyle>
            <a:lvl1pPr indent="-431800" lvl="0" marL="457200" marR="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40" name="Google Shape;40;p29"/>
          <p:cNvSpPr txBox="1"/>
          <p:nvPr>
            <p:ph idx="2" type="body"/>
          </p:nvPr>
        </p:nvSpPr>
        <p:spPr>
          <a:xfrm>
            <a:off x="839788" y="2057400"/>
            <a:ext cx="3932237" cy="3811588"/>
          </a:xfrm>
          <a:prstGeom prst="rect">
            <a:avLst/>
          </a:prstGeom>
          <a:noFill/>
          <a:ln>
            <a:noFill/>
          </a:ln>
        </p:spPr>
        <p:txBody>
          <a:bodyPr anchorCtr="0" anchor="t" bIns="91425" lIns="91425" spcFirstLastPara="1" rIns="91425" wrap="square" tIns="91425">
            <a:noAutofit/>
          </a:bodyPr>
          <a:lstStyle>
            <a:lvl1pPr indent="-228600" lvl="0" marL="457200" marR="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41" name="Google Shape;41;p29"/>
          <p:cNvSpPr txBox="1"/>
          <p:nvPr>
            <p:ph idx="10" type="dt"/>
          </p:nvPr>
        </p:nvSpPr>
        <p:spPr>
          <a:xfrm>
            <a:off x="838200" y="6356350"/>
            <a:ext cx="2743200" cy="365125"/>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SzPts val="1400"/>
              <a:buNone/>
              <a:defRPr sz="1200">
                <a:solidFill>
                  <a:srgbClr val="888888"/>
                </a:solidFill>
                <a:latin typeface="Calibri"/>
                <a:ea typeface="Calibri"/>
                <a:cs typeface="Calibri"/>
                <a:sym typeface="Calibri"/>
              </a:defRPr>
            </a:lvl1pPr>
            <a:lvl2pPr lvl="1"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2" name="Google Shape;42;p29"/>
          <p:cNvSpPr txBox="1"/>
          <p:nvPr>
            <p:ph idx="11" type="ftr"/>
          </p:nvPr>
        </p:nvSpPr>
        <p:spPr>
          <a:xfrm>
            <a:off x="4038600" y="6356350"/>
            <a:ext cx="4114800" cy="365125"/>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SzPts val="1400"/>
              <a:buNone/>
              <a:defRPr sz="1200">
                <a:solidFill>
                  <a:srgbClr val="888888"/>
                </a:solidFill>
                <a:latin typeface="Calibri"/>
                <a:ea typeface="Calibri"/>
                <a:cs typeface="Calibri"/>
                <a:sym typeface="Calibri"/>
              </a:defRPr>
            </a:lvl1pPr>
            <a:lvl2pPr lvl="1"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3" name="Google Shape;43;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4" name="Shape 44"/>
        <p:cNvGrpSpPr/>
        <p:nvPr/>
      </p:nvGrpSpPr>
      <p:grpSpPr>
        <a:xfrm>
          <a:off x="0" y="0"/>
          <a:ext cx="0" cy="0"/>
          <a:chOff x="0" y="0"/>
          <a:chExt cx="0" cy="0"/>
        </a:xfrm>
      </p:grpSpPr>
      <p:sp>
        <p:nvSpPr>
          <p:cNvPr id="45" name="Google Shape;45;p30"/>
          <p:cNvSpPr txBox="1"/>
          <p:nvPr>
            <p:ph type="title"/>
          </p:nvPr>
        </p:nvSpPr>
        <p:spPr>
          <a:xfrm>
            <a:off x="839788" y="457200"/>
            <a:ext cx="3932237" cy="1600200"/>
          </a:xfrm>
          <a:prstGeom prst="rect">
            <a:avLst/>
          </a:prstGeom>
          <a:noFill/>
          <a:ln>
            <a:noFill/>
          </a:ln>
        </p:spPr>
        <p:txBody>
          <a:bodyPr anchorCtr="0" anchor="b" bIns="91425" lIns="91425" spcFirstLastPara="1" rIns="91425" wrap="square" tIns="91425">
            <a:noAutofit/>
          </a:bodyPr>
          <a:lstStyle>
            <a:lvl1pPr lvl="0" marR="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p:txBody>
      </p:sp>
      <p:sp>
        <p:nvSpPr>
          <p:cNvPr id="46" name="Google Shape;46;p30"/>
          <p:cNvSpPr/>
          <p:nvPr>
            <p:ph idx="2" type="pic"/>
          </p:nvPr>
        </p:nvSpPr>
        <p:spPr>
          <a:xfrm>
            <a:off x="5183188" y="987425"/>
            <a:ext cx="6172200" cy="4873625"/>
          </a:xfrm>
          <a:prstGeom prst="rect">
            <a:avLst/>
          </a:prstGeom>
          <a:noFill/>
          <a:ln>
            <a:noFill/>
          </a:ln>
        </p:spPr>
      </p:sp>
      <p:sp>
        <p:nvSpPr>
          <p:cNvPr id="47" name="Google Shape;47;p30"/>
          <p:cNvSpPr txBox="1"/>
          <p:nvPr>
            <p:ph idx="1" type="body"/>
          </p:nvPr>
        </p:nvSpPr>
        <p:spPr>
          <a:xfrm>
            <a:off x="839788" y="2057400"/>
            <a:ext cx="3932237" cy="3811588"/>
          </a:xfrm>
          <a:prstGeom prst="rect">
            <a:avLst/>
          </a:prstGeom>
          <a:noFill/>
          <a:ln>
            <a:noFill/>
          </a:ln>
        </p:spPr>
        <p:txBody>
          <a:bodyPr anchorCtr="0" anchor="t" bIns="91425" lIns="91425" spcFirstLastPara="1" rIns="91425" wrap="square" tIns="91425">
            <a:noAutofit/>
          </a:bodyPr>
          <a:lstStyle>
            <a:lvl1pPr indent="-228600" lvl="0" marL="457200" marR="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48" name="Google Shape;48;p30"/>
          <p:cNvSpPr txBox="1"/>
          <p:nvPr>
            <p:ph idx="10" type="dt"/>
          </p:nvPr>
        </p:nvSpPr>
        <p:spPr>
          <a:xfrm>
            <a:off x="838200" y="6356350"/>
            <a:ext cx="2743200" cy="365125"/>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SzPts val="1400"/>
              <a:buNone/>
              <a:defRPr sz="1200">
                <a:solidFill>
                  <a:srgbClr val="888888"/>
                </a:solidFill>
                <a:latin typeface="Calibri"/>
                <a:ea typeface="Calibri"/>
                <a:cs typeface="Calibri"/>
                <a:sym typeface="Calibri"/>
              </a:defRPr>
            </a:lvl1pPr>
            <a:lvl2pPr lvl="1"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9" name="Google Shape;49;p30"/>
          <p:cNvSpPr txBox="1"/>
          <p:nvPr>
            <p:ph idx="11" type="ftr"/>
          </p:nvPr>
        </p:nvSpPr>
        <p:spPr>
          <a:xfrm>
            <a:off x="4038600" y="6356350"/>
            <a:ext cx="4114800" cy="365125"/>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SzPts val="1400"/>
              <a:buNone/>
              <a:defRPr sz="1200">
                <a:solidFill>
                  <a:srgbClr val="888888"/>
                </a:solidFill>
                <a:latin typeface="Calibri"/>
                <a:ea typeface="Calibri"/>
                <a:cs typeface="Calibri"/>
                <a:sym typeface="Calibri"/>
              </a:defRPr>
            </a:lvl1pPr>
            <a:lvl2pPr lvl="1"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0" name="Google Shape;50;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1" name="Shape 51"/>
        <p:cNvGrpSpPr/>
        <p:nvPr/>
      </p:nvGrpSpPr>
      <p:grpSpPr>
        <a:xfrm>
          <a:off x="0" y="0"/>
          <a:ext cx="0" cy="0"/>
          <a:chOff x="0" y="0"/>
          <a:chExt cx="0" cy="0"/>
        </a:xfrm>
      </p:grpSpPr>
      <p:sp>
        <p:nvSpPr>
          <p:cNvPr id="52" name="Google Shape;52;p31"/>
          <p:cNvSpPr txBox="1"/>
          <p:nvPr>
            <p:ph type="title"/>
          </p:nvPr>
        </p:nvSpPr>
        <p:spPr>
          <a:xfrm>
            <a:off x="838200" y="365125"/>
            <a:ext cx="10515600" cy="1325563"/>
          </a:xfrm>
          <a:prstGeom prst="rect">
            <a:avLst/>
          </a:prstGeom>
          <a:noFill/>
          <a:ln>
            <a:noFill/>
          </a:ln>
        </p:spPr>
        <p:txBody>
          <a:bodyPr anchorCtr="0" anchor="ctr" bIns="91425" lIns="91425" spcFirstLastPara="1" rIns="91425" wrap="square" tIns="91425">
            <a:noAutofit/>
          </a:bodyPr>
          <a:lstStyle>
            <a:lvl1pPr lvl="0" marR="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p:txBody>
      </p:sp>
      <p:sp>
        <p:nvSpPr>
          <p:cNvPr id="53" name="Google Shape;53;p31"/>
          <p:cNvSpPr txBox="1"/>
          <p:nvPr>
            <p:ph idx="1" type="body"/>
          </p:nvPr>
        </p:nvSpPr>
        <p:spPr>
          <a:xfrm rot="5400000">
            <a:off x="3920331" y="-1256506"/>
            <a:ext cx="4351338" cy="10515600"/>
          </a:xfrm>
          <a:prstGeom prst="rect">
            <a:avLst/>
          </a:prstGeom>
          <a:noFill/>
          <a:ln>
            <a:noFill/>
          </a:ln>
        </p:spPr>
        <p:txBody>
          <a:bodyPr anchorCtr="0" anchor="t" bIns="91425" lIns="91425" spcFirstLastPara="1" rIns="91425" wrap="square" tIns="91425">
            <a:noAutofit/>
          </a:bodyPr>
          <a:lstStyle>
            <a:lvl1pPr indent="-406400" lvl="0" marL="457200" marR="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4" name="Google Shape;54;p31"/>
          <p:cNvSpPr txBox="1"/>
          <p:nvPr>
            <p:ph idx="10" type="dt"/>
          </p:nvPr>
        </p:nvSpPr>
        <p:spPr>
          <a:xfrm>
            <a:off x="838200" y="6356350"/>
            <a:ext cx="2743200" cy="365125"/>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SzPts val="1400"/>
              <a:buNone/>
              <a:defRPr sz="1200">
                <a:solidFill>
                  <a:srgbClr val="888888"/>
                </a:solidFill>
                <a:latin typeface="Calibri"/>
                <a:ea typeface="Calibri"/>
                <a:cs typeface="Calibri"/>
                <a:sym typeface="Calibri"/>
              </a:defRPr>
            </a:lvl1pPr>
            <a:lvl2pPr lvl="1"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5" name="Google Shape;55;p31"/>
          <p:cNvSpPr txBox="1"/>
          <p:nvPr>
            <p:ph idx="11" type="ftr"/>
          </p:nvPr>
        </p:nvSpPr>
        <p:spPr>
          <a:xfrm>
            <a:off x="4038600" y="6356350"/>
            <a:ext cx="4114800" cy="365125"/>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SzPts val="1400"/>
              <a:buNone/>
              <a:defRPr sz="1200">
                <a:solidFill>
                  <a:srgbClr val="888888"/>
                </a:solidFill>
                <a:latin typeface="Calibri"/>
                <a:ea typeface="Calibri"/>
                <a:cs typeface="Calibri"/>
                <a:sym typeface="Calibri"/>
              </a:defRPr>
            </a:lvl1pPr>
            <a:lvl2pPr lvl="1"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6" name="Google Shape;56;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57" name="Shape 57"/>
        <p:cNvGrpSpPr/>
        <p:nvPr/>
      </p:nvGrpSpPr>
      <p:grpSpPr>
        <a:xfrm>
          <a:off x="0" y="0"/>
          <a:ext cx="0" cy="0"/>
          <a:chOff x="0" y="0"/>
          <a:chExt cx="0" cy="0"/>
        </a:xfrm>
      </p:grpSpPr>
      <p:sp>
        <p:nvSpPr>
          <p:cNvPr id="58" name="Google Shape;58;p32"/>
          <p:cNvSpPr txBox="1"/>
          <p:nvPr>
            <p:ph type="title"/>
          </p:nvPr>
        </p:nvSpPr>
        <p:spPr>
          <a:xfrm rot="5400000">
            <a:off x="7133431" y="1956594"/>
            <a:ext cx="5811838" cy="2628900"/>
          </a:xfrm>
          <a:prstGeom prst="rect">
            <a:avLst/>
          </a:prstGeom>
          <a:noFill/>
          <a:ln>
            <a:noFill/>
          </a:ln>
        </p:spPr>
        <p:txBody>
          <a:bodyPr anchorCtr="0" anchor="ctr" bIns="91425" lIns="91425" spcFirstLastPara="1" rIns="91425" wrap="square" tIns="91425">
            <a:noAutofit/>
          </a:bodyPr>
          <a:lstStyle>
            <a:lvl1pPr lvl="0" marR="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p:txBody>
      </p:sp>
      <p:sp>
        <p:nvSpPr>
          <p:cNvPr id="59" name="Google Shape;59;p32"/>
          <p:cNvSpPr txBox="1"/>
          <p:nvPr>
            <p:ph idx="1" type="body"/>
          </p:nvPr>
        </p:nvSpPr>
        <p:spPr>
          <a:xfrm rot="5400000">
            <a:off x="1799431" y="-596106"/>
            <a:ext cx="5811838" cy="7734300"/>
          </a:xfrm>
          <a:prstGeom prst="rect">
            <a:avLst/>
          </a:prstGeom>
          <a:noFill/>
          <a:ln>
            <a:noFill/>
          </a:ln>
        </p:spPr>
        <p:txBody>
          <a:bodyPr anchorCtr="0" anchor="t" bIns="91425" lIns="91425" spcFirstLastPara="1" rIns="91425" wrap="square" tIns="91425">
            <a:noAutofit/>
          </a:bodyPr>
          <a:lstStyle>
            <a:lvl1pPr indent="-406400" lvl="0" marL="457200" marR="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0" name="Google Shape;60;p32"/>
          <p:cNvSpPr txBox="1"/>
          <p:nvPr>
            <p:ph idx="10" type="dt"/>
          </p:nvPr>
        </p:nvSpPr>
        <p:spPr>
          <a:xfrm>
            <a:off x="838200" y="6356350"/>
            <a:ext cx="2743200" cy="365125"/>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SzPts val="1400"/>
              <a:buNone/>
              <a:defRPr sz="1200">
                <a:solidFill>
                  <a:srgbClr val="888888"/>
                </a:solidFill>
                <a:latin typeface="Calibri"/>
                <a:ea typeface="Calibri"/>
                <a:cs typeface="Calibri"/>
                <a:sym typeface="Calibri"/>
              </a:defRPr>
            </a:lvl1pPr>
            <a:lvl2pPr lvl="1"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1" name="Google Shape;61;p32"/>
          <p:cNvSpPr txBox="1"/>
          <p:nvPr>
            <p:ph idx="11" type="ftr"/>
          </p:nvPr>
        </p:nvSpPr>
        <p:spPr>
          <a:xfrm>
            <a:off x="4038600" y="6356350"/>
            <a:ext cx="4114800" cy="365125"/>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SzPts val="1400"/>
              <a:buNone/>
              <a:defRPr sz="1200">
                <a:solidFill>
                  <a:srgbClr val="888888"/>
                </a:solidFill>
                <a:latin typeface="Calibri"/>
                <a:ea typeface="Calibri"/>
                <a:cs typeface="Calibri"/>
                <a:sym typeface="Calibri"/>
              </a:defRPr>
            </a:lvl1pPr>
            <a:lvl2pPr lvl="1"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2" name="Google Shape;62;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4"/>
          <p:cNvSpPr txBox="1"/>
          <p:nvPr>
            <p:ph type="title"/>
          </p:nvPr>
        </p:nvSpPr>
        <p:spPr>
          <a:xfrm>
            <a:off x="838200" y="365125"/>
            <a:ext cx="10515600" cy="1325563"/>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4"/>
          <p:cNvSpPr txBox="1"/>
          <p:nvPr>
            <p:ph idx="1" type="body"/>
          </p:nvPr>
        </p:nvSpPr>
        <p:spPr>
          <a:xfrm>
            <a:off x="838200" y="1825625"/>
            <a:ext cx="10515600" cy="4351338"/>
          </a:xfrm>
          <a:prstGeom prst="rect">
            <a:avLst/>
          </a:prstGeom>
          <a:noFill/>
          <a:ln>
            <a:noFill/>
          </a:ln>
        </p:spPr>
        <p:txBody>
          <a:bodyPr anchorCtr="0" anchor="t" bIns="91425" lIns="91425" spcFirstLastPara="1" rIns="91425" wrap="square" tIns="91425">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4"/>
          <p:cNvSpPr txBox="1"/>
          <p:nvPr>
            <p:ph idx="10" type="dt"/>
          </p:nvPr>
        </p:nvSpPr>
        <p:spPr>
          <a:xfrm>
            <a:off x="838200" y="6356350"/>
            <a:ext cx="2743200" cy="365125"/>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4"/>
          <p:cNvSpPr txBox="1"/>
          <p:nvPr>
            <p:ph idx="11" type="ftr"/>
          </p:nvPr>
        </p:nvSpPr>
        <p:spPr>
          <a:xfrm>
            <a:off x="4038600" y="6356350"/>
            <a:ext cx="4114800" cy="365125"/>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3.png"/><Relationship Id="rId5"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19.png"/><Relationship Id="rId5"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image" Target="../media/image11.png"/></Relationships>
</file>

<file path=ppt/slides/_rels/slide17.xml.rels><?xml version="1.0" encoding="UTF-8" standalone="yes"?><Relationships xmlns="http://schemas.openxmlformats.org/package/2006/relationships"><Relationship Id="rId11" Type="http://schemas.openxmlformats.org/officeDocument/2006/relationships/image" Target="../media/image27.png"/><Relationship Id="rId10" Type="http://schemas.openxmlformats.org/officeDocument/2006/relationships/image" Target="../media/image17.png"/><Relationship Id="rId13" Type="http://schemas.openxmlformats.org/officeDocument/2006/relationships/image" Target="../media/image24.png"/><Relationship Id="rId12" Type="http://schemas.openxmlformats.org/officeDocument/2006/relationships/image" Target="../media/image22.png"/><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14.png"/><Relationship Id="rId9" Type="http://schemas.openxmlformats.org/officeDocument/2006/relationships/image" Target="../media/image12.png"/><Relationship Id="rId1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18.png"/><Relationship Id="rId7" Type="http://schemas.openxmlformats.org/officeDocument/2006/relationships/image" Target="../media/image21.png"/><Relationship Id="rId8"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
          <p:cNvSpPr txBox="1"/>
          <p:nvPr/>
        </p:nvSpPr>
        <p:spPr>
          <a:xfrm>
            <a:off x="266701" y="5691187"/>
            <a:ext cx="20058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Libre Franklin"/>
                <a:ea typeface="Libre Franklin"/>
                <a:cs typeface="Libre Franklin"/>
                <a:sym typeface="Libre Franklin"/>
              </a:rPr>
              <a:t>DS6040 Summer 202</a:t>
            </a:r>
            <a:r>
              <a:rPr lang="en-US">
                <a:latin typeface="Libre Franklin"/>
                <a:ea typeface="Libre Franklin"/>
                <a:cs typeface="Libre Franklin"/>
                <a:sym typeface="Libre Franklin"/>
              </a:rPr>
              <a:t>2</a:t>
            </a:r>
            <a:endParaRPr/>
          </a:p>
          <a:p>
            <a:pPr indent="0" lvl="0" marL="0" marR="0" rtl="0" algn="l">
              <a:lnSpc>
                <a:spcPct val="100000"/>
              </a:lnSpc>
              <a:spcBef>
                <a:spcPts val="0"/>
              </a:spcBef>
              <a:spcAft>
                <a:spcPts val="0"/>
              </a:spcAft>
              <a:buClr>
                <a:srgbClr val="000000"/>
              </a:buClr>
              <a:buSzPts val="1400"/>
              <a:buFont typeface="Arial"/>
              <a:buNone/>
            </a:pPr>
            <a:r>
              <a:rPr lang="en-US">
                <a:latin typeface="Libre Franklin"/>
                <a:ea typeface="Libre Franklin"/>
                <a:cs typeface="Libre Franklin"/>
                <a:sym typeface="Libre Franklin"/>
              </a:rPr>
              <a:t>Taylor Brown</a:t>
            </a:r>
            <a:endParaRPr/>
          </a:p>
        </p:txBody>
      </p:sp>
      <p:sp>
        <p:nvSpPr>
          <p:cNvPr id="68" name="Google Shape;68;p1"/>
          <p:cNvSpPr/>
          <p:nvPr/>
        </p:nvSpPr>
        <p:spPr>
          <a:xfrm>
            <a:off x="0" y="1214657"/>
            <a:ext cx="12192000" cy="261610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600"/>
              <a:buFont typeface="Arial"/>
              <a:buNone/>
            </a:pPr>
            <a:r>
              <a:rPr b="0" i="0" lang="en-US" sz="6600" u="none" cap="none" strike="noStrike">
                <a:solidFill>
                  <a:srgbClr val="000000"/>
                </a:solidFill>
                <a:latin typeface="Libre Franklin"/>
                <a:ea typeface="Libre Franklin"/>
                <a:cs typeface="Libre Franklin"/>
                <a:sym typeface="Libre Franklin"/>
              </a:rPr>
              <a:t>Estimation Part II:</a:t>
            </a:r>
            <a:endParaRPr/>
          </a:p>
          <a:p>
            <a:pPr indent="0" lvl="0" marL="0" marR="0" rtl="0" algn="ctr">
              <a:lnSpc>
                <a:spcPct val="100000"/>
              </a:lnSpc>
              <a:spcBef>
                <a:spcPts val="0"/>
              </a:spcBef>
              <a:spcAft>
                <a:spcPts val="0"/>
              </a:spcAft>
              <a:buClr>
                <a:srgbClr val="000000"/>
              </a:buClr>
              <a:buSzPts val="6600"/>
              <a:buFont typeface="Arial"/>
              <a:buNone/>
            </a:pPr>
            <a:r>
              <a:rPr b="0" i="0" lang="en-US" sz="6600" u="none" cap="none" strike="noStrike">
                <a:solidFill>
                  <a:srgbClr val="000000"/>
                </a:solidFill>
                <a:latin typeface="Libre Franklin"/>
                <a:ea typeface="Libre Franklin"/>
                <a:cs typeface="Libre Franklin"/>
                <a:sym typeface="Libre Franklin"/>
              </a:rPr>
              <a:t>Samplers Strike Back</a:t>
            </a:r>
            <a:endParaRPr b="0" i="0" sz="6600" u="none" cap="none" strike="noStrike">
              <a:solidFill>
                <a:srgbClr val="000000"/>
              </a:solidFill>
              <a:latin typeface="Libre Franklin"/>
              <a:ea typeface="Libre Franklin"/>
              <a:cs typeface="Libre Franklin"/>
              <a:sym typeface="Libre Franklin"/>
            </a:endParaRPr>
          </a:p>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Franklin Gothic"/>
                <a:ea typeface="Franklin Gothic"/>
                <a:cs typeface="Franklin Gothic"/>
                <a:sym typeface="Franklin Gothic"/>
              </a:rPr>
              <a:t>Module 6 Live Session (6/29/202</a:t>
            </a:r>
            <a:r>
              <a:rPr lang="en-US" sz="3200">
                <a:latin typeface="Franklin Gothic"/>
                <a:ea typeface="Franklin Gothic"/>
                <a:cs typeface="Franklin Gothic"/>
                <a:sym typeface="Franklin Gothic"/>
              </a:rPr>
              <a:t>2</a:t>
            </a:r>
            <a:r>
              <a:rPr b="0" i="0" lang="en-US" sz="3200" u="none" cap="none" strike="noStrike">
                <a:solidFill>
                  <a:srgbClr val="000000"/>
                </a:solidFill>
                <a:latin typeface="Franklin Gothic"/>
                <a:ea typeface="Franklin Gothic"/>
                <a:cs typeface="Franklin Gothic"/>
                <a:sym typeface="Franklin Gothic"/>
              </a:rPr>
              <a:t>)</a:t>
            </a:r>
            <a:endParaRPr/>
          </a:p>
        </p:txBody>
      </p:sp>
      <p:pic>
        <p:nvPicPr>
          <p:cNvPr descr="A picture containing application&#10;&#10;Description automatically generated" id="69" name="Google Shape;69;p1"/>
          <p:cNvPicPr preferRelativeResize="0"/>
          <p:nvPr/>
        </p:nvPicPr>
        <p:blipFill rotWithShape="1">
          <a:blip r:embed="rId3">
            <a:alphaModFix/>
          </a:blip>
          <a:srcRect b="0" l="0" r="0" t="0"/>
          <a:stretch/>
        </p:blipFill>
        <p:spPr>
          <a:xfrm>
            <a:off x="3826609" y="5766438"/>
            <a:ext cx="4806696" cy="89306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2"/>
          <p:cNvSpPr txBox="1"/>
          <p:nvPr>
            <p:ph idx="1" type="body"/>
          </p:nvPr>
        </p:nvSpPr>
        <p:spPr>
          <a:xfrm>
            <a:off x="192199" y="1027454"/>
            <a:ext cx="11741595" cy="4994773"/>
          </a:xfrm>
          <a:prstGeom prst="rect">
            <a:avLst/>
          </a:prstGeom>
          <a:noFill/>
          <a:ln>
            <a:noFill/>
          </a:ln>
        </p:spPr>
        <p:txBody>
          <a:bodyPr anchorCtr="0" anchor="t" bIns="91425" lIns="91425" spcFirstLastPara="1" rIns="91425" wrap="square" tIns="91425">
            <a:noAutofit/>
          </a:bodyPr>
          <a:lstStyle/>
          <a:p>
            <a:pPr indent="-571500" lvl="0" marL="571500" rtl="0" algn="l">
              <a:lnSpc>
                <a:spcPct val="90000"/>
              </a:lnSpc>
              <a:spcBef>
                <a:spcPts val="1000"/>
              </a:spcBef>
              <a:spcAft>
                <a:spcPts val="0"/>
              </a:spcAft>
              <a:buSzPts val="2800"/>
              <a:buChar char="•"/>
            </a:pPr>
            <a:r>
              <a:rPr lang="en-US" sz="4000">
                <a:latin typeface="Libre Franklin"/>
                <a:ea typeface="Libre Franklin"/>
                <a:cs typeface="Libre Franklin"/>
                <a:sym typeface="Libre Franklin"/>
              </a:rPr>
              <a:t>Halfway through the course!</a:t>
            </a:r>
            <a:endParaRPr/>
          </a:p>
          <a:p>
            <a:pPr indent="-571500" lvl="0" marL="571500" rtl="0" algn="l">
              <a:lnSpc>
                <a:spcPct val="90000"/>
              </a:lnSpc>
              <a:spcBef>
                <a:spcPts val="1000"/>
              </a:spcBef>
              <a:spcAft>
                <a:spcPts val="0"/>
              </a:spcAft>
              <a:buSzPts val="2800"/>
              <a:buChar char="•"/>
            </a:pPr>
            <a:r>
              <a:rPr lang="en-US" sz="4000">
                <a:latin typeface="Libre Franklin"/>
                <a:ea typeface="Libre Franklin"/>
                <a:cs typeface="Libre Franklin"/>
                <a:sym typeface="Libre Franklin"/>
              </a:rPr>
              <a:t>Check Gradescope for </a:t>
            </a:r>
            <a:r>
              <a:rPr lang="en-US" sz="4000">
                <a:latin typeface="Libre Franklin"/>
                <a:ea typeface="Libre Franklin"/>
                <a:cs typeface="Libre Franklin"/>
                <a:sym typeface="Libre Franklin"/>
              </a:rPr>
              <a:t>HW2 due dates</a:t>
            </a:r>
            <a:endParaRPr/>
          </a:p>
          <a:p>
            <a:pPr indent="-571500" lvl="0" marL="571500" rtl="0" algn="l">
              <a:lnSpc>
                <a:spcPct val="90000"/>
              </a:lnSpc>
              <a:spcBef>
                <a:spcPts val="1000"/>
              </a:spcBef>
              <a:spcAft>
                <a:spcPts val="0"/>
              </a:spcAft>
              <a:buSzPts val="2800"/>
              <a:buChar char="•"/>
            </a:pPr>
            <a:r>
              <a:rPr lang="en-US" sz="4000">
                <a:latin typeface="Libre Franklin"/>
                <a:ea typeface="Libre Franklin"/>
                <a:cs typeface="Libre Franklin"/>
                <a:sym typeface="Libre Franklin"/>
              </a:rPr>
              <a:t>Keep working on the Projects</a:t>
            </a:r>
            <a:endParaRPr/>
          </a:p>
          <a:p>
            <a:pPr indent="-571500" lvl="1" marL="1028700" rtl="0" algn="l">
              <a:lnSpc>
                <a:spcPct val="90000"/>
              </a:lnSpc>
              <a:spcBef>
                <a:spcPts val="500"/>
              </a:spcBef>
              <a:spcAft>
                <a:spcPts val="0"/>
              </a:spcAft>
              <a:buSzPts val="2400"/>
              <a:buChar char="•"/>
            </a:pPr>
            <a:r>
              <a:rPr lang="en-US" sz="3600">
                <a:latin typeface="Libre Franklin"/>
                <a:ea typeface="Libre Franklin"/>
                <a:cs typeface="Libre Franklin"/>
                <a:sym typeface="Libre Franklin"/>
              </a:rPr>
              <a:t>I’m available for questions/concerns!</a:t>
            </a:r>
            <a:endParaRPr/>
          </a:p>
          <a:p>
            <a:pPr indent="-571500" lvl="0" marL="571500" rtl="0" algn="l">
              <a:lnSpc>
                <a:spcPct val="90000"/>
              </a:lnSpc>
              <a:spcBef>
                <a:spcPts val="1000"/>
              </a:spcBef>
              <a:spcAft>
                <a:spcPts val="0"/>
              </a:spcAft>
              <a:buSzPts val="2800"/>
              <a:buChar char="•"/>
            </a:pPr>
            <a:r>
              <a:rPr lang="en-US" sz="4000">
                <a:latin typeface="Libre Franklin"/>
                <a:ea typeface="Libre Franklin"/>
                <a:cs typeface="Libre Franklin"/>
                <a:sym typeface="Libre Franklin"/>
              </a:rPr>
              <a:t>HW3 is out now!</a:t>
            </a:r>
            <a:endParaRPr/>
          </a:p>
        </p:txBody>
      </p:sp>
      <p:pic>
        <p:nvPicPr>
          <p:cNvPr id="75" name="Google Shape;75;p2"/>
          <p:cNvPicPr preferRelativeResize="0"/>
          <p:nvPr/>
        </p:nvPicPr>
        <p:blipFill rotWithShape="1">
          <a:blip r:embed="rId3">
            <a:alphaModFix/>
          </a:blip>
          <a:srcRect b="0" l="0" r="0" t="0"/>
          <a:stretch/>
        </p:blipFill>
        <p:spPr>
          <a:xfrm>
            <a:off x="8634957" y="6131859"/>
            <a:ext cx="3557043" cy="734035"/>
          </a:xfrm>
          <a:prstGeom prst="rect">
            <a:avLst/>
          </a:prstGeom>
          <a:noFill/>
          <a:ln>
            <a:noFill/>
          </a:ln>
        </p:spPr>
      </p:pic>
      <p:sp>
        <p:nvSpPr>
          <p:cNvPr id="76" name="Google Shape;76;p2"/>
          <p:cNvSpPr txBox="1"/>
          <p:nvPr/>
        </p:nvSpPr>
        <p:spPr>
          <a:xfrm>
            <a:off x="-1" y="6131859"/>
            <a:ext cx="8634957" cy="726141"/>
          </a:xfrm>
          <a:prstGeom prst="rect">
            <a:avLst/>
          </a:prstGeom>
          <a:solidFill>
            <a:srgbClr val="0B112B"/>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2"/>
          <p:cNvSpPr/>
          <p:nvPr/>
        </p:nvSpPr>
        <p:spPr>
          <a:xfrm>
            <a:off x="0" y="-7894"/>
            <a:ext cx="12192000" cy="998009"/>
          </a:xfrm>
          <a:prstGeom prst="rect">
            <a:avLst/>
          </a:prstGeom>
          <a:solidFill>
            <a:srgbClr val="0B112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78" name="Google Shape;78;p2"/>
          <p:cNvSpPr txBox="1"/>
          <p:nvPr/>
        </p:nvSpPr>
        <p:spPr>
          <a:xfrm>
            <a:off x="139769" y="29450"/>
            <a:ext cx="9873900" cy="923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5400"/>
              <a:buFont typeface="Arial"/>
              <a:buNone/>
            </a:pPr>
            <a:r>
              <a:rPr b="0" i="0" lang="en-US" sz="5400" u="none" cap="none" strike="noStrike">
                <a:solidFill>
                  <a:srgbClr val="ED7D31"/>
                </a:solidFill>
                <a:latin typeface="Franklin Gothic"/>
                <a:ea typeface="Franklin Gothic"/>
                <a:cs typeface="Franklin Gothic"/>
                <a:sym typeface="Franklin Gothic"/>
              </a:rPr>
              <a:t>Course Updates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3"/>
          <p:cNvSpPr txBox="1"/>
          <p:nvPr>
            <p:ph idx="1" type="body"/>
          </p:nvPr>
        </p:nvSpPr>
        <p:spPr>
          <a:xfrm>
            <a:off x="192199" y="1027454"/>
            <a:ext cx="11741595" cy="4994773"/>
          </a:xfrm>
          <a:prstGeom prst="rect">
            <a:avLst/>
          </a:prstGeom>
          <a:noFill/>
          <a:ln>
            <a:noFill/>
          </a:ln>
        </p:spPr>
        <p:txBody>
          <a:bodyPr anchorCtr="0" anchor="t" bIns="91425" lIns="91425" spcFirstLastPara="1" rIns="91425" wrap="square" tIns="91425">
            <a:noAutofit/>
          </a:bodyPr>
          <a:lstStyle/>
          <a:p>
            <a:pPr indent="-571500" lvl="0" marL="571500" rtl="0" algn="l">
              <a:lnSpc>
                <a:spcPct val="90000"/>
              </a:lnSpc>
              <a:spcBef>
                <a:spcPts val="1000"/>
              </a:spcBef>
              <a:spcAft>
                <a:spcPts val="0"/>
              </a:spcAft>
              <a:buSzPts val="2800"/>
              <a:buFont typeface="Arial"/>
              <a:buChar char="•"/>
            </a:pPr>
            <a:r>
              <a:rPr lang="en-US" sz="4000">
                <a:latin typeface="Libre Franklin"/>
                <a:ea typeface="Libre Franklin"/>
                <a:cs typeface="Libre Franklin"/>
                <a:sym typeface="Libre Franklin"/>
              </a:rPr>
              <a:t>Sampler Review</a:t>
            </a:r>
            <a:endParaRPr/>
          </a:p>
          <a:p>
            <a:pPr indent="-571500" lvl="0" marL="571500" rtl="0" algn="l">
              <a:lnSpc>
                <a:spcPct val="90000"/>
              </a:lnSpc>
              <a:spcBef>
                <a:spcPts val="1000"/>
              </a:spcBef>
              <a:spcAft>
                <a:spcPts val="0"/>
              </a:spcAft>
              <a:buSzPts val="2800"/>
              <a:buFont typeface="Arial"/>
              <a:buChar char="•"/>
            </a:pPr>
            <a:r>
              <a:rPr lang="en-US" sz="4000">
                <a:latin typeface="Libre Franklin"/>
                <a:ea typeface="Libre Franklin"/>
                <a:cs typeface="Libre Franklin"/>
                <a:sym typeface="Libre Franklin"/>
              </a:rPr>
              <a:t>What could Possibly Go Wrong? (With Samplers)</a:t>
            </a:r>
            <a:endParaRPr/>
          </a:p>
          <a:p>
            <a:pPr indent="-571500" lvl="0" marL="571500" rtl="0" algn="l">
              <a:lnSpc>
                <a:spcPct val="90000"/>
              </a:lnSpc>
              <a:spcBef>
                <a:spcPts val="1000"/>
              </a:spcBef>
              <a:spcAft>
                <a:spcPts val="0"/>
              </a:spcAft>
              <a:buSzPts val="2800"/>
              <a:buFont typeface="Arial"/>
              <a:buChar char="•"/>
            </a:pPr>
            <a:r>
              <a:rPr lang="en-US" sz="4000">
                <a:latin typeface="Libre Franklin"/>
                <a:ea typeface="Libre Franklin"/>
                <a:cs typeface="Libre Franklin"/>
                <a:sym typeface="Libre Franklin"/>
              </a:rPr>
              <a:t>What a Sampler Should Do</a:t>
            </a:r>
            <a:endParaRPr/>
          </a:p>
          <a:p>
            <a:pPr indent="-571500" lvl="0" marL="571500" rtl="0" algn="l">
              <a:lnSpc>
                <a:spcPct val="90000"/>
              </a:lnSpc>
              <a:spcBef>
                <a:spcPts val="1000"/>
              </a:spcBef>
              <a:spcAft>
                <a:spcPts val="0"/>
              </a:spcAft>
              <a:buSzPts val="2800"/>
              <a:buFont typeface="Arial"/>
              <a:buChar char="•"/>
            </a:pPr>
            <a:r>
              <a:rPr lang="en-US" sz="4000">
                <a:latin typeface="Libre Franklin"/>
                <a:ea typeface="Libre Franklin"/>
                <a:cs typeface="Libre Franklin"/>
                <a:sym typeface="Libre Franklin"/>
              </a:rPr>
              <a:t>Eyeballing Your Sampler</a:t>
            </a:r>
            <a:endParaRPr/>
          </a:p>
          <a:p>
            <a:pPr indent="-571500" lvl="0" marL="571500" rtl="0" algn="l">
              <a:lnSpc>
                <a:spcPct val="90000"/>
              </a:lnSpc>
              <a:spcBef>
                <a:spcPts val="1000"/>
              </a:spcBef>
              <a:spcAft>
                <a:spcPts val="0"/>
              </a:spcAft>
              <a:buSzPts val="2800"/>
              <a:buFont typeface="Arial"/>
              <a:buChar char="•"/>
            </a:pPr>
            <a:r>
              <a:rPr lang="en-US" sz="4000">
                <a:latin typeface="Libre Franklin"/>
                <a:ea typeface="Libre Franklin"/>
                <a:cs typeface="Libre Franklin"/>
                <a:sym typeface="Libre Franklin"/>
              </a:rPr>
              <a:t>Formal Diagnostics</a:t>
            </a:r>
            <a:endParaRPr/>
          </a:p>
          <a:p>
            <a:pPr indent="-571500" lvl="0" marL="571500" rtl="0" algn="l">
              <a:lnSpc>
                <a:spcPct val="90000"/>
              </a:lnSpc>
              <a:spcBef>
                <a:spcPts val="1000"/>
              </a:spcBef>
              <a:spcAft>
                <a:spcPts val="0"/>
              </a:spcAft>
              <a:buSzPts val="2800"/>
              <a:buFont typeface="Arial"/>
              <a:buChar char="•"/>
            </a:pPr>
            <a:r>
              <a:rPr lang="en-US" sz="4000">
                <a:latin typeface="Libre Franklin"/>
                <a:ea typeface="Libre Franklin"/>
                <a:cs typeface="Libre Franklin"/>
                <a:sym typeface="Libre Franklin"/>
              </a:rPr>
              <a:t>Sampling Categorical Variables</a:t>
            </a:r>
            <a:endParaRPr/>
          </a:p>
          <a:p>
            <a:pPr indent="-393700" lvl="0" marL="571500" rtl="0" algn="l">
              <a:lnSpc>
                <a:spcPct val="90000"/>
              </a:lnSpc>
              <a:spcBef>
                <a:spcPts val="1000"/>
              </a:spcBef>
              <a:spcAft>
                <a:spcPts val="0"/>
              </a:spcAft>
              <a:buSzPts val="2800"/>
              <a:buFont typeface="Arial"/>
              <a:buNone/>
            </a:pPr>
            <a:r>
              <a:t/>
            </a:r>
            <a:endParaRPr sz="4000">
              <a:latin typeface="Libre Franklin"/>
              <a:ea typeface="Libre Franklin"/>
              <a:cs typeface="Libre Franklin"/>
              <a:sym typeface="Libre Franklin"/>
            </a:endParaRPr>
          </a:p>
        </p:txBody>
      </p:sp>
      <p:pic>
        <p:nvPicPr>
          <p:cNvPr id="84" name="Google Shape;84;p3"/>
          <p:cNvPicPr preferRelativeResize="0"/>
          <p:nvPr/>
        </p:nvPicPr>
        <p:blipFill rotWithShape="1">
          <a:blip r:embed="rId3">
            <a:alphaModFix/>
          </a:blip>
          <a:srcRect b="0" l="0" r="0" t="0"/>
          <a:stretch/>
        </p:blipFill>
        <p:spPr>
          <a:xfrm>
            <a:off x="8634957" y="6131859"/>
            <a:ext cx="3557043" cy="734035"/>
          </a:xfrm>
          <a:prstGeom prst="rect">
            <a:avLst/>
          </a:prstGeom>
          <a:noFill/>
          <a:ln>
            <a:noFill/>
          </a:ln>
        </p:spPr>
      </p:pic>
      <p:sp>
        <p:nvSpPr>
          <p:cNvPr id="85" name="Google Shape;85;p3"/>
          <p:cNvSpPr txBox="1"/>
          <p:nvPr/>
        </p:nvSpPr>
        <p:spPr>
          <a:xfrm>
            <a:off x="-1" y="6131859"/>
            <a:ext cx="8634957" cy="726141"/>
          </a:xfrm>
          <a:prstGeom prst="rect">
            <a:avLst/>
          </a:prstGeom>
          <a:solidFill>
            <a:srgbClr val="0B112B"/>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3"/>
          <p:cNvSpPr/>
          <p:nvPr/>
        </p:nvSpPr>
        <p:spPr>
          <a:xfrm>
            <a:off x="0" y="-7894"/>
            <a:ext cx="12192000" cy="998009"/>
          </a:xfrm>
          <a:prstGeom prst="rect">
            <a:avLst/>
          </a:prstGeom>
          <a:solidFill>
            <a:srgbClr val="0B112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87" name="Google Shape;87;p3"/>
          <p:cNvSpPr txBox="1"/>
          <p:nvPr/>
        </p:nvSpPr>
        <p:spPr>
          <a:xfrm>
            <a:off x="139781" y="29445"/>
            <a:ext cx="2364750"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5400"/>
              <a:buFont typeface="Arial"/>
              <a:buNone/>
            </a:pPr>
            <a:r>
              <a:rPr b="0" i="0" lang="en-US" sz="5400" u="none" cap="none" strike="noStrike">
                <a:solidFill>
                  <a:srgbClr val="ED7D31"/>
                </a:solidFill>
                <a:latin typeface="Franklin Gothic"/>
                <a:ea typeface="Franklin Gothic"/>
                <a:cs typeface="Franklin Gothic"/>
                <a:sym typeface="Franklin Gothic"/>
              </a:rPr>
              <a:t>Outline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4"/>
          <p:cNvSpPr txBox="1"/>
          <p:nvPr>
            <p:ph idx="1" type="body"/>
          </p:nvPr>
        </p:nvSpPr>
        <p:spPr>
          <a:xfrm>
            <a:off x="289408" y="1100255"/>
            <a:ext cx="5903801" cy="3702674"/>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1000"/>
              </a:spcBef>
              <a:spcAft>
                <a:spcPts val="0"/>
              </a:spcAft>
              <a:buSzPts val="2800"/>
              <a:buNone/>
            </a:pPr>
            <a:r>
              <a:rPr lang="en-US">
                <a:latin typeface="Libre Franklin"/>
                <a:ea typeface="Libre Franklin"/>
                <a:cs typeface="Libre Franklin"/>
                <a:sym typeface="Libre Franklin"/>
              </a:rPr>
              <a:t>The basic ideas behind samplers are:</a:t>
            </a:r>
            <a:endParaRPr/>
          </a:p>
          <a:p>
            <a:pPr indent="-457200" lvl="1" marL="914400" rtl="0" algn="l">
              <a:lnSpc>
                <a:spcPct val="90000"/>
              </a:lnSpc>
              <a:spcBef>
                <a:spcPts val="500"/>
              </a:spcBef>
              <a:spcAft>
                <a:spcPts val="0"/>
              </a:spcAft>
              <a:buSzPts val="2400"/>
              <a:buChar char="•"/>
            </a:pPr>
            <a:r>
              <a:rPr lang="en-US">
                <a:latin typeface="Libre Franklin"/>
                <a:ea typeface="Libre Franklin"/>
                <a:cs typeface="Libre Franklin"/>
                <a:sym typeface="Libre Franklin"/>
              </a:rPr>
              <a:t>Sample from the posterior’s high probability region</a:t>
            </a:r>
            <a:endParaRPr/>
          </a:p>
          <a:p>
            <a:pPr indent="0" lvl="0" marL="0" rtl="0" algn="l">
              <a:lnSpc>
                <a:spcPct val="90000"/>
              </a:lnSpc>
              <a:spcBef>
                <a:spcPts val="1000"/>
              </a:spcBef>
              <a:spcAft>
                <a:spcPts val="0"/>
              </a:spcAft>
              <a:buSzPts val="2800"/>
              <a:buNone/>
            </a:pPr>
            <a:r>
              <a:rPr lang="en-US">
                <a:latin typeface="Libre Franklin"/>
                <a:ea typeface="Libre Franklin"/>
                <a:cs typeface="Libre Franklin"/>
                <a:sym typeface="Libre Franklin"/>
              </a:rPr>
              <a:t>If all goes well, your set of samples can be used to characterize your posterior distribution.</a:t>
            </a:r>
            <a:endParaRPr/>
          </a:p>
          <a:p>
            <a:pPr indent="0" lvl="0" marL="0" rtl="0" algn="l">
              <a:lnSpc>
                <a:spcPct val="90000"/>
              </a:lnSpc>
              <a:spcBef>
                <a:spcPts val="1000"/>
              </a:spcBef>
              <a:spcAft>
                <a:spcPts val="0"/>
              </a:spcAft>
              <a:buSzPts val="2800"/>
              <a:buNone/>
            </a:pPr>
            <a:r>
              <a:t/>
            </a:r>
            <a:endParaRPr>
              <a:latin typeface="Libre Franklin"/>
              <a:ea typeface="Libre Franklin"/>
              <a:cs typeface="Libre Franklin"/>
              <a:sym typeface="Libre Franklin"/>
            </a:endParaRPr>
          </a:p>
          <a:p>
            <a:pPr indent="0" lvl="0" marL="0" rtl="0" algn="l">
              <a:lnSpc>
                <a:spcPct val="90000"/>
              </a:lnSpc>
              <a:spcBef>
                <a:spcPts val="1000"/>
              </a:spcBef>
              <a:spcAft>
                <a:spcPts val="0"/>
              </a:spcAft>
              <a:buSzPts val="2800"/>
              <a:buNone/>
            </a:pPr>
            <a:r>
              <a:t/>
            </a:r>
            <a:endParaRPr/>
          </a:p>
          <a:p>
            <a:pPr indent="0" lvl="0" marL="0" rtl="0" algn="l">
              <a:lnSpc>
                <a:spcPct val="90000"/>
              </a:lnSpc>
              <a:spcBef>
                <a:spcPts val="1000"/>
              </a:spcBef>
              <a:spcAft>
                <a:spcPts val="0"/>
              </a:spcAft>
              <a:buSzPts val="2800"/>
              <a:buNone/>
            </a:pPr>
            <a:r>
              <a:t/>
            </a:r>
            <a:endParaRPr>
              <a:latin typeface="Libre Franklin"/>
              <a:ea typeface="Libre Franklin"/>
              <a:cs typeface="Libre Franklin"/>
              <a:sym typeface="Libre Franklin"/>
            </a:endParaRPr>
          </a:p>
          <a:p>
            <a:pPr indent="0" lvl="0" marL="0" rtl="0" algn="l">
              <a:lnSpc>
                <a:spcPct val="90000"/>
              </a:lnSpc>
              <a:spcBef>
                <a:spcPts val="1000"/>
              </a:spcBef>
              <a:spcAft>
                <a:spcPts val="0"/>
              </a:spcAft>
              <a:buSzPts val="2800"/>
              <a:buNone/>
            </a:pPr>
            <a:r>
              <a:t/>
            </a:r>
            <a:endParaRPr>
              <a:latin typeface="Libre Franklin"/>
              <a:ea typeface="Libre Franklin"/>
              <a:cs typeface="Libre Franklin"/>
              <a:sym typeface="Libre Franklin"/>
            </a:endParaRPr>
          </a:p>
        </p:txBody>
      </p:sp>
      <p:pic>
        <p:nvPicPr>
          <p:cNvPr id="93" name="Google Shape;93;p4"/>
          <p:cNvPicPr preferRelativeResize="0"/>
          <p:nvPr/>
        </p:nvPicPr>
        <p:blipFill rotWithShape="1">
          <a:blip r:embed="rId3">
            <a:alphaModFix/>
          </a:blip>
          <a:srcRect b="0" l="0" r="0" t="0"/>
          <a:stretch/>
        </p:blipFill>
        <p:spPr>
          <a:xfrm>
            <a:off x="8634957" y="6131859"/>
            <a:ext cx="3557043" cy="734035"/>
          </a:xfrm>
          <a:prstGeom prst="rect">
            <a:avLst/>
          </a:prstGeom>
          <a:noFill/>
          <a:ln>
            <a:noFill/>
          </a:ln>
        </p:spPr>
      </p:pic>
      <p:sp>
        <p:nvSpPr>
          <p:cNvPr id="94" name="Google Shape;94;p4"/>
          <p:cNvSpPr txBox="1"/>
          <p:nvPr/>
        </p:nvSpPr>
        <p:spPr>
          <a:xfrm>
            <a:off x="-1" y="6131859"/>
            <a:ext cx="8634957" cy="726141"/>
          </a:xfrm>
          <a:prstGeom prst="rect">
            <a:avLst/>
          </a:prstGeom>
          <a:solidFill>
            <a:srgbClr val="0B112B"/>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4"/>
          <p:cNvSpPr/>
          <p:nvPr/>
        </p:nvSpPr>
        <p:spPr>
          <a:xfrm>
            <a:off x="0" y="-7894"/>
            <a:ext cx="12192000" cy="998009"/>
          </a:xfrm>
          <a:prstGeom prst="rect">
            <a:avLst/>
          </a:prstGeom>
          <a:solidFill>
            <a:srgbClr val="0B112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96" name="Google Shape;96;p4"/>
          <p:cNvSpPr txBox="1"/>
          <p:nvPr/>
        </p:nvSpPr>
        <p:spPr>
          <a:xfrm>
            <a:off x="139781" y="29445"/>
            <a:ext cx="5067413"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5400"/>
              <a:buFont typeface="Arial"/>
              <a:buNone/>
            </a:pPr>
            <a:r>
              <a:rPr b="0" i="0" lang="en-US" sz="5400" u="none" cap="none" strike="noStrike">
                <a:solidFill>
                  <a:srgbClr val="ED7D31"/>
                </a:solidFill>
                <a:latin typeface="Franklin Gothic"/>
                <a:ea typeface="Franklin Gothic"/>
                <a:cs typeface="Franklin Gothic"/>
                <a:sym typeface="Franklin Gothic"/>
              </a:rPr>
              <a:t>Sampler Review</a:t>
            </a:r>
            <a:endParaRPr/>
          </a:p>
        </p:txBody>
      </p:sp>
      <p:sp>
        <p:nvSpPr>
          <p:cNvPr id="97" name="Google Shape;97;p4"/>
          <p:cNvSpPr/>
          <p:nvPr/>
        </p:nvSpPr>
        <p:spPr>
          <a:xfrm>
            <a:off x="8074213" y="2151531"/>
            <a:ext cx="2259106" cy="1637553"/>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8" name="Google Shape;98;p4"/>
          <p:cNvSpPr/>
          <p:nvPr/>
        </p:nvSpPr>
        <p:spPr>
          <a:xfrm>
            <a:off x="7497484" y="1691342"/>
            <a:ext cx="3272116" cy="3038786"/>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nvGrpSpPr>
          <p:cNvPr id="99" name="Google Shape;99;p4"/>
          <p:cNvGrpSpPr/>
          <p:nvPr/>
        </p:nvGrpSpPr>
        <p:grpSpPr>
          <a:xfrm>
            <a:off x="7600359" y="1381815"/>
            <a:ext cx="3296588" cy="3328306"/>
            <a:chOff x="7600359" y="1381815"/>
            <a:chExt cx="3296588" cy="3328306"/>
          </a:xfrm>
        </p:grpSpPr>
        <p:sp>
          <p:nvSpPr>
            <p:cNvPr id="100" name="Google Shape;100;p4"/>
            <p:cNvSpPr/>
            <p:nvPr/>
          </p:nvSpPr>
          <p:spPr>
            <a:xfrm>
              <a:off x="8647954" y="3384518"/>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1" name="Google Shape;101;p4"/>
            <p:cNvSpPr/>
            <p:nvPr/>
          </p:nvSpPr>
          <p:spPr>
            <a:xfrm>
              <a:off x="9511550" y="3330730"/>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2" name="Google Shape;102;p4"/>
            <p:cNvSpPr/>
            <p:nvPr/>
          </p:nvSpPr>
          <p:spPr>
            <a:xfrm>
              <a:off x="9093202" y="3547193"/>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3" name="Google Shape;103;p4"/>
            <p:cNvSpPr/>
            <p:nvPr/>
          </p:nvSpPr>
          <p:spPr>
            <a:xfrm>
              <a:off x="7820213" y="2365345"/>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4" name="Google Shape;104;p4"/>
            <p:cNvSpPr/>
            <p:nvPr/>
          </p:nvSpPr>
          <p:spPr>
            <a:xfrm>
              <a:off x="9520515" y="2496763"/>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5" name="Google Shape;105;p4"/>
            <p:cNvSpPr/>
            <p:nvPr/>
          </p:nvSpPr>
          <p:spPr>
            <a:xfrm>
              <a:off x="8364068" y="3174983"/>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6" name="Google Shape;106;p4"/>
            <p:cNvSpPr/>
            <p:nvPr/>
          </p:nvSpPr>
          <p:spPr>
            <a:xfrm>
              <a:off x="8876554" y="2760894"/>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7" name="Google Shape;107;p4"/>
            <p:cNvSpPr/>
            <p:nvPr/>
          </p:nvSpPr>
          <p:spPr>
            <a:xfrm>
              <a:off x="9311342" y="2967535"/>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8" name="Google Shape;108;p4"/>
            <p:cNvSpPr/>
            <p:nvPr/>
          </p:nvSpPr>
          <p:spPr>
            <a:xfrm>
              <a:off x="8417857" y="2696648"/>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9" name="Google Shape;109;p4"/>
            <p:cNvSpPr/>
            <p:nvPr/>
          </p:nvSpPr>
          <p:spPr>
            <a:xfrm>
              <a:off x="8770470" y="2496763"/>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10" name="Google Shape;110;p4"/>
            <p:cNvSpPr/>
            <p:nvPr/>
          </p:nvSpPr>
          <p:spPr>
            <a:xfrm>
              <a:off x="8794378" y="3075112"/>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11" name="Google Shape;111;p4"/>
            <p:cNvSpPr/>
            <p:nvPr/>
          </p:nvSpPr>
          <p:spPr>
            <a:xfrm>
              <a:off x="9124575" y="2524588"/>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12" name="Google Shape;112;p4"/>
            <p:cNvSpPr/>
            <p:nvPr/>
          </p:nvSpPr>
          <p:spPr>
            <a:xfrm>
              <a:off x="9825319" y="2957076"/>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13" name="Google Shape;113;p4"/>
            <p:cNvSpPr/>
            <p:nvPr/>
          </p:nvSpPr>
          <p:spPr>
            <a:xfrm>
              <a:off x="7793318" y="3138906"/>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14" name="Google Shape;114;p4"/>
            <p:cNvSpPr/>
            <p:nvPr/>
          </p:nvSpPr>
          <p:spPr>
            <a:xfrm>
              <a:off x="7739530" y="3493405"/>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15" name="Google Shape;115;p4"/>
            <p:cNvSpPr/>
            <p:nvPr/>
          </p:nvSpPr>
          <p:spPr>
            <a:xfrm>
              <a:off x="8417858" y="3905374"/>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16" name="Google Shape;116;p4"/>
            <p:cNvSpPr/>
            <p:nvPr/>
          </p:nvSpPr>
          <p:spPr>
            <a:xfrm>
              <a:off x="7960659" y="3822707"/>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17" name="Google Shape;117;p4"/>
            <p:cNvSpPr/>
            <p:nvPr/>
          </p:nvSpPr>
          <p:spPr>
            <a:xfrm>
              <a:off x="8540377" y="4179062"/>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18" name="Google Shape;118;p4"/>
            <p:cNvSpPr/>
            <p:nvPr/>
          </p:nvSpPr>
          <p:spPr>
            <a:xfrm>
              <a:off x="9185836" y="4181046"/>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19" name="Google Shape;119;p4"/>
            <p:cNvSpPr/>
            <p:nvPr/>
          </p:nvSpPr>
          <p:spPr>
            <a:xfrm>
              <a:off x="10043459" y="4249273"/>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20" name="Google Shape;120;p4"/>
            <p:cNvSpPr/>
            <p:nvPr/>
          </p:nvSpPr>
          <p:spPr>
            <a:xfrm>
              <a:off x="7862047" y="4496822"/>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21" name="Google Shape;121;p4"/>
            <p:cNvSpPr/>
            <p:nvPr/>
          </p:nvSpPr>
          <p:spPr>
            <a:xfrm>
              <a:off x="9245600" y="2200565"/>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22" name="Google Shape;122;p4"/>
            <p:cNvSpPr/>
            <p:nvPr/>
          </p:nvSpPr>
          <p:spPr>
            <a:xfrm>
              <a:off x="8848166" y="1759569"/>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23" name="Google Shape;123;p4"/>
            <p:cNvSpPr/>
            <p:nvPr/>
          </p:nvSpPr>
          <p:spPr>
            <a:xfrm>
              <a:off x="8453721" y="2126362"/>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24" name="Google Shape;124;p4"/>
            <p:cNvSpPr/>
            <p:nvPr/>
          </p:nvSpPr>
          <p:spPr>
            <a:xfrm>
              <a:off x="8890002" y="2035241"/>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25" name="Google Shape;125;p4"/>
            <p:cNvSpPr/>
            <p:nvPr/>
          </p:nvSpPr>
          <p:spPr>
            <a:xfrm>
              <a:off x="7669307" y="1829031"/>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26" name="Google Shape;126;p4"/>
            <p:cNvSpPr/>
            <p:nvPr/>
          </p:nvSpPr>
          <p:spPr>
            <a:xfrm>
              <a:off x="7732060" y="2836117"/>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27" name="Google Shape;127;p4"/>
            <p:cNvSpPr/>
            <p:nvPr/>
          </p:nvSpPr>
          <p:spPr>
            <a:xfrm>
              <a:off x="7894918" y="1996373"/>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28" name="Google Shape;128;p4"/>
            <p:cNvSpPr/>
            <p:nvPr/>
          </p:nvSpPr>
          <p:spPr>
            <a:xfrm>
              <a:off x="8256491" y="1935350"/>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29" name="Google Shape;129;p4"/>
            <p:cNvSpPr/>
            <p:nvPr/>
          </p:nvSpPr>
          <p:spPr>
            <a:xfrm>
              <a:off x="8148920" y="3602239"/>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0" name="Google Shape;130;p4"/>
            <p:cNvSpPr/>
            <p:nvPr/>
          </p:nvSpPr>
          <p:spPr>
            <a:xfrm>
              <a:off x="8009965" y="2957075"/>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1" name="Google Shape;131;p4"/>
            <p:cNvSpPr/>
            <p:nvPr/>
          </p:nvSpPr>
          <p:spPr>
            <a:xfrm>
              <a:off x="8142942" y="2259026"/>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2" name="Google Shape;132;p4"/>
            <p:cNvSpPr/>
            <p:nvPr/>
          </p:nvSpPr>
          <p:spPr>
            <a:xfrm>
              <a:off x="8429812" y="2531033"/>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3" name="Google Shape;133;p4"/>
            <p:cNvSpPr/>
            <p:nvPr/>
          </p:nvSpPr>
          <p:spPr>
            <a:xfrm>
              <a:off x="7673784" y="2600731"/>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4" name="Google Shape;134;p4"/>
            <p:cNvSpPr/>
            <p:nvPr/>
          </p:nvSpPr>
          <p:spPr>
            <a:xfrm>
              <a:off x="7631953" y="2072573"/>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5" name="Google Shape;135;p4"/>
            <p:cNvSpPr/>
            <p:nvPr/>
          </p:nvSpPr>
          <p:spPr>
            <a:xfrm>
              <a:off x="9417427" y="1985809"/>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6" name="Google Shape;136;p4"/>
            <p:cNvSpPr/>
            <p:nvPr/>
          </p:nvSpPr>
          <p:spPr>
            <a:xfrm>
              <a:off x="8223628" y="2499927"/>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7" name="Google Shape;137;p4"/>
            <p:cNvSpPr/>
            <p:nvPr/>
          </p:nvSpPr>
          <p:spPr>
            <a:xfrm>
              <a:off x="9923930" y="2631345"/>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8" name="Google Shape;138;p4"/>
            <p:cNvSpPr/>
            <p:nvPr/>
          </p:nvSpPr>
          <p:spPr>
            <a:xfrm>
              <a:off x="8821272" y="2831230"/>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9" name="Google Shape;139;p4"/>
            <p:cNvSpPr/>
            <p:nvPr/>
          </p:nvSpPr>
          <p:spPr>
            <a:xfrm>
              <a:off x="9173885" y="2631345"/>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0" name="Google Shape;140;p4"/>
            <p:cNvSpPr/>
            <p:nvPr/>
          </p:nvSpPr>
          <p:spPr>
            <a:xfrm>
              <a:off x="9527990" y="2659170"/>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1" name="Google Shape;141;p4"/>
            <p:cNvSpPr/>
            <p:nvPr/>
          </p:nvSpPr>
          <p:spPr>
            <a:xfrm>
              <a:off x="9649015" y="2335147"/>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2" name="Google Shape;142;p4"/>
            <p:cNvSpPr/>
            <p:nvPr/>
          </p:nvSpPr>
          <p:spPr>
            <a:xfrm>
              <a:off x="9251581" y="1894151"/>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3" name="Google Shape;143;p4"/>
            <p:cNvSpPr/>
            <p:nvPr/>
          </p:nvSpPr>
          <p:spPr>
            <a:xfrm>
              <a:off x="8857136" y="2260944"/>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4" name="Google Shape;144;p4"/>
            <p:cNvSpPr/>
            <p:nvPr/>
          </p:nvSpPr>
          <p:spPr>
            <a:xfrm>
              <a:off x="9293417" y="2169823"/>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5" name="Google Shape;145;p4"/>
            <p:cNvSpPr/>
            <p:nvPr/>
          </p:nvSpPr>
          <p:spPr>
            <a:xfrm>
              <a:off x="8072722" y="1963613"/>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6" name="Google Shape;146;p4"/>
            <p:cNvSpPr/>
            <p:nvPr/>
          </p:nvSpPr>
          <p:spPr>
            <a:xfrm>
              <a:off x="8298333" y="2130955"/>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7" name="Google Shape;147;p4"/>
            <p:cNvSpPr/>
            <p:nvPr/>
          </p:nvSpPr>
          <p:spPr>
            <a:xfrm>
              <a:off x="8659906" y="2069932"/>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8" name="Google Shape;148;p4"/>
            <p:cNvSpPr/>
            <p:nvPr/>
          </p:nvSpPr>
          <p:spPr>
            <a:xfrm>
              <a:off x="8546357" y="2393608"/>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9" name="Google Shape;149;p4"/>
            <p:cNvSpPr/>
            <p:nvPr/>
          </p:nvSpPr>
          <p:spPr>
            <a:xfrm>
              <a:off x="8833227" y="2665615"/>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0" name="Google Shape;150;p4"/>
            <p:cNvSpPr/>
            <p:nvPr/>
          </p:nvSpPr>
          <p:spPr>
            <a:xfrm>
              <a:off x="8077199" y="2735313"/>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1" name="Google Shape;151;p4"/>
            <p:cNvSpPr/>
            <p:nvPr/>
          </p:nvSpPr>
          <p:spPr>
            <a:xfrm>
              <a:off x="8035368" y="2207155"/>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2" name="Google Shape;152;p4"/>
            <p:cNvSpPr/>
            <p:nvPr/>
          </p:nvSpPr>
          <p:spPr>
            <a:xfrm>
              <a:off x="8151906" y="3659578"/>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3" name="Google Shape;153;p4"/>
            <p:cNvSpPr/>
            <p:nvPr/>
          </p:nvSpPr>
          <p:spPr>
            <a:xfrm>
              <a:off x="9852208" y="3790996"/>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4" name="Google Shape;154;p4"/>
            <p:cNvSpPr/>
            <p:nvPr/>
          </p:nvSpPr>
          <p:spPr>
            <a:xfrm>
              <a:off x="8749550" y="3990881"/>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5" name="Google Shape;155;p4"/>
            <p:cNvSpPr/>
            <p:nvPr/>
          </p:nvSpPr>
          <p:spPr>
            <a:xfrm>
              <a:off x="9102163" y="3790996"/>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6" name="Google Shape;156;p4"/>
            <p:cNvSpPr/>
            <p:nvPr/>
          </p:nvSpPr>
          <p:spPr>
            <a:xfrm>
              <a:off x="9456268" y="3818821"/>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7" name="Google Shape;157;p4"/>
            <p:cNvSpPr/>
            <p:nvPr/>
          </p:nvSpPr>
          <p:spPr>
            <a:xfrm>
              <a:off x="9577293" y="3494798"/>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8" name="Google Shape;158;p4"/>
            <p:cNvSpPr/>
            <p:nvPr/>
          </p:nvSpPr>
          <p:spPr>
            <a:xfrm>
              <a:off x="9179859" y="3053802"/>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9" name="Google Shape;159;p4"/>
            <p:cNvSpPr/>
            <p:nvPr/>
          </p:nvSpPr>
          <p:spPr>
            <a:xfrm>
              <a:off x="8785414" y="3420595"/>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0" name="Google Shape;160;p4"/>
            <p:cNvSpPr/>
            <p:nvPr/>
          </p:nvSpPr>
          <p:spPr>
            <a:xfrm>
              <a:off x="9221695" y="3329474"/>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1" name="Google Shape;161;p4"/>
            <p:cNvSpPr/>
            <p:nvPr/>
          </p:nvSpPr>
          <p:spPr>
            <a:xfrm>
              <a:off x="8001000" y="3123264"/>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2" name="Google Shape;162;p4"/>
            <p:cNvSpPr/>
            <p:nvPr/>
          </p:nvSpPr>
          <p:spPr>
            <a:xfrm>
              <a:off x="8226611" y="3290606"/>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3" name="Google Shape;163;p4"/>
            <p:cNvSpPr/>
            <p:nvPr/>
          </p:nvSpPr>
          <p:spPr>
            <a:xfrm>
              <a:off x="8588184" y="3229583"/>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4" name="Google Shape;164;p4"/>
            <p:cNvSpPr/>
            <p:nvPr/>
          </p:nvSpPr>
          <p:spPr>
            <a:xfrm>
              <a:off x="8474635" y="3553259"/>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5" name="Google Shape;165;p4"/>
            <p:cNvSpPr/>
            <p:nvPr/>
          </p:nvSpPr>
          <p:spPr>
            <a:xfrm>
              <a:off x="8761505" y="3825266"/>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6" name="Google Shape;166;p4"/>
            <p:cNvSpPr/>
            <p:nvPr/>
          </p:nvSpPr>
          <p:spPr>
            <a:xfrm>
              <a:off x="8005477" y="3894964"/>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7" name="Google Shape;167;p4"/>
            <p:cNvSpPr/>
            <p:nvPr/>
          </p:nvSpPr>
          <p:spPr>
            <a:xfrm>
              <a:off x="7963646" y="3366806"/>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nvGrpSpPr>
            <p:cNvPr id="168" name="Google Shape;168;p4"/>
            <p:cNvGrpSpPr/>
            <p:nvPr/>
          </p:nvGrpSpPr>
          <p:grpSpPr>
            <a:xfrm rot="-3096911">
              <a:off x="8869705" y="1966166"/>
              <a:ext cx="1996139" cy="1044656"/>
              <a:chOff x="7736541" y="2479733"/>
              <a:chExt cx="1996139" cy="1044656"/>
            </a:xfrm>
          </p:grpSpPr>
          <p:sp>
            <p:nvSpPr>
              <p:cNvPr id="169" name="Google Shape;169;p4"/>
              <p:cNvSpPr/>
              <p:nvPr/>
            </p:nvSpPr>
            <p:spPr>
              <a:xfrm>
                <a:off x="7924801" y="3085509"/>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0" name="Google Shape;170;p4"/>
              <p:cNvSpPr/>
              <p:nvPr/>
            </p:nvSpPr>
            <p:spPr>
              <a:xfrm>
                <a:off x="9625103" y="3216927"/>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1" name="Google Shape;171;p4"/>
              <p:cNvSpPr/>
              <p:nvPr/>
            </p:nvSpPr>
            <p:spPr>
              <a:xfrm>
                <a:off x="8522445" y="3416812"/>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2" name="Google Shape;172;p4"/>
              <p:cNvSpPr/>
              <p:nvPr/>
            </p:nvSpPr>
            <p:spPr>
              <a:xfrm>
                <a:off x="8875058" y="3216927"/>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3" name="Google Shape;173;p4"/>
              <p:cNvSpPr/>
              <p:nvPr/>
            </p:nvSpPr>
            <p:spPr>
              <a:xfrm>
                <a:off x="9229163" y="3244752"/>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4" name="Google Shape;174;p4"/>
              <p:cNvSpPr/>
              <p:nvPr/>
            </p:nvSpPr>
            <p:spPr>
              <a:xfrm>
                <a:off x="9350188" y="2920729"/>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5" name="Google Shape;175;p4"/>
              <p:cNvSpPr/>
              <p:nvPr/>
            </p:nvSpPr>
            <p:spPr>
              <a:xfrm>
                <a:off x="8952754" y="2479733"/>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6" name="Google Shape;176;p4"/>
              <p:cNvSpPr/>
              <p:nvPr/>
            </p:nvSpPr>
            <p:spPr>
              <a:xfrm>
                <a:off x="8558309" y="2846526"/>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7" name="Google Shape;177;p4"/>
              <p:cNvSpPr/>
              <p:nvPr/>
            </p:nvSpPr>
            <p:spPr>
              <a:xfrm>
                <a:off x="8994590" y="2755405"/>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8" name="Google Shape;178;p4"/>
              <p:cNvSpPr/>
              <p:nvPr/>
            </p:nvSpPr>
            <p:spPr>
              <a:xfrm>
                <a:off x="7773895" y="2549195"/>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9" name="Google Shape;179;p4"/>
              <p:cNvSpPr/>
              <p:nvPr/>
            </p:nvSpPr>
            <p:spPr>
              <a:xfrm>
                <a:off x="7999506" y="2716537"/>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80" name="Google Shape;180;p4"/>
              <p:cNvSpPr/>
              <p:nvPr/>
            </p:nvSpPr>
            <p:spPr>
              <a:xfrm>
                <a:off x="8361079" y="2655514"/>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81" name="Google Shape;181;p4"/>
              <p:cNvSpPr/>
              <p:nvPr/>
            </p:nvSpPr>
            <p:spPr>
              <a:xfrm>
                <a:off x="8247530" y="2979190"/>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82" name="Google Shape;182;p4"/>
              <p:cNvSpPr/>
              <p:nvPr/>
            </p:nvSpPr>
            <p:spPr>
              <a:xfrm>
                <a:off x="8534400" y="3251197"/>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83" name="Google Shape;183;p4"/>
              <p:cNvSpPr/>
              <p:nvPr/>
            </p:nvSpPr>
            <p:spPr>
              <a:xfrm>
                <a:off x="7778372" y="3320895"/>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84" name="Google Shape;184;p4"/>
              <p:cNvSpPr/>
              <p:nvPr/>
            </p:nvSpPr>
            <p:spPr>
              <a:xfrm>
                <a:off x="7736541" y="2792737"/>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185" name="Google Shape;185;p4"/>
            <p:cNvGrpSpPr/>
            <p:nvPr/>
          </p:nvGrpSpPr>
          <p:grpSpPr>
            <a:xfrm rot="-4875375">
              <a:off x="9148590" y="3121921"/>
              <a:ext cx="1996139" cy="1044656"/>
              <a:chOff x="7736541" y="2479733"/>
              <a:chExt cx="1996139" cy="1044656"/>
            </a:xfrm>
          </p:grpSpPr>
          <p:sp>
            <p:nvSpPr>
              <p:cNvPr id="186" name="Google Shape;186;p4"/>
              <p:cNvSpPr/>
              <p:nvPr/>
            </p:nvSpPr>
            <p:spPr>
              <a:xfrm>
                <a:off x="7924801" y="3085509"/>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87" name="Google Shape;187;p4"/>
              <p:cNvSpPr/>
              <p:nvPr/>
            </p:nvSpPr>
            <p:spPr>
              <a:xfrm>
                <a:off x="9625103" y="3216927"/>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88" name="Google Shape;188;p4"/>
              <p:cNvSpPr/>
              <p:nvPr/>
            </p:nvSpPr>
            <p:spPr>
              <a:xfrm>
                <a:off x="8522445" y="3416812"/>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89" name="Google Shape;189;p4"/>
              <p:cNvSpPr/>
              <p:nvPr/>
            </p:nvSpPr>
            <p:spPr>
              <a:xfrm>
                <a:off x="8875058" y="3216927"/>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0" name="Google Shape;190;p4"/>
              <p:cNvSpPr/>
              <p:nvPr/>
            </p:nvSpPr>
            <p:spPr>
              <a:xfrm>
                <a:off x="9229163" y="3244752"/>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1" name="Google Shape;191;p4"/>
              <p:cNvSpPr/>
              <p:nvPr/>
            </p:nvSpPr>
            <p:spPr>
              <a:xfrm>
                <a:off x="9350188" y="2920729"/>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2" name="Google Shape;192;p4"/>
              <p:cNvSpPr/>
              <p:nvPr/>
            </p:nvSpPr>
            <p:spPr>
              <a:xfrm>
                <a:off x="8952754" y="2479733"/>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3" name="Google Shape;193;p4"/>
              <p:cNvSpPr/>
              <p:nvPr/>
            </p:nvSpPr>
            <p:spPr>
              <a:xfrm>
                <a:off x="8558309" y="2846526"/>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4" name="Google Shape;194;p4"/>
              <p:cNvSpPr/>
              <p:nvPr/>
            </p:nvSpPr>
            <p:spPr>
              <a:xfrm>
                <a:off x="8994590" y="2755405"/>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5" name="Google Shape;195;p4"/>
              <p:cNvSpPr/>
              <p:nvPr/>
            </p:nvSpPr>
            <p:spPr>
              <a:xfrm>
                <a:off x="7773895" y="2549195"/>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6" name="Google Shape;196;p4"/>
              <p:cNvSpPr/>
              <p:nvPr/>
            </p:nvSpPr>
            <p:spPr>
              <a:xfrm>
                <a:off x="7999506" y="2716537"/>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7" name="Google Shape;197;p4"/>
              <p:cNvSpPr/>
              <p:nvPr/>
            </p:nvSpPr>
            <p:spPr>
              <a:xfrm>
                <a:off x="8361079" y="2655514"/>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8" name="Google Shape;198;p4"/>
              <p:cNvSpPr/>
              <p:nvPr/>
            </p:nvSpPr>
            <p:spPr>
              <a:xfrm>
                <a:off x="8247530" y="2979190"/>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9" name="Google Shape;199;p4"/>
              <p:cNvSpPr/>
              <p:nvPr/>
            </p:nvSpPr>
            <p:spPr>
              <a:xfrm>
                <a:off x="8534400" y="3251197"/>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0" name="Google Shape;200;p4"/>
              <p:cNvSpPr/>
              <p:nvPr/>
            </p:nvSpPr>
            <p:spPr>
              <a:xfrm>
                <a:off x="7778372" y="3320895"/>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1" name="Google Shape;201;p4"/>
              <p:cNvSpPr/>
              <p:nvPr/>
            </p:nvSpPr>
            <p:spPr>
              <a:xfrm>
                <a:off x="7736541" y="2792737"/>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202" name="Google Shape;202;p4"/>
            <p:cNvGrpSpPr/>
            <p:nvPr/>
          </p:nvGrpSpPr>
          <p:grpSpPr>
            <a:xfrm>
              <a:off x="7600359" y="3630903"/>
              <a:ext cx="1996139" cy="1044656"/>
              <a:chOff x="7736541" y="2479733"/>
              <a:chExt cx="1996139" cy="1044656"/>
            </a:xfrm>
          </p:grpSpPr>
          <p:sp>
            <p:nvSpPr>
              <p:cNvPr id="203" name="Google Shape;203;p4"/>
              <p:cNvSpPr/>
              <p:nvPr/>
            </p:nvSpPr>
            <p:spPr>
              <a:xfrm>
                <a:off x="7924801" y="3085509"/>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4" name="Google Shape;204;p4"/>
              <p:cNvSpPr/>
              <p:nvPr/>
            </p:nvSpPr>
            <p:spPr>
              <a:xfrm>
                <a:off x="9625103" y="3216927"/>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5" name="Google Shape;205;p4"/>
              <p:cNvSpPr/>
              <p:nvPr/>
            </p:nvSpPr>
            <p:spPr>
              <a:xfrm>
                <a:off x="8522445" y="3416812"/>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6" name="Google Shape;206;p4"/>
              <p:cNvSpPr/>
              <p:nvPr/>
            </p:nvSpPr>
            <p:spPr>
              <a:xfrm>
                <a:off x="8875058" y="3216927"/>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7" name="Google Shape;207;p4"/>
              <p:cNvSpPr/>
              <p:nvPr/>
            </p:nvSpPr>
            <p:spPr>
              <a:xfrm>
                <a:off x="9229163" y="3244752"/>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8" name="Google Shape;208;p4"/>
              <p:cNvSpPr/>
              <p:nvPr/>
            </p:nvSpPr>
            <p:spPr>
              <a:xfrm>
                <a:off x="9350188" y="2920729"/>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9" name="Google Shape;209;p4"/>
              <p:cNvSpPr/>
              <p:nvPr/>
            </p:nvSpPr>
            <p:spPr>
              <a:xfrm>
                <a:off x="8952754" y="2479733"/>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0" name="Google Shape;210;p4"/>
              <p:cNvSpPr/>
              <p:nvPr/>
            </p:nvSpPr>
            <p:spPr>
              <a:xfrm>
                <a:off x="8558309" y="2846526"/>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1" name="Google Shape;211;p4"/>
              <p:cNvSpPr/>
              <p:nvPr/>
            </p:nvSpPr>
            <p:spPr>
              <a:xfrm>
                <a:off x="8994590" y="2755405"/>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2" name="Google Shape;212;p4"/>
              <p:cNvSpPr/>
              <p:nvPr/>
            </p:nvSpPr>
            <p:spPr>
              <a:xfrm>
                <a:off x="7773895" y="2549195"/>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3" name="Google Shape;213;p4"/>
              <p:cNvSpPr/>
              <p:nvPr/>
            </p:nvSpPr>
            <p:spPr>
              <a:xfrm>
                <a:off x="7999506" y="2716537"/>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4" name="Google Shape;214;p4"/>
              <p:cNvSpPr/>
              <p:nvPr/>
            </p:nvSpPr>
            <p:spPr>
              <a:xfrm>
                <a:off x="8361079" y="2655514"/>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5" name="Google Shape;215;p4"/>
              <p:cNvSpPr/>
              <p:nvPr/>
            </p:nvSpPr>
            <p:spPr>
              <a:xfrm>
                <a:off x="8247530" y="2979190"/>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6" name="Google Shape;216;p4"/>
              <p:cNvSpPr/>
              <p:nvPr/>
            </p:nvSpPr>
            <p:spPr>
              <a:xfrm>
                <a:off x="8534400" y="3251197"/>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7" name="Google Shape;217;p4"/>
              <p:cNvSpPr/>
              <p:nvPr/>
            </p:nvSpPr>
            <p:spPr>
              <a:xfrm>
                <a:off x="7778372" y="3320895"/>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8" name="Google Shape;218;p4"/>
              <p:cNvSpPr/>
              <p:nvPr/>
            </p:nvSpPr>
            <p:spPr>
              <a:xfrm>
                <a:off x="7736541" y="2792737"/>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219" name="Google Shape;219;p4"/>
            <p:cNvGrpSpPr/>
            <p:nvPr/>
          </p:nvGrpSpPr>
          <p:grpSpPr>
            <a:xfrm>
              <a:off x="8160191" y="2748924"/>
              <a:ext cx="1996139" cy="1044656"/>
              <a:chOff x="7736541" y="2479733"/>
              <a:chExt cx="1996139" cy="1044656"/>
            </a:xfrm>
          </p:grpSpPr>
          <p:sp>
            <p:nvSpPr>
              <p:cNvPr id="220" name="Google Shape;220;p4"/>
              <p:cNvSpPr/>
              <p:nvPr/>
            </p:nvSpPr>
            <p:spPr>
              <a:xfrm>
                <a:off x="7924801" y="3085509"/>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21" name="Google Shape;221;p4"/>
              <p:cNvSpPr/>
              <p:nvPr/>
            </p:nvSpPr>
            <p:spPr>
              <a:xfrm>
                <a:off x="9625103" y="3216927"/>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22" name="Google Shape;222;p4"/>
              <p:cNvSpPr/>
              <p:nvPr/>
            </p:nvSpPr>
            <p:spPr>
              <a:xfrm>
                <a:off x="8522445" y="3416812"/>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23" name="Google Shape;223;p4"/>
              <p:cNvSpPr/>
              <p:nvPr/>
            </p:nvSpPr>
            <p:spPr>
              <a:xfrm>
                <a:off x="8875058" y="3216927"/>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24" name="Google Shape;224;p4"/>
              <p:cNvSpPr/>
              <p:nvPr/>
            </p:nvSpPr>
            <p:spPr>
              <a:xfrm>
                <a:off x="9229163" y="3244752"/>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25" name="Google Shape;225;p4"/>
              <p:cNvSpPr/>
              <p:nvPr/>
            </p:nvSpPr>
            <p:spPr>
              <a:xfrm>
                <a:off x="9350188" y="2920729"/>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26" name="Google Shape;226;p4"/>
              <p:cNvSpPr/>
              <p:nvPr/>
            </p:nvSpPr>
            <p:spPr>
              <a:xfrm>
                <a:off x="8952754" y="2479733"/>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27" name="Google Shape;227;p4"/>
              <p:cNvSpPr/>
              <p:nvPr/>
            </p:nvSpPr>
            <p:spPr>
              <a:xfrm>
                <a:off x="8558309" y="2846526"/>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28" name="Google Shape;228;p4"/>
              <p:cNvSpPr/>
              <p:nvPr/>
            </p:nvSpPr>
            <p:spPr>
              <a:xfrm>
                <a:off x="8994590" y="2755405"/>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29" name="Google Shape;229;p4"/>
              <p:cNvSpPr/>
              <p:nvPr/>
            </p:nvSpPr>
            <p:spPr>
              <a:xfrm>
                <a:off x="7773895" y="2549195"/>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30" name="Google Shape;230;p4"/>
              <p:cNvSpPr/>
              <p:nvPr/>
            </p:nvSpPr>
            <p:spPr>
              <a:xfrm>
                <a:off x="7999506" y="2716537"/>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31" name="Google Shape;231;p4"/>
              <p:cNvSpPr/>
              <p:nvPr/>
            </p:nvSpPr>
            <p:spPr>
              <a:xfrm>
                <a:off x="8361079" y="2655514"/>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32" name="Google Shape;232;p4"/>
              <p:cNvSpPr/>
              <p:nvPr/>
            </p:nvSpPr>
            <p:spPr>
              <a:xfrm>
                <a:off x="8247530" y="2979190"/>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33" name="Google Shape;233;p4"/>
              <p:cNvSpPr/>
              <p:nvPr/>
            </p:nvSpPr>
            <p:spPr>
              <a:xfrm>
                <a:off x="8534400" y="3251197"/>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34" name="Google Shape;234;p4"/>
              <p:cNvSpPr/>
              <p:nvPr/>
            </p:nvSpPr>
            <p:spPr>
              <a:xfrm>
                <a:off x="7778372" y="3320895"/>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35" name="Google Shape;235;p4"/>
              <p:cNvSpPr/>
              <p:nvPr/>
            </p:nvSpPr>
            <p:spPr>
              <a:xfrm>
                <a:off x="7736541" y="2792737"/>
                <a:ext cx="107577" cy="107577"/>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5"/>
          <p:cNvSpPr txBox="1"/>
          <p:nvPr>
            <p:ph idx="1" type="body"/>
          </p:nvPr>
        </p:nvSpPr>
        <p:spPr>
          <a:xfrm>
            <a:off x="192199" y="1027454"/>
            <a:ext cx="11862342" cy="4994773"/>
          </a:xfrm>
          <a:prstGeom prst="rect">
            <a:avLst/>
          </a:prstGeom>
          <a:blipFill rotWithShape="1">
            <a:blip r:embed="rId3">
              <a:alphaModFix/>
            </a:blip>
            <a:stretch>
              <a:fillRect b="-120" l="-1079" r="0" t="0"/>
            </a:stretch>
          </a:blipFill>
          <a:ln>
            <a:noFill/>
          </a:ln>
        </p:spPr>
        <p:txBody>
          <a:bodyPr anchorCtr="0" anchor="t" bIns="91425" lIns="91425" spcFirstLastPara="1" rIns="91425" wrap="square" tIns="91425">
            <a:noAutofit/>
          </a:bodyPr>
          <a:lstStyle/>
          <a:p>
            <a:pPr indent="-406400" lvl="0" marL="457200" marR="0" rtl="0" algn="l">
              <a:lnSpc>
                <a:spcPct val="90000"/>
              </a:lnSpc>
              <a:spcBef>
                <a:spcPts val="1000"/>
              </a:spcBef>
              <a:spcAft>
                <a:spcPts val="0"/>
              </a:spcAft>
              <a:buClr>
                <a:schemeClr val="dk1"/>
              </a:buClr>
              <a:buSzPts val="2800"/>
              <a:buFont typeface="Arial"/>
              <a:buChar char="•"/>
            </a:pPr>
            <a:r>
              <a:rPr lang="en-US"/>
              <a:t> </a:t>
            </a:r>
            <a:endParaRPr/>
          </a:p>
        </p:txBody>
      </p:sp>
      <p:pic>
        <p:nvPicPr>
          <p:cNvPr id="241" name="Google Shape;241;p5"/>
          <p:cNvPicPr preferRelativeResize="0"/>
          <p:nvPr/>
        </p:nvPicPr>
        <p:blipFill rotWithShape="1">
          <a:blip r:embed="rId4">
            <a:alphaModFix/>
          </a:blip>
          <a:srcRect b="0" l="0" r="0" t="0"/>
          <a:stretch/>
        </p:blipFill>
        <p:spPr>
          <a:xfrm>
            <a:off x="8634957" y="6131859"/>
            <a:ext cx="3557043" cy="734035"/>
          </a:xfrm>
          <a:prstGeom prst="rect">
            <a:avLst/>
          </a:prstGeom>
          <a:noFill/>
          <a:ln>
            <a:noFill/>
          </a:ln>
        </p:spPr>
      </p:pic>
      <p:sp>
        <p:nvSpPr>
          <p:cNvPr id="242" name="Google Shape;242;p5"/>
          <p:cNvSpPr txBox="1"/>
          <p:nvPr/>
        </p:nvSpPr>
        <p:spPr>
          <a:xfrm>
            <a:off x="-1" y="6131859"/>
            <a:ext cx="8634957" cy="726141"/>
          </a:xfrm>
          <a:prstGeom prst="rect">
            <a:avLst/>
          </a:prstGeom>
          <a:solidFill>
            <a:srgbClr val="0B112B"/>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5"/>
          <p:cNvSpPr/>
          <p:nvPr/>
        </p:nvSpPr>
        <p:spPr>
          <a:xfrm>
            <a:off x="0" y="-7894"/>
            <a:ext cx="12192000" cy="998009"/>
          </a:xfrm>
          <a:prstGeom prst="rect">
            <a:avLst/>
          </a:prstGeom>
          <a:solidFill>
            <a:srgbClr val="0B112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244" name="Google Shape;244;p5"/>
          <p:cNvSpPr txBox="1"/>
          <p:nvPr/>
        </p:nvSpPr>
        <p:spPr>
          <a:xfrm>
            <a:off x="139781" y="29445"/>
            <a:ext cx="10080004"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0" i="0" lang="en-US" sz="4800" u="none" cap="none" strike="noStrike">
                <a:solidFill>
                  <a:srgbClr val="ED7D31"/>
                </a:solidFill>
                <a:latin typeface="Franklin Gothic"/>
                <a:ea typeface="Franklin Gothic"/>
                <a:cs typeface="Franklin Gothic"/>
                <a:sym typeface="Franklin Gothic"/>
              </a:rPr>
              <a:t>Sampler Review – Types of Samplers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6"/>
          <p:cNvSpPr txBox="1"/>
          <p:nvPr>
            <p:ph idx="1" type="body"/>
          </p:nvPr>
        </p:nvSpPr>
        <p:spPr>
          <a:xfrm>
            <a:off x="192199" y="1027454"/>
            <a:ext cx="11862342" cy="4994773"/>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1000"/>
              </a:spcBef>
              <a:spcAft>
                <a:spcPts val="0"/>
              </a:spcAft>
              <a:buSzPts val="2800"/>
              <a:buNone/>
            </a:pPr>
            <a:r>
              <a:rPr lang="en-US">
                <a:latin typeface="Libre Franklin"/>
                <a:ea typeface="Libre Franklin"/>
                <a:cs typeface="Libre Franklin"/>
                <a:sym typeface="Libre Franklin"/>
              </a:rPr>
              <a:t>Random Walk Metropolis-Hastings –</a:t>
            </a:r>
            <a:endParaRPr/>
          </a:p>
          <a:p>
            <a:pPr indent="-457200" lvl="1" marL="914400" rtl="0" algn="l">
              <a:lnSpc>
                <a:spcPct val="90000"/>
              </a:lnSpc>
              <a:spcBef>
                <a:spcPts val="500"/>
              </a:spcBef>
              <a:spcAft>
                <a:spcPts val="0"/>
              </a:spcAft>
              <a:buSzPts val="2400"/>
              <a:buChar char="•"/>
            </a:pPr>
            <a:r>
              <a:rPr lang="en-US">
                <a:latin typeface="Libre Franklin"/>
                <a:ea typeface="Libre Franklin"/>
                <a:cs typeface="Libre Franklin"/>
                <a:sym typeface="Libre Franklin"/>
              </a:rPr>
              <a:t>Slight modification to the acceptance ratio step of the Metropolis sampler to account for asymmetric proposal distributions</a:t>
            </a:r>
            <a:endParaRPr/>
          </a:p>
          <a:p>
            <a:pPr indent="-457200" lvl="2" marL="1371600" rtl="0" algn="l">
              <a:lnSpc>
                <a:spcPct val="90000"/>
              </a:lnSpc>
              <a:spcBef>
                <a:spcPts val="500"/>
              </a:spcBef>
              <a:spcAft>
                <a:spcPts val="0"/>
              </a:spcAft>
              <a:buSzPts val="2000"/>
              <a:buChar char="•"/>
            </a:pPr>
            <a:r>
              <a:rPr lang="en-US">
                <a:latin typeface="Libre Franklin"/>
                <a:ea typeface="Libre Franklin"/>
                <a:cs typeface="Libre Franklin"/>
                <a:sym typeface="Libre Franklin"/>
              </a:rPr>
              <a:t>Symmetry here refers to the probability of proposing values, not necessarily what the proposal distribution looks like.</a:t>
            </a:r>
            <a:endParaRPr/>
          </a:p>
          <a:p>
            <a:pPr indent="0" lvl="0" marL="0" rtl="0" algn="l">
              <a:lnSpc>
                <a:spcPct val="90000"/>
              </a:lnSpc>
              <a:spcBef>
                <a:spcPts val="1000"/>
              </a:spcBef>
              <a:spcAft>
                <a:spcPts val="0"/>
              </a:spcAft>
              <a:buSzPts val="2800"/>
              <a:buNone/>
            </a:pPr>
            <a:r>
              <a:rPr lang="en-US">
                <a:latin typeface="Libre Franklin"/>
                <a:ea typeface="Libre Franklin"/>
                <a:cs typeface="Libre Franklin"/>
                <a:sym typeface="Libre Franklin"/>
              </a:rPr>
              <a:t>Hamiltonian MC –</a:t>
            </a:r>
            <a:endParaRPr/>
          </a:p>
          <a:p>
            <a:pPr indent="-457200" lvl="1" marL="914400" rtl="0" algn="l">
              <a:lnSpc>
                <a:spcPct val="90000"/>
              </a:lnSpc>
              <a:spcBef>
                <a:spcPts val="500"/>
              </a:spcBef>
              <a:spcAft>
                <a:spcPts val="0"/>
              </a:spcAft>
              <a:buSzPts val="2400"/>
              <a:buChar char="•"/>
            </a:pPr>
            <a:r>
              <a:rPr lang="en-US">
                <a:latin typeface="Libre Franklin"/>
                <a:ea typeface="Libre Franklin"/>
                <a:cs typeface="Libre Franklin"/>
                <a:sym typeface="Libre Franklin"/>
              </a:rPr>
              <a:t>(Usually) a more efficient</a:t>
            </a:r>
            <a:r>
              <a:rPr lang="en-US">
                <a:latin typeface="Libre Franklin"/>
                <a:ea typeface="Libre Franklin"/>
                <a:cs typeface="Libre Franklin"/>
                <a:sym typeface="Libre Franklin"/>
              </a:rPr>
              <a:t> version of Metropolis-Hastings</a:t>
            </a:r>
            <a:endParaRPr/>
          </a:p>
          <a:p>
            <a:pPr indent="-457200" lvl="1" marL="914400" rtl="0" algn="l">
              <a:lnSpc>
                <a:spcPct val="90000"/>
              </a:lnSpc>
              <a:spcBef>
                <a:spcPts val="500"/>
              </a:spcBef>
              <a:spcAft>
                <a:spcPts val="0"/>
              </a:spcAft>
              <a:buSzPts val="2400"/>
              <a:buChar char="•"/>
            </a:pPr>
            <a:r>
              <a:rPr lang="en-US">
                <a:latin typeface="Libre Franklin"/>
                <a:ea typeface="Libre Franklin"/>
                <a:cs typeface="Libre Franklin"/>
                <a:sym typeface="Libre Franklin"/>
              </a:rPr>
              <a:t>Uses gradient information</a:t>
            </a:r>
            <a:endParaRPr/>
          </a:p>
          <a:p>
            <a:pPr indent="-457200" lvl="1" marL="914400" rtl="0" algn="l">
              <a:lnSpc>
                <a:spcPct val="90000"/>
              </a:lnSpc>
              <a:spcBef>
                <a:spcPts val="500"/>
              </a:spcBef>
              <a:spcAft>
                <a:spcPts val="0"/>
              </a:spcAft>
              <a:buSzPts val="2400"/>
              <a:buChar char="•"/>
            </a:pPr>
            <a:r>
              <a:rPr lang="en-US">
                <a:latin typeface="Libre Franklin"/>
                <a:ea typeface="Libre Franklin"/>
                <a:cs typeface="Libre Franklin"/>
                <a:sym typeface="Libre Franklin"/>
              </a:rPr>
              <a:t>Very powerful for use in high dimensional problems</a:t>
            </a:r>
            <a:endParaRPr/>
          </a:p>
          <a:p>
            <a:pPr indent="-457200" lvl="2" marL="1371600" rtl="0" algn="l">
              <a:lnSpc>
                <a:spcPct val="90000"/>
              </a:lnSpc>
              <a:spcBef>
                <a:spcPts val="500"/>
              </a:spcBef>
              <a:spcAft>
                <a:spcPts val="0"/>
              </a:spcAft>
              <a:buSzPts val="2000"/>
              <a:buChar char="•"/>
            </a:pPr>
            <a:r>
              <a:rPr lang="en-US">
                <a:latin typeface="Libre Franklin"/>
                <a:ea typeface="Libre Franklin"/>
                <a:cs typeface="Libre Franklin"/>
                <a:sym typeface="Libre Franklin"/>
              </a:rPr>
              <a:t>Not appropriate for use on categorical variables</a:t>
            </a:r>
            <a:endParaRPr/>
          </a:p>
          <a:p>
            <a:pPr indent="0" lvl="0" marL="0" rtl="0" algn="l">
              <a:lnSpc>
                <a:spcPct val="90000"/>
              </a:lnSpc>
              <a:spcBef>
                <a:spcPts val="1000"/>
              </a:spcBef>
              <a:spcAft>
                <a:spcPts val="0"/>
              </a:spcAft>
              <a:buSzPts val="2800"/>
              <a:buNone/>
            </a:pPr>
            <a:r>
              <a:rPr lang="en-US">
                <a:latin typeface="Libre Franklin"/>
                <a:ea typeface="Libre Franklin"/>
                <a:cs typeface="Libre Franklin"/>
                <a:sym typeface="Libre Franklin"/>
              </a:rPr>
              <a:t>No U-Turn Sampler -</a:t>
            </a:r>
            <a:endParaRPr/>
          </a:p>
          <a:p>
            <a:pPr indent="-457200" lvl="1" marL="914400" rtl="0" algn="l">
              <a:lnSpc>
                <a:spcPct val="90000"/>
              </a:lnSpc>
              <a:spcBef>
                <a:spcPts val="500"/>
              </a:spcBef>
              <a:spcAft>
                <a:spcPts val="0"/>
              </a:spcAft>
              <a:buSzPts val="2400"/>
              <a:buChar char="•"/>
            </a:pPr>
            <a:r>
              <a:rPr lang="en-US">
                <a:latin typeface="Libre Franklin"/>
                <a:ea typeface="Libre Franklin"/>
                <a:cs typeface="Libre Franklin"/>
                <a:sym typeface="Libre Franklin"/>
              </a:rPr>
              <a:t>Fixes issues in Hamiltonian MC</a:t>
            </a:r>
            <a:endParaRPr/>
          </a:p>
          <a:p>
            <a:pPr indent="0" lvl="1" marL="457200" rtl="0" algn="l">
              <a:lnSpc>
                <a:spcPct val="90000"/>
              </a:lnSpc>
              <a:spcBef>
                <a:spcPts val="500"/>
              </a:spcBef>
              <a:spcAft>
                <a:spcPts val="0"/>
              </a:spcAft>
              <a:buSzPts val="2400"/>
              <a:buNone/>
            </a:pPr>
            <a:r>
              <a:t/>
            </a:r>
            <a:endParaRPr sz="2800">
              <a:latin typeface="Libre Franklin"/>
              <a:ea typeface="Libre Franklin"/>
              <a:cs typeface="Libre Franklin"/>
              <a:sym typeface="Libre Franklin"/>
            </a:endParaRPr>
          </a:p>
        </p:txBody>
      </p:sp>
      <p:pic>
        <p:nvPicPr>
          <p:cNvPr id="250" name="Google Shape;250;p6"/>
          <p:cNvPicPr preferRelativeResize="0"/>
          <p:nvPr/>
        </p:nvPicPr>
        <p:blipFill rotWithShape="1">
          <a:blip r:embed="rId3">
            <a:alphaModFix/>
          </a:blip>
          <a:srcRect b="0" l="0" r="0" t="0"/>
          <a:stretch/>
        </p:blipFill>
        <p:spPr>
          <a:xfrm>
            <a:off x="8634957" y="6131859"/>
            <a:ext cx="3557043" cy="734035"/>
          </a:xfrm>
          <a:prstGeom prst="rect">
            <a:avLst/>
          </a:prstGeom>
          <a:noFill/>
          <a:ln>
            <a:noFill/>
          </a:ln>
        </p:spPr>
      </p:pic>
      <p:sp>
        <p:nvSpPr>
          <p:cNvPr id="251" name="Google Shape;251;p6"/>
          <p:cNvSpPr txBox="1"/>
          <p:nvPr/>
        </p:nvSpPr>
        <p:spPr>
          <a:xfrm>
            <a:off x="-1" y="6131859"/>
            <a:ext cx="8634957" cy="726141"/>
          </a:xfrm>
          <a:prstGeom prst="rect">
            <a:avLst/>
          </a:prstGeom>
          <a:solidFill>
            <a:srgbClr val="0B112B"/>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6"/>
          <p:cNvSpPr/>
          <p:nvPr/>
        </p:nvSpPr>
        <p:spPr>
          <a:xfrm>
            <a:off x="0" y="-7894"/>
            <a:ext cx="12192000" cy="998009"/>
          </a:xfrm>
          <a:prstGeom prst="rect">
            <a:avLst/>
          </a:prstGeom>
          <a:solidFill>
            <a:srgbClr val="0B112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253" name="Google Shape;253;p6"/>
          <p:cNvSpPr txBox="1"/>
          <p:nvPr/>
        </p:nvSpPr>
        <p:spPr>
          <a:xfrm>
            <a:off x="139781" y="29445"/>
            <a:ext cx="10080004"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0" i="0" lang="en-US" sz="4800" u="none" cap="none" strike="noStrike">
                <a:solidFill>
                  <a:srgbClr val="ED7D31"/>
                </a:solidFill>
                <a:latin typeface="Franklin Gothic"/>
                <a:ea typeface="Franklin Gothic"/>
                <a:cs typeface="Franklin Gothic"/>
                <a:sym typeface="Franklin Gothic"/>
              </a:rPr>
              <a:t>Sampler Review – Types of Samplers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7"/>
          <p:cNvSpPr txBox="1"/>
          <p:nvPr>
            <p:ph idx="1" type="body"/>
          </p:nvPr>
        </p:nvSpPr>
        <p:spPr>
          <a:xfrm>
            <a:off x="192199" y="1027454"/>
            <a:ext cx="5324083" cy="4994773"/>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1000"/>
              </a:spcBef>
              <a:spcAft>
                <a:spcPts val="0"/>
              </a:spcAft>
              <a:buSzPts val="2800"/>
              <a:buNone/>
            </a:pPr>
            <a:r>
              <a:rPr lang="en-US">
                <a:latin typeface="Libre Franklin"/>
                <a:ea typeface="Libre Franklin"/>
                <a:cs typeface="Libre Franklin"/>
                <a:sym typeface="Libre Franklin"/>
              </a:rPr>
              <a:t>If everything goes right, samplers should converge to the posterior quickly</a:t>
            </a:r>
            <a:r>
              <a:rPr lang="en-US">
                <a:latin typeface="Libre Franklin"/>
                <a:ea typeface="Libre Franklin"/>
                <a:cs typeface="Libre Franklin"/>
                <a:sym typeface="Libre Franklin"/>
              </a:rPr>
              <a:t> and</a:t>
            </a:r>
            <a:r>
              <a:rPr lang="en-US">
                <a:latin typeface="Libre Franklin"/>
                <a:ea typeface="Libre Franklin"/>
                <a:cs typeface="Libre Franklin"/>
                <a:sym typeface="Libre Franklin"/>
              </a:rPr>
              <a:t> </a:t>
            </a:r>
            <a:r>
              <a:rPr b="1" lang="en-US" u="sng">
                <a:latin typeface="Libre Franklin"/>
                <a:ea typeface="Libre Franklin"/>
                <a:cs typeface="Libre Franklin"/>
                <a:sym typeface="Libre Franklin"/>
              </a:rPr>
              <a:t>stay there forever.</a:t>
            </a:r>
            <a:endParaRPr/>
          </a:p>
          <a:p>
            <a:pPr indent="0" lvl="0" marL="0" rtl="0" algn="l">
              <a:lnSpc>
                <a:spcPct val="90000"/>
              </a:lnSpc>
              <a:spcBef>
                <a:spcPts val="1000"/>
              </a:spcBef>
              <a:spcAft>
                <a:spcPts val="0"/>
              </a:spcAft>
              <a:buSzPts val="2800"/>
              <a:buNone/>
            </a:pPr>
            <a:r>
              <a:rPr lang="en-US">
                <a:latin typeface="Libre Franklin"/>
                <a:ea typeface="Libre Franklin"/>
                <a:cs typeface="Libre Franklin"/>
                <a:sym typeface="Libre Franklin"/>
              </a:rPr>
              <a:t>Well-constructed samplers are </a:t>
            </a:r>
            <a:r>
              <a:rPr i="1" lang="en-US">
                <a:latin typeface="Libre Franklin"/>
                <a:ea typeface="Libre Franklin"/>
                <a:cs typeface="Libre Franklin"/>
                <a:sym typeface="Libre Franklin"/>
              </a:rPr>
              <a:t>ergodic</a:t>
            </a:r>
            <a:endParaRPr/>
          </a:p>
          <a:p>
            <a:pPr indent="-457200" lvl="1" marL="914400" rtl="0" algn="l">
              <a:lnSpc>
                <a:spcPct val="90000"/>
              </a:lnSpc>
              <a:spcBef>
                <a:spcPts val="500"/>
              </a:spcBef>
              <a:spcAft>
                <a:spcPts val="0"/>
              </a:spcAft>
              <a:buSzPts val="2400"/>
              <a:buChar char="•"/>
            </a:pPr>
            <a:r>
              <a:rPr lang="en-US">
                <a:latin typeface="Libre Franklin"/>
                <a:ea typeface="Libre Franklin"/>
                <a:cs typeface="Libre Franklin"/>
                <a:sym typeface="Libre Franklin"/>
              </a:rPr>
              <a:t>T</a:t>
            </a:r>
            <a:r>
              <a:rPr lang="en-US">
                <a:latin typeface="Libre Franklin"/>
                <a:ea typeface="Libre Franklin"/>
                <a:cs typeface="Libre Franklin"/>
                <a:sym typeface="Libre Franklin"/>
              </a:rPr>
              <a:t>hey tend to find the posterior.</a:t>
            </a:r>
            <a:endParaRPr/>
          </a:p>
          <a:p>
            <a:pPr indent="0" lvl="0" marL="0" rtl="0" algn="l">
              <a:lnSpc>
                <a:spcPct val="90000"/>
              </a:lnSpc>
              <a:spcBef>
                <a:spcPts val="1000"/>
              </a:spcBef>
              <a:spcAft>
                <a:spcPts val="0"/>
              </a:spcAft>
              <a:buSzPts val="2800"/>
              <a:buNone/>
            </a:pPr>
            <a:r>
              <a:t/>
            </a:r>
            <a:endParaRPr b="1" sz="2400" u="sng">
              <a:latin typeface="Libre Franklin"/>
              <a:ea typeface="Libre Franklin"/>
              <a:cs typeface="Libre Franklin"/>
              <a:sym typeface="Libre Franklin"/>
            </a:endParaRPr>
          </a:p>
          <a:p>
            <a:pPr indent="0" lvl="0" marL="0" rtl="0" algn="ctr">
              <a:lnSpc>
                <a:spcPct val="90000"/>
              </a:lnSpc>
              <a:spcBef>
                <a:spcPts val="1000"/>
              </a:spcBef>
              <a:spcAft>
                <a:spcPts val="0"/>
              </a:spcAft>
              <a:buSzPts val="2800"/>
              <a:buNone/>
            </a:pPr>
            <a:r>
              <a:rPr b="1" lang="en-US" sz="2400" u="sng">
                <a:latin typeface="Libre Franklin"/>
                <a:ea typeface="Libre Franklin"/>
                <a:cs typeface="Libre Franklin"/>
                <a:sym typeface="Libre Franklin"/>
              </a:rPr>
              <a:t>You can have an appropriate model, and still have sampler issues</a:t>
            </a:r>
            <a:endParaRPr/>
          </a:p>
          <a:p>
            <a:pPr indent="0" lvl="0" marL="0" rtl="0" algn="l">
              <a:lnSpc>
                <a:spcPct val="90000"/>
              </a:lnSpc>
              <a:spcBef>
                <a:spcPts val="1000"/>
              </a:spcBef>
              <a:spcAft>
                <a:spcPts val="0"/>
              </a:spcAft>
              <a:buSzPts val="2800"/>
              <a:buNone/>
            </a:pPr>
            <a:r>
              <a:t/>
            </a:r>
            <a:endParaRPr b="1" u="sng">
              <a:latin typeface="Libre Franklin"/>
              <a:ea typeface="Libre Franklin"/>
              <a:cs typeface="Libre Franklin"/>
              <a:sym typeface="Libre Franklin"/>
            </a:endParaRPr>
          </a:p>
        </p:txBody>
      </p:sp>
      <p:pic>
        <p:nvPicPr>
          <p:cNvPr id="259" name="Google Shape;259;p7"/>
          <p:cNvPicPr preferRelativeResize="0"/>
          <p:nvPr/>
        </p:nvPicPr>
        <p:blipFill rotWithShape="1">
          <a:blip r:embed="rId3">
            <a:alphaModFix/>
          </a:blip>
          <a:srcRect b="0" l="0" r="0" t="0"/>
          <a:stretch/>
        </p:blipFill>
        <p:spPr>
          <a:xfrm>
            <a:off x="8634957" y="6131859"/>
            <a:ext cx="3557043" cy="734035"/>
          </a:xfrm>
          <a:prstGeom prst="rect">
            <a:avLst/>
          </a:prstGeom>
          <a:noFill/>
          <a:ln>
            <a:noFill/>
          </a:ln>
        </p:spPr>
      </p:pic>
      <p:sp>
        <p:nvSpPr>
          <p:cNvPr id="260" name="Google Shape;260;p7"/>
          <p:cNvSpPr txBox="1"/>
          <p:nvPr/>
        </p:nvSpPr>
        <p:spPr>
          <a:xfrm>
            <a:off x="-1" y="6131859"/>
            <a:ext cx="8634957" cy="726141"/>
          </a:xfrm>
          <a:prstGeom prst="rect">
            <a:avLst/>
          </a:prstGeom>
          <a:solidFill>
            <a:srgbClr val="0B112B"/>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7"/>
          <p:cNvSpPr/>
          <p:nvPr/>
        </p:nvSpPr>
        <p:spPr>
          <a:xfrm>
            <a:off x="0" y="-7894"/>
            <a:ext cx="12192000" cy="998009"/>
          </a:xfrm>
          <a:prstGeom prst="rect">
            <a:avLst/>
          </a:prstGeom>
          <a:solidFill>
            <a:srgbClr val="0B112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262" name="Google Shape;262;p7"/>
          <p:cNvSpPr txBox="1"/>
          <p:nvPr/>
        </p:nvSpPr>
        <p:spPr>
          <a:xfrm>
            <a:off x="139773" y="29450"/>
            <a:ext cx="92832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0" i="0" lang="en-US" sz="4800" u="none" cap="none" strike="noStrike">
                <a:solidFill>
                  <a:srgbClr val="ED7D31"/>
                </a:solidFill>
                <a:latin typeface="Franklin Gothic"/>
                <a:ea typeface="Franklin Gothic"/>
                <a:cs typeface="Franklin Gothic"/>
                <a:sym typeface="Franklin Gothic"/>
              </a:rPr>
              <a:t>What MCMC Samplers Should Do</a:t>
            </a:r>
            <a:endParaRPr/>
          </a:p>
        </p:txBody>
      </p:sp>
      <p:pic>
        <p:nvPicPr>
          <p:cNvPr id="263" name="Google Shape;263;p7"/>
          <p:cNvPicPr preferRelativeResize="0"/>
          <p:nvPr/>
        </p:nvPicPr>
        <p:blipFill rotWithShape="1">
          <a:blip r:embed="rId4">
            <a:alphaModFix/>
          </a:blip>
          <a:srcRect b="0" l="0" r="0" t="0"/>
          <a:stretch/>
        </p:blipFill>
        <p:spPr>
          <a:xfrm>
            <a:off x="5463898" y="1206151"/>
            <a:ext cx="6728102" cy="470967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8"/>
          <p:cNvSpPr txBox="1"/>
          <p:nvPr>
            <p:ph idx="1" type="body"/>
          </p:nvPr>
        </p:nvSpPr>
        <p:spPr>
          <a:xfrm>
            <a:off x="192199" y="1027454"/>
            <a:ext cx="11647189" cy="4994773"/>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1000"/>
              </a:spcBef>
              <a:spcAft>
                <a:spcPts val="0"/>
              </a:spcAft>
              <a:buSzPts val="2800"/>
              <a:buNone/>
            </a:pPr>
            <a:r>
              <a:rPr lang="en-US">
                <a:latin typeface="Libre Franklin"/>
                <a:ea typeface="Libre Franklin"/>
                <a:cs typeface="Libre Franklin"/>
                <a:sym typeface="Libre Franklin"/>
              </a:rPr>
              <a:t>Samplers are highly sensitive to the topology and geometry</a:t>
            </a:r>
            <a:r>
              <a:rPr lang="en-US">
                <a:latin typeface="Libre Franklin"/>
                <a:ea typeface="Libre Franklin"/>
                <a:cs typeface="Libre Franklin"/>
                <a:sym typeface="Libre Franklin"/>
              </a:rPr>
              <a:t> of </a:t>
            </a:r>
            <a:r>
              <a:rPr lang="en-US">
                <a:latin typeface="Libre Franklin"/>
                <a:ea typeface="Libre Franklin"/>
                <a:cs typeface="Libre Franklin"/>
                <a:sym typeface="Libre Franklin"/>
              </a:rPr>
              <a:t>the parameter space.</a:t>
            </a:r>
            <a:endParaRPr/>
          </a:p>
          <a:p>
            <a:pPr indent="-457200" lvl="1" marL="914400" rtl="0" algn="l">
              <a:lnSpc>
                <a:spcPct val="90000"/>
              </a:lnSpc>
              <a:spcBef>
                <a:spcPts val="500"/>
              </a:spcBef>
              <a:spcAft>
                <a:spcPts val="0"/>
              </a:spcAft>
              <a:buSzPts val="2400"/>
              <a:buChar char="•"/>
            </a:pPr>
            <a:r>
              <a:rPr lang="en-US">
                <a:latin typeface="Libre Franklin"/>
                <a:ea typeface="Libre Franklin"/>
                <a:cs typeface="Libre Franklin"/>
                <a:sym typeface="Libre Franklin"/>
              </a:rPr>
              <a:t>They can get lost in valleys</a:t>
            </a:r>
            <a:endParaRPr/>
          </a:p>
          <a:p>
            <a:pPr indent="-457200" lvl="1" marL="914400" rtl="0" algn="l">
              <a:lnSpc>
                <a:spcPct val="90000"/>
              </a:lnSpc>
              <a:spcBef>
                <a:spcPts val="500"/>
              </a:spcBef>
              <a:spcAft>
                <a:spcPts val="0"/>
              </a:spcAft>
              <a:buSzPts val="2400"/>
              <a:buChar char="•"/>
            </a:pPr>
            <a:r>
              <a:rPr lang="en-US">
                <a:latin typeface="Libre Franklin"/>
                <a:ea typeface="Libre Franklin"/>
                <a:cs typeface="Libre Franklin"/>
                <a:sym typeface="Libre Franklin"/>
              </a:rPr>
              <a:t>They can drop down holes</a:t>
            </a:r>
            <a:endParaRPr/>
          </a:p>
          <a:p>
            <a:pPr indent="-457200" lvl="1" marL="914400" rtl="0" algn="l">
              <a:lnSpc>
                <a:spcPct val="90000"/>
              </a:lnSpc>
              <a:spcBef>
                <a:spcPts val="500"/>
              </a:spcBef>
              <a:spcAft>
                <a:spcPts val="0"/>
              </a:spcAft>
              <a:buSzPts val="2400"/>
              <a:buChar char="•"/>
            </a:pPr>
            <a:r>
              <a:rPr lang="en-US">
                <a:latin typeface="Libre Franklin"/>
                <a:ea typeface="Libre Franklin"/>
                <a:cs typeface="Libre Franklin"/>
                <a:sym typeface="Libre Franklin"/>
              </a:rPr>
              <a:t>They might not climb massive cliffs</a:t>
            </a:r>
            <a:endParaRPr/>
          </a:p>
          <a:p>
            <a:pPr indent="0" lvl="0" marL="0" rtl="0" algn="l">
              <a:lnSpc>
                <a:spcPct val="90000"/>
              </a:lnSpc>
              <a:spcBef>
                <a:spcPts val="1000"/>
              </a:spcBef>
              <a:spcAft>
                <a:spcPts val="0"/>
              </a:spcAft>
              <a:buSzPts val="2800"/>
              <a:buNone/>
            </a:pPr>
            <a:r>
              <a:rPr lang="en-US">
                <a:latin typeface="Libre Franklin"/>
                <a:ea typeface="Libre Franklin"/>
                <a:cs typeface="Libre Franklin"/>
                <a:sym typeface="Libre Franklin"/>
              </a:rPr>
              <a:t>If the space is nice, the sampler is </a:t>
            </a:r>
            <a:r>
              <a:rPr b="1" lang="en-US" u="sng">
                <a:latin typeface="Libre Franklin"/>
                <a:ea typeface="Libre Franklin"/>
                <a:cs typeface="Libre Franklin"/>
                <a:sym typeface="Libre Franklin"/>
              </a:rPr>
              <a:t>ergodic</a:t>
            </a:r>
            <a:r>
              <a:rPr lang="en-US">
                <a:latin typeface="Libre Franklin"/>
                <a:ea typeface="Libre Franklin"/>
                <a:cs typeface="Libre Franklin"/>
                <a:sym typeface="Libre Franklin"/>
              </a:rPr>
              <a:t>, in that it will nicely ramble all around the space.</a:t>
            </a:r>
            <a:endParaRPr b="1" u="sng">
              <a:latin typeface="Libre Franklin"/>
              <a:ea typeface="Libre Franklin"/>
              <a:cs typeface="Libre Franklin"/>
              <a:sym typeface="Libre Franklin"/>
            </a:endParaRPr>
          </a:p>
          <a:p>
            <a:pPr indent="-304800" lvl="1" marL="914400" rtl="0" algn="l">
              <a:lnSpc>
                <a:spcPct val="90000"/>
              </a:lnSpc>
              <a:spcBef>
                <a:spcPts val="500"/>
              </a:spcBef>
              <a:spcAft>
                <a:spcPts val="0"/>
              </a:spcAft>
              <a:buSzPts val="2400"/>
              <a:buNone/>
            </a:pPr>
            <a:r>
              <a:t/>
            </a:r>
            <a:endParaRPr>
              <a:latin typeface="Libre Franklin"/>
              <a:ea typeface="Libre Franklin"/>
              <a:cs typeface="Libre Franklin"/>
              <a:sym typeface="Libre Franklin"/>
            </a:endParaRPr>
          </a:p>
          <a:p>
            <a:pPr indent="0" lvl="0" marL="0" rtl="0" algn="l">
              <a:lnSpc>
                <a:spcPct val="90000"/>
              </a:lnSpc>
              <a:spcBef>
                <a:spcPts val="1000"/>
              </a:spcBef>
              <a:spcAft>
                <a:spcPts val="0"/>
              </a:spcAft>
              <a:buSzPts val="2800"/>
              <a:buNone/>
            </a:pPr>
            <a:r>
              <a:rPr b="1" lang="en-US" u="sng">
                <a:latin typeface="Libre Franklin"/>
                <a:ea typeface="Libre Franklin"/>
                <a:cs typeface="Libre Franklin"/>
                <a:sym typeface="Libre Franklin"/>
              </a:rPr>
              <a:t>Like data itself, samplers can and will lie to you..</a:t>
            </a:r>
            <a:endParaRPr/>
          </a:p>
          <a:p>
            <a:pPr indent="-457200" lvl="1" marL="914400" rtl="0" algn="l">
              <a:lnSpc>
                <a:spcPct val="90000"/>
              </a:lnSpc>
              <a:spcBef>
                <a:spcPts val="500"/>
              </a:spcBef>
              <a:spcAft>
                <a:spcPts val="0"/>
              </a:spcAft>
              <a:buSzPts val="2400"/>
              <a:buChar char="•"/>
            </a:pPr>
            <a:r>
              <a:rPr lang="en-US">
                <a:latin typeface="Libre Franklin"/>
                <a:ea typeface="Libre Franklin"/>
                <a:cs typeface="Libre Franklin"/>
                <a:sym typeface="Libre Franklin"/>
              </a:rPr>
              <a:t>The results you get can look completely reasonable, and be completely incorrect</a:t>
            </a:r>
            <a:endParaRPr b="1" u="sng">
              <a:latin typeface="Libre Franklin"/>
              <a:ea typeface="Libre Franklin"/>
              <a:cs typeface="Libre Franklin"/>
              <a:sym typeface="Libre Franklin"/>
            </a:endParaRPr>
          </a:p>
          <a:p>
            <a:pPr indent="0" lvl="0" marL="0" rtl="0" algn="l">
              <a:lnSpc>
                <a:spcPct val="90000"/>
              </a:lnSpc>
              <a:spcBef>
                <a:spcPts val="1000"/>
              </a:spcBef>
              <a:spcAft>
                <a:spcPts val="0"/>
              </a:spcAft>
              <a:buSzPts val="2800"/>
              <a:buNone/>
            </a:pPr>
            <a:r>
              <a:t/>
            </a:r>
            <a:endParaRPr>
              <a:latin typeface="Libre Franklin"/>
              <a:ea typeface="Libre Franklin"/>
              <a:cs typeface="Libre Franklin"/>
              <a:sym typeface="Libre Franklin"/>
            </a:endParaRPr>
          </a:p>
        </p:txBody>
      </p:sp>
      <p:pic>
        <p:nvPicPr>
          <p:cNvPr id="269" name="Google Shape;269;p8"/>
          <p:cNvPicPr preferRelativeResize="0"/>
          <p:nvPr/>
        </p:nvPicPr>
        <p:blipFill rotWithShape="1">
          <a:blip r:embed="rId3">
            <a:alphaModFix/>
          </a:blip>
          <a:srcRect b="0" l="0" r="0" t="0"/>
          <a:stretch/>
        </p:blipFill>
        <p:spPr>
          <a:xfrm>
            <a:off x="8634957" y="6131859"/>
            <a:ext cx="3557043" cy="734035"/>
          </a:xfrm>
          <a:prstGeom prst="rect">
            <a:avLst/>
          </a:prstGeom>
          <a:noFill/>
          <a:ln>
            <a:noFill/>
          </a:ln>
        </p:spPr>
      </p:pic>
      <p:sp>
        <p:nvSpPr>
          <p:cNvPr id="270" name="Google Shape;270;p8"/>
          <p:cNvSpPr txBox="1"/>
          <p:nvPr/>
        </p:nvSpPr>
        <p:spPr>
          <a:xfrm>
            <a:off x="-1" y="6131859"/>
            <a:ext cx="8634957" cy="726141"/>
          </a:xfrm>
          <a:prstGeom prst="rect">
            <a:avLst/>
          </a:prstGeom>
          <a:solidFill>
            <a:srgbClr val="0B112B"/>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8"/>
          <p:cNvSpPr/>
          <p:nvPr/>
        </p:nvSpPr>
        <p:spPr>
          <a:xfrm>
            <a:off x="0" y="-7894"/>
            <a:ext cx="12192000" cy="998009"/>
          </a:xfrm>
          <a:prstGeom prst="rect">
            <a:avLst/>
          </a:prstGeom>
          <a:solidFill>
            <a:srgbClr val="0B112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272" name="Google Shape;272;p8"/>
          <p:cNvSpPr txBox="1"/>
          <p:nvPr/>
        </p:nvSpPr>
        <p:spPr>
          <a:xfrm>
            <a:off x="139773" y="29450"/>
            <a:ext cx="119409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0" i="0" lang="en-US" sz="4800" u="none" cap="none" strike="noStrike">
                <a:solidFill>
                  <a:srgbClr val="ED7D31"/>
                </a:solidFill>
                <a:latin typeface="Franklin Gothic"/>
                <a:ea typeface="Franklin Gothic"/>
                <a:cs typeface="Franklin Gothic"/>
                <a:sym typeface="Franklin Gothic"/>
              </a:rPr>
              <a:t>What Goes Wrong with MCMC Samplers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8">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pic>
        <p:nvPicPr>
          <p:cNvPr id="277" name="Google Shape;277;p9"/>
          <p:cNvPicPr preferRelativeResize="0"/>
          <p:nvPr/>
        </p:nvPicPr>
        <p:blipFill rotWithShape="1">
          <a:blip r:embed="rId3">
            <a:alphaModFix/>
          </a:blip>
          <a:srcRect b="0" l="0" r="0" t="0"/>
          <a:stretch/>
        </p:blipFill>
        <p:spPr>
          <a:xfrm>
            <a:off x="8634957" y="6131859"/>
            <a:ext cx="3557043" cy="734035"/>
          </a:xfrm>
          <a:prstGeom prst="rect">
            <a:avLst/>
          </a:prstGeom>
          <a:noFill/>
          <a:ln>
            <a:noFill/>
          </a:ln>
        </p:spPr>
      </p:pic>
      <p:sp>
        <p:nvSpPr>
          <p:cNvPr id="278" name="Google Shape;278;p9"/>
          <p:cNvSpPr txBox="1"/>
          <p:nvPr/>
        </p:nvSpPr>
        <p:spPr>
          <a:xfrm>
            <a:off x="-1" y="6131859"/>
            <a:ext cx="8634957" cy="726141"/>
          </a:xfrm>
          <a:prstGeom prst="rect">
            <a:avLst/>
          </a:prstGeom>
          <a:solidFill>
            <a:srgbClr val="0B112B"/>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9"/>
          <p:cNvSpPr/>
          <p:nvPr/>
        </p:nvSpPr>
        <p:spPr>
          <a:xfrm>
            <a:off x="0" y="-7894"/>
            <a:ext cx="12192000" cy="998009"/>
          </a:xfrm>
          <a:prstGeom prst="rect">
            <a:avLst/>
          </a:prstGeom>
          <a:solidFill>
            <a:srgbClr val="0B112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280" name="Google Shape;280;p9"/>
          <p:cNvSpPr txBox="1"/>
          <p:nvPr/>
        </p:nvSpPr>
        <p:spPr>
          <a:xfrm>
            <a:off x="139781" y="29445"/>
            <a:ext cx="11211724"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0" i="0" lang="en-US" sz="4800" u="none" cap="none" strike="noStrike">
                <a:solidFill>
                  <a:srgbClr val="ED7D31"/>
                </a:solidFill>
                <a:latin typeface="Franklin Gothic"/>
                <a:ea typeface="Franklin Gothic"/>
                <a:cs typeface="Franklin Gothic"/>
                <a:sym typeface="Franklin Gothic"/>
              </a:rPr>
              <a:t>Sampler Pathologies – An Informal Guide</a:t>
            </a:r>
            <a:endParaRPr/>
          </a:p>
        </p:txBody>
      </p:sp>
      <p:pic>
        <p:nvPicPr>
          <p:cNvPr id="281" name="Google Shape;281;p9"/>
          <p:cNvPicPr preferRelativeResize="0"/>
          <p:nvPr/>
        </p:nvPicPr>
        <p:blipFill rotWithShape="1">
          <a:blip r:embed="rId4">
            <a:alphaModFix/>
          </a:blip>
          <a:srcRect b="0" l="0" r="0" t="0"/>
          <a:stretch/>
        </p:blipFill>
        <p:spPr>
          <a:xfrm>
            <a:off x="83671" y="1021543"/>
            <a:ext cx="6870005" cy="4809003"/>
          </a:xfrm>
          <a:prstGeom prst="rect">
            <a:avLst/>
          </a:prstGeom>
          <a:noFill/>
          <a:ln>
            <a:noFill/>
          </a:ln>
        </p:spPr>
      </p:pic>
      <p:sp>
        <p:nvSpPr>
          <p:cNvPr id="282" name="Google Shape;282;p9"/>
          <p:cNvSpPr txBox="1"/>
          <p:nvPr/>
        </p:nvSpPr>
        <p:spPr>
          <a:xfrm>
            <a:off x="6659540" y="1225176"/>
            <a:ext cx="5191801" cy="1600438"/>
          </a:xfrm>
          <a:prstGeom prst="rect">
            <a:avLst/>
          </a:prstGeom>
          <a:blipFill rotWithShape="1">
            <a:blip r:embed="rId5">
              <a:alphaModFix/>
            </a:blip>
            <a:stretch>
              <a:fillRect b="0" l="-1173" r="0" t="-228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sp>
        <p:nvSpPr>
          <p:cNvPr id="283" name="Google Shape;283;p9"/>
          <p:cNvSpPr txBox="1"/>
          <p:nvPr/>
        </p:nvSpPr>
        <p:spPr>
          <a:xfrm>
            <a:off x="6659540" y="2825614"/>
            <a:ext cx="5317307"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Funnel Pathology –</a:t>
            </a:r>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The walk’s variance is increasing (or changing more broadly)</a:t>
            </a:r>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Usually something do to with bad identification in </a:t>
            </a:r>
            <a:r>
              <a:rPr b="1" i="0" lang="en-US" sz="1400" u="none" cap="none" strike="noStrike">
                <a:solidFill>
                  <a:srgbClr val="000000"/>
                </a:solidFill>
                <a:latin typeface="Arial"/>
                <a:ea typeface="Arial"/>
                <a:cs typeface="Arial"/>
                <a:sym typeface="Arial"/>
              </a:rPr>
              <a:t>other parts of the model.</a:t>
            </a:r>
            <a:endParaRPr/>
          </a:p>
        </p:txBody>
      </p:sp>
      <p:sp>
        <p:nvSpPr>
          <p:cNvPr id="284" name="Google Shape;284;p9"/>
          <p:cNvSpPr txBox="1"/>
          <p:nvPr/>
        </p:nvSpPr>
        <p:spPr>
          <a:xfrm>
            <a:off x="6743855" y="4409749"/>
            <a:ext cx="5317307" cy="10464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000000"/>
                </a:solidFill>
                <a:latin typeface="Arial"/>
                <a:ea typeface="Arial"/>
                <a:cs typeface="Arial"/>
                <a:sym typeface="Arial"/>
              </a:rPr>
              <a:t>Switching Pathology –</a:t>
            </a:r>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Usually a PEBCAK, you probably misspecified a mixture somewhere</a:t>
            </a:r>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e.g. the marginal mean of a mixture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pic>
        <p:nvPicPr>
          <p:cNvPr id="289" name="Google Shape;289;p10"/>
          <p:cNvPicPr preferRelativeResize="0"/>
          <p:nvPr/>
        </p:nvPicPr>
        <p:blipFill rotWithShape="1">
          <a:blip r:embed="rId3">
            <a:alphaModFix/>
          </a:blip>
          <a:srcRect b="0" l="0" r="0" t="0"/>
          <a:stretch/>
        </p:blipFill>
        <p:spPr>
          <a:xfrm>
            <a:off x="8634957" y="6131859"/>
            <a:ext cx="3557043" cy="734035"/>
          </a:xfrm>
          <a:prstGeom prst="rect">
            <a:avLst/>
          </a:prstGeom>
          <a:noFill/>
          <a:ln>
            <a:noFill/>
          </a:ln>
        </p:spPr>
      </p:pic>
      <p:sp>
        <p:nvSpPr>
          <p:cNvPr id="290" name="Google Shape;290;p10"/>
          <p:cNvSpPr txBox="1"/>
          <p:nvPr/>
        </p:nvSpPr>
        <p:spPr>
          <a:xfrm>
            <a:off x="-1" y="6131859"/>
            <a:ext cx="8634957" cy="726141"/>
          </a:xfrm>
          <a:prstGeom prst="rect">
            <a:avLst/>
          </a:prstGeom>
          <a:solidFill>
            <a:srgbClr val="0B112B"/>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10"/>
          <p:cNvSpPr/>
          <p:nvPr/>
        </p:nvSpPr>
        <p:spPr>
          <a:xfrm>
            <a:off x="0" y="-7894"/>
            <a:ext cx="12192000" cy="998009"/>
          </a:xfrm>
          <a:prstGeom prst="rect">
            <a:avLst/>
          </a:prstGeom>
          <a:solidFill>
            <a:srgbClr val="0B112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292" name="Google Shape;292;p10"/>
          <p:cNvSpPr txBox="1"/>
          <p:nvPr/>
        </p:nvSpPr>
        <p:spPr>
          <a:xfrm>
            <a:off x="139781" y="29445"/>
            <a:ext cx="7989688"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0" i="0" lang="en-US" sz="4800" u="none" cap="none" strike="noStrike">
                <a:solidFill>
                  <a:srgbClr val="ED7D31"/>
                </a:solidFill>
                <a:latin typeface="Franklin Gothic"/>
                <a:ea typeface="Franklin Gothic"/>
                <a:cs typeface="Franklin Gothic"/>
                <a:sym typeface="Franklin Gothic"/>
              </a:rPr>
              <a:t>Geweke’s Z-score Diagnostic</a:t>
            </a:r>
            <a:endParaRPr b="0" i="0" sz="4800" u="none" cap="none" strike="noStrike">
              <a:solidFill>
                <a:srgbClr val="ED7D31"/>
              </a:solidFill>
              <a:latin typeface="Franklin Gothic"/>
              <a:ea typeface="Franklin Gothic"/>
              <a:cs typeface="Franklin Gothic"/>
              <a:sym typeface="Franklin Gothic"/>
            </a:endParaRPr>
          </a:p>
        </p:txBody>
      </p:sp>
      <p:sp>
        <p:nvSpPr>
          <p:cNvPr id="293" name="Google Shape;293;p10"/>
          <p:cNvSpPr txBox="1"/>
          <p:nvPr>
            <p:ph idx="1" type="body"/>
          </p:nvPr>
        </p:nvSpPr>
        <p:spPr>
          <a:xfrm>
            <a:off x="192200" y="1027454"/>
            <a:ext cx="11748788" cy="4994773"/>
          </a:xfrm>
          <a:prstGeom prst="rect">
            <a:avLst/>
          </a:prstGeom>
          <a:blipFill rotWithShape="1">
            <a:blip r:embed="rId4">
              <a:alphaModFix/>
            </a:blip>
            <a:stretch>
              <a:fillRect b="0" l="-1089" r="0" t="0"/>
            </a:stretch>
          </a:blipFill>
          <a:ln>
            <a:noFill/>
          </a:ln>
        </p:spPr>
        <p:txBody>
          <a:bodyPr anchorCtr="0" anchor="t" bIns="91425" lIns="91425" spcFirstLastPara="1" rIns="91425" wrap="square" tIns="91425">
            <a:noAutofit/>
          </a:bodyPr>
          <a:lstStyle/>
          <a:p>
            <a:pPr indent="-406400" lvl="0" marL="457200" marR="0" rtl="0" algn="l">
              <a:lnSpc>
                <a:spcPct val="90000"/>
              </a:lnSpc>
              <a:spcBef>
                <a:spcPts val="1000"/>
              </a:spcBef>
              <a:spcAft>
                <a:spcPts val="0"/>
              </a:spcAft>
              <a:buClr>
                <a:schemeClr val="dk1"/>
              </a:buClr>
              <a:buSzPts val="2800"/>
              <a:buFont typeface="Arial"/>
              <a:buChar char="•"/>
            </a:pPr>
            <a:r>
              <a:rPr lang="en-US"/>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3">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pic>
        <p:nvPicPr>
          <p:cNvPr id="298" name="Google Shape;298;p11"/>
          <p:cNvPicPr preferRelativeResize="0"/>
          <p:nvPr/>
        </p:nvPicPr>
        <p:blipFill rotWithShape="1">
          <a:blip r:embed="rId3">
            <a:alphaModFix/>
          </a:blip>
          <a:srcRect b="0" l="0" r="0" t="0"/>
          <a:stretch/>
        </p:blipFill>
        <p:spPr>
          <a:xfrm>
            <a:off x="8634957" y="6131859"/>
            <a:ext cx="3557043" cy="734035"/>
          </a:xfrm>
          <a:prstGeom prst="rect">
            <a:avLst/>
          </a:prstGeom>
          <a:noFill/>
          <a:ln>
            <a:noFill/>
          </a:ln>
        </p:spPr>
      </p:pic>
      <p:sp>
        <p:nvSpPr>
          <p:cNvPr id="299" name="Google Shape;299;p11"/>
          <p:cNvSpPr txBox="1"/>
          <p:nvPr/>
        </p:nvSpPr>
        <p:spPr>
          <a:xfrm>
            <a:off x="-1" y="6131859"/>
            <a:ext cx="8634957" cy="726141"/>
          </a:xfrm>
          <a:prstGeom prst="rect">
            <a:avLst/>
          </a:prstGeom>
          <a:solidFill>
            <a:srgbClr val="0B112B"/>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11"/>
          <p:cNvSpPr/>
          <p:nvPr/>
        </p:nvSpPr>
        <p:spPr>
          <a:xfrm>
            <a:off x="0" y="-7894"/>
            <a:ext cx="12192000" cy="998009"/>
          </a:xfrm>
          <a:prstGeom prst="rect">
            <a:avLst/>
          </a:prstGeom>
          <a:solidFill>
            <a:srgbClr val="0B112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301" name="Google Shape;301;p11"/>
          <p:cNvSpPr txBox="1"/>
          <p:nvPr/>
        </p:nvSpPr>
        <p:spPr>
          <a:xfrm>
            <a:off x="139781" y="29445"/>
            <a:ext cx="7989688"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0" i="0" lang="en-US" sz="4800" u="none" cap="none" strike="noStrike">
                <a:solidFill>
                  <a:srgbClr val="ED7D31"/>
                </a:solidFill>
                <a:latin typeface="Franklin Gothic"/>
                <a:ea typeface="Franklin Gothic"/>
                <a:cs typeface="Franklin Gothic"/>
                <a:sym typeface="Franklin Gothic"/>
              </a:rPr>
              <a:t>Geweke’s Z-score Diagnostic</a:t>
            </a:r>
            <a:endParaRPr b="0" i="0" sz="4800" u="none" cap="none" strike="noStrike">
              <a:solidFill>
                <a:srgbClr val="ED7D31"/>
              </a:solidFill>
              <a:latin typeface="Franklin Gothic"/>
              <a:ea typeface="Franklin Gothic"/>
              <a:cs typeface="Franklin Gothic"/>
              <a:sym typeface="Franklin Gothic"/>
            </a:endParaRPr>
          </a:p>
        </p:txBody>
      </p:sp>
      <p:pic>
        <p:nvPicPr>
          <p:cNvPr id="302" name="Google Shape;302;p11"/>
          <p:cNvPicPr preferRelativeResize="0"/>
          <p:nvPr/>
        </p:nvPicPr>
        <p:blipFill rotWithShape="1">
          <a:blip r:embed="rId4">
            <a:alphaModFix/>
          </a:blip>
          <a:srcRect b="0" l="0" r="0" t="0"/>
          <a:stretch/>
        </p:blipFill>
        <p:spPr>
          <a:xfrm>
            <a:off x="52181" y="876691"/>
            <a:ext cx="7669419" cy="5368593"/>
          </a:xfrm>
          <a:prstGeom prst="rect">
            <a:avLst/>
          </a:prstGeom>
          <a:noFill/>
          <a:ln>
            <a:noFill/>
          </a:ln>
        </p:spPr>
      </p:pic>
      <p:sp>
        <p:nvSpPr>
          <p:cNvPr id="303" name="Google Shape;303;p11"/>
          <p:cNvSpPr txBox="1"/>
          <p:nvPr/>
        </p:nvSpPr>
        <p:spPr>
          <a:xfrm>
            <a:off x="7633560" y="1063601"/>
            <a:ext cx="4506259" cy="4938586"/>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1000"/>
              </a:spcBef>
              <a:spcAft>
                <a:spcPts val="0"/>
              </a:spcAft>
              <a:buClr>
                <a:schemeClr val="dk1"/>
              </a:buClr>
              <a:buSzPts val="2800"/>
              <a:buFont typeface="Arial"/>
              <a:buNone/>
            </a:pPr>
            <a:r>
              <a:rPr b="0" i="0" lang="en-US" sz="2800" u="none" cap="none" strike="noStrike">
                <a:solidFill>
                  <a:schemeClr val="dk1"/>
                </a:solidFill>
                <a:latin typeface="Libre Franklin"/>
                <a:ea typeface="Libre Franklin"/>
                <a:cs typeface="Libre Franklin"/>
                <a:sym typeface="Libre Franklin"/>
              </a:rPr>
              <a:t>Top Panel – Yes, bad convergence.</a:t>
            </a:r>
            <a:endParaRPr/>
          </a:p>
          <a:p>
            <a:pPr indent="0" lvl="0" marL="0" marR="0" rtl="0" algn="l">
              <a:lnSpc>
                <a:spcPct val="90000"/>
              </a:lnSpc>
              <a:spcBef>
                <a:spcPts val="1000"/>
              </a:spcBef>
              <a:spcAft>
                <a:spcPts val="0"/>
              </a:spcAft>
              <a:buClr>
                <a:schemeClr val="dk1"/>
              </a:buClr>
              <a:buSzPts val="2800"/>
              <a:buFont typeface="Arial"/>
              <a:buNone/>
            </a:pPr>
            <a:r>
              <a:t/>
            </a:r>
            <a:endParaRPr b="0" i="0" sz="2800" u="none" cap="none" strike="noStrike">
              <a:solidFill>
                <a:schemeClr val="dk1"/>
              </a:solidFill>
              <a:latin typeface="Libre Franklin"/>
              <a:ea typeface="Libre Franklin"/>
              <a:cs typeface="Libre Franklin"/>
              <a:sym typeface="Libre Franklin"/>
            </a:endParaRPr>
          </a:p>
          <a:p>
            <a:pPr indent="0" lvl="0" marL="0" marR="0" rtl="0" algn="l">
              <a:lnSpc>
                <a:spcPct val="90000"/>
              </a:lnSpc>
              <a:spcBef>
                <a:spcPts val="1000"/>
              </a:spcBef>
              <a:spcAft>
                <a:spcPts val="0"/>
              </a:spcAft>
              <a:buClr>
                <a:schemeClr val="dk1"/>
              </a:buClr>
              <a:buSzPts val="2800"/>
              <a:buFont typeface="Arial"/>
              <a:buNone/>
            </a:pPr>
            <a:r>
              <a:t/>
            </a:r>
            <a:endParaRPr b="0" i="0" sz="2800" u="none" cap="none" strike="noStrike">
              <a:solidFill>
                <a:schemeClr val="dk1"/>
              </a:solidFill>
              <a:latin typeface="Libre Franklin"/>
              <a:ea typeface="Libre Franklin"/>
              <a:cs typeface="Libre Franklin"/>
              <a:sym typeface="Libre Franklin"/>
            </a:endParaRPr>
          </a:p>
          <a:p>
            <a:pPr indent="0" lvl="0" marL="0" marR="0" rtl="0" algn="l">
              <a:lnSpc>
                <a:spcPct val="90000"/>
              </a:lnSpc>
              <a:spcBef>
                <a:spcPts val="1000"/>
              </a:spcBef>
              <a:spcAft>
                <a:spcPts val="0"/>
              </a:spcAft>
              <a:buClr>
                <a:schemeClr val="dk1"/>
              </a:buClr>
              <a:buSzPts val="2800"/>
              <a:buFont typeface="Arial"/>
              <a:buNone/>
            </a:pPr>
            <a:r>
              <a:rPr b="0" i="0" lang="en-US" sz="2800" u="none" cap="none" strike="noStrike">
                <a:solidFill>
                  <a:schemeClr val="dk1"/>
                </a:solidFill>
                <a:latin typeface="Libre Franklin"/>
                <a:ea typeface="Libre Franklin"/>
                <a:cs typeface="Libre Franklin"/>
                <a:sym typeface="Libre Franklin"/>
              </a:rPr>
              <a:t>Mid Panel – Not an issue</a:t>
            </a:r>
            <a:endParaRPr/>
          </a:p>
          <a:p>
            <a:pPr indent="0" lvl="0" marL="0" marR="0" rtl="0" algn="l">
              <a:lnSpc>
                <a:spcPct val="90000"/>
              </a:lnSpc>
              <a:spcBef>
                <a:spcPts val="1000"/>
              </a:spcBef>
              <a:spcAft>
                <a:spcPts val="0"/>
              </a:spcAft>
              <a:buClr>
                <a:schemeClr val="dk1"/>
              </a:buClr>
              <a:buSzPts val="2800"/>
              <a:buFont typeface="Arial"/>
              <a:buNone/>
            </a:pPr>
            <a:r>
              <a:t/>
            </a:r>
            <a:endParaRPr b="0" i="0" sz="2800" u="none" cap="none" strike="noStrike">
              <a:solidFill>
                <a:schemeClr val="dk1"/>
              </a:solidFill>
              <a:latin typeface="Libre Franklin"/>
              <a:ea typeface="Libre Franklin"/>
              <a:cs typeface="Libre Franklin"/>
              <a:sym typeface="Libre Franklin"/>
            </a:endParaRPr>
          </a:p>
          <a:p>
            <a:pPr indent="0" lvl="0" marL="0" marR="0" rtl="0" algn="l">
              <a:lnSpc>
                <a:spcPct val="90000"/>
              </a:lnSpc>
              <a:spcBef>
                <a:spcPts val="1000"/>
              </a:spcBef>
              <a:spcAft>
                <a:spcPts val="0"/>
              </a:spcAft>
              <a:buClr>
                <a:schemeClr val="dk1"/>
              </a:buClr>
              <a:buSzPts val="2800"/>
              <a:buFont typeface="Arial"/>
              <a:buNone/>
            </a:pPr>
            <a:r>
              <a:t/>
            </a:r>
            <a:endParaRPr b="0" i="0" sz="2800" u="none" cap="none" strike="noStrike">
              <a:solidFill>
                <a:schemeClr val="dk1"/>
              </a:solidFill>
              <a:latin typeface="Libre Franklin"/>
              <a:ea typeface="Libre Franklin"/>
              <a:cs typeface="Libre Franklin"/>
              <a:sym typeface="Libre Franklin"/>
            </a:endParaRPr>
          </a:p>
          <a:p>
            <a:pPr indent="0" lvl="0" marL="0" marR="0" rtl="0" algn="l">
              <a:lnSpc>
                <a:spcPct val="90000"/>
              </a:lnSpc>
              <a:spcBef>
                <a:spcPts val="1000"/>
              </a:spcBef>
              <a:spcAft>
                <a:spcPts val="0"/>
              </a:spcAft>
              <a:buClr>
                <a:schemeClr val="dk1"/>
              </a:buClr>
              <a:buSzPts val="2800"/>
              <a:buFont typeface="Arial"/>
              <a:buNone/>
            </a:pPr>
            <a:r>
              <a:t/>
            </a:r>
            <a:endParaRPr b="0" i="0" sz="2800" u="none" cap="none" strike="noStrike">
              <a:solidFill>
                <a:schemeClr val="dk1"/>
              </a:solidFill>
              <a:latin typeface="Libre Franklin"/>
              <a:ea typeface="Libre Franklin"/>
              <a:cs typeface="Libre Franklin"/>
              <a:sym typeface="Libre Franklin"/>
            </a:endParaRPr>
          </a:p>
          <a:p>
            <a:pPr indent="0" lvl="0" marL="0" marR="0" rtl="0" algn="l">
              <a:lnSpc>
                <a:spcPct val="90000"/>
              </a:lnSpc>
              <a:spcBef>
                <a:spcPts val="1000"/>
              </a:spcBef>
              <a:spcAft>
                <a:spcPts val="0"/>
              </a:spcAft>
              <a:buClr>
                <a:schemeClr val="dk1"/>
              </a:buClr>
              <a:buSzPts val="2800"/>
              <a:buFont typeface="Arial"/>
              <a:buNone/>
            </a:pPr>
            <a:r>
              <a:rPr b="0" i="0" lang="en-US" sz="2800" u="none" cap="none" strike="noStrike">
                <a:solidFill>
                  <a:schemeClr val="dk1"/>
                </a:solidFill>
                <a:latin typeface="Libre Franklin"/>
                <a:ea typeface="Libre Franklin"/>
                <a:cs typeface="Libre Franklin"/>
                <a:sym typeface="Libre Franklin"/>
              </a:rPr>
              <a:t>Last Panel – No evidence, but bad chain.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3">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pic>
        <p:nvPicPr>
          <p:cNvPr id="308" name="Google Shape;308;p12"/>
          <p:cNvPicPr preferRelativeResize="0"/>
          <p:nvPr/>
        </p:nvPicPr>
        <p:blipFill rotWithShape="1">
          <a:blip r:embed="rId3">
            <a:alphaModFix/>
          </a:blip>
          <a:srcRect b="0" l="0" r="0" t="0"/>
          <a:stretch/>
        </p:blipFill>
        <p:spPr>
          <a:xfrm>
            <a:off x="8634957" y="6131859"/>
            <a:ext cx="3557043" cy="734035"/>
          </a:xfrm>
          <a:prstGeom prst="rect">
            <a:avLst/>
          </a:prstGeom>
          <a:noFill/>
          <a:ln>
            <a:noFill/>
          </a:ln>
        </p:spPr>
      </p:pic>
      <p:sp>
        <p:nvSpPr>
          <p:cNvPr id="309" name="Google Shape;309;p12"/>
          <p:cNvSpPr txBox="1"/>
          <p:nvPr/>
        </p:nvSpPr>
        <p:spPr>
          <a:xfrm>
            <a:off x="-1" y="6131859"/>
            <a:ext cx="8634957" cy="726141"/>
          </a:xfrm>
          <a:prstGeom prst="rect">
            <a:avLst/>
          </a:prstGeom>
          <a:solidFill>
            <a:srgbClr val="0B112B"/>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12"/>
          <p:cNvSpPr/>
          <p:nvPr/>
        </p:nvSpPr>
        <p:spPr>
          <a:xfrm>
            <a:off x="0" y="-7894"/>
            <a:ext cx="12192000" cy="998009"/>
          </a:xfrm>
          <a:prstGeom prst="rect">
            <a:avLst/>
          </a:prstGeom>
          <a:solidFill>
            <a:srgbClr val="0B112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311" name="Google Shape;311;p12"/>
          <p:cNvSpPr txBox="1"/>
          <p:nvPr/>
        </p:nvSpPr>
        <p:spPr>
          <a:xfrm>
            <a:off x="139781" y="29445"/>
            <a:ext cx="11261416"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0" i="0" lang="en-US" sz="4800" u="none" cap="none" strike="noStrike">
                <a:solidFill>
                  <a:srgbClr val="ED7D31"/>
                </a:solidFill>
                <a:latin typeface="Franklin Gothic"/>
                <a:ea typeface="Franklin Gothic"/>
                <a:cs typeface="Franklin Gothic"/>
                <a:sym typeface="Franklin Gothic"/>
              </a:rPr>
              <a:t>Sampler Diagnostics – An </a:t>
            </a:r>
            <a:r>
              <a:rPr b="0" i="0" lang="en-US" sz="4800" u="none" cap="none" strike="noStrike">
                <a:solidFill>
                  <a:srgbClr val="ED7D31"/>
                </a:solidFill>
                <a:latin typeface="Franklin Gothic"/>
                <a:ea typeface="Franklin Gothic"/>
                <a:cs typeface="Franklin Gothic"/>
                <a:sym typeface="Franklin Gothic"/>
              </a:rPr>
              <a:t>I</a:t>
            </a:r>
            <a:r>
              <a:rPr b="0" i="0" lang="en-US" sz="4800" u="none" cap="none" strike="noStrike">
                <a:solidFill>
                  <a:srgbClr val="ED7D31"/>
                </a:solidFill>
                <a:latin typeface="Franklin Gothic"/>
                <a:ea typeface="Franklin Gothic"/>
                <a:cs typeface="Franklin Gothic"/>
                <a:sym typeface="Franklin Gothic"/>
              </a:rPr>
              <a:t>nformal Guide</a:t>
            </a:r>
            <a:endParaRPr/>
          </a:p>
        </p:txBody>
      </p:sp>
      <p:sp>
        <p:nvSpPr>
          <p:cNvPr id="312" name="Google Shape;312;p12"/>
          <p:cNvSpPr txBox="1"/>
          <p:nvPr>
            <p:ph idx="1" type="body"/>
          </p:nvPr>
        </p:nvSpPr>
        <p:spPr>
          <a:xfrm>
            <a:off x="192200" y="1027454"/>
            <a:ext cx="6748294" cy="4994773"/>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1000"/>
              </a:spcBef>
              <a:spcAft>
                <a:spcPts val="0"/>
              </a:spcAft>
              <a:buSzPts val="2800"/>
              <a:buNone/>
            </a:pPr>
            <a:r>
              <a:rPr b="1" lang="en-US" u="sng">
                <a:latin typeface="Libre Franklin"/>
                <a:ea typeface="Libre Franklin"/>
                <a:cs typeface="Libre Franklin"/>
                <a:sym typeface="Libre Franklin"/>
              </a:rPr>
              <a:t>Q:</a:t>
            </a:r>
            <a:r>
              <a:rPr lang="en-US">
                <a:latin typeface="Libre Franklin"/>
                <a:ea typeface="Libre Franklin"/>
                <a:cs typeface="Libre Franklin"/>
                <a:sym typeface="Libre Franklin"/>
              </a:rPr>
              <a:t> If you are digging for buried treasure, what’s better?</a:t>
            </a:r>
            <a:endParaRPr/>
          </a:p>
          <a:p>
            <a:pPr indent="-514350" lvl="1" marL="971550" rtl="0" algn="l">
              <a:lnSpc>
                <a:spcPct val="90000"/>
              </a:lnSpc>
              <a:spcBef>
                <a:spcPts val="500"/>
              </a:spcBef>
              <a:spcAft>
                <a:spcPts val="0"/>
              </a:spcAft>
              <a:buSzPts val="2400"/>
              <a:buFont typeface="Arial"/>
              <a:buAutoNum type="alphaUcPeriod"/>
            </a:pPr>
            <a:r>
              <a:rPr lang="en-US">
                <a:latin typeface="Libre Franklin"/>
                <a:ea typeface="Libre Franklin"/>
                <a:cs typeface="Libre Franklin"/>
                <a:sym typeface="Libre Franklin"/>
              </a:rPr>
              <a:t>Sending out 1 digger with a month’s supply of food?</a:t>
            </a:r>
            <a:endParaRPr/>
          </a:p>
          <a:p>
            <a:pPr indent="-514350" lvl="1" marL="971550" rtl="0" algn="l">
              <a:lnSpc>
                <a:spcPct val="90000"/>
              </a:lnSpc>
              <a:spcBef>
                <a:spcPts val="500"/>
              </a:spcBef>
              <a:spcAft>
                <a:spcPts val="0"/>
              </a:spcAft>
              <a:buSzPts val="2400"/>
              <a:buFont typeface="Arial"/>
              <a:buAutoNum type="alphaUcPeriod"/>
            </a:pPr>
            <a:r>
              <a:rPr lang="en-US">
                <a:latin typeface="Libre Franklin"/>
                <a:ea typeface="Libre Franklin"/>
                <a:cs typeface="Libre Franklin"/>
                <a:sym typeface="Libre Franklin"/>
              </a:rPr>
              <a:t>Sending out 30 diggers with a day’s supply of food?</a:t>
            </a:r>
            <a:endParaRPr/>
          </a:p>
          <a:p>
            <a:pPr indent="0" lvl="0" marL="0" rtl="0" algn="l">
              <a:lnSpc>
                <a:spcPct val="90000"/>
              </a:lnSpc>
              <a:spcBef>
                <a:spcPts val="1000"/>
              </a:spcBef>
              <a:spcAft>
                <a:spcPts val="0"/>
              </a:spcAft>
              <a:buSzPts val="2800"/>
              <a:buNone/>
            </a:pPr>
            <a:r>
              <a:t/>
            </a:r>
            <a:endParaRPr>
              <a:latin typeface="Libre Franklin"/>
              <a:ea typeface="Libre Franklin"/>
              <a:cs typeface="Libre Franklin"/>
              <a:sym typeface="Libre Franklin"/>
            </a:endParaRPr>
          </a:p>
          <a:p>
            <a:pPr indent="0" lvl="0" marL="0" rtl="0" algn="l">
              <a:lnSpc>
                <a:spcPct val="90000"/>
              </a:lnSpc>
              <a:spcBef>
                <a:spcPts val="1000"/>
              </a:spcBef>
              <a:spcAft>
                <a:spcPts val="0"/>
              </a:spcAft>
              <a:buSzPts val="2800"/>
              <a:buNone/>
            </a:pPr>
            <a:r>
              <a:rPr lang="en-US">
                <a:latin typeface="Libre Franklin"/>
                <a:ea typeface="Libre Franklin"/>
                <a:cs typeface="Libre Franklin"/>
                <a:sym typeface="Libre Franklin"/>
              </a:rPr>
              <a:t>Our sampler is </a:t>
            </a:r>
            <a:r>
              <a:rPr b="1" lang="en-US" u="sng">
                <a:latin typeface="Libre Franklin"/>
                <a:ea typeface="Libre Franklin"/>
                <a:cs typeface="Libre Franklin"/>
                <a:sym typeface="Libre Franklin"/>
              </a:rPr>
              <a:t>in</a:t>
            </a:r>
            <a:r>
              <a:rPr b="1" lang="en-US">
                <a:latin typeface="Libre Franklin"/>
                <a:ea typeface="Libre Franklin"/>
                <a:cs typeface="Libre Franklin"/>
                <a:sym typeface="Libre Franklin"/>
              </a:rPr>
              <a:t> </a:t>
            </a:r>
            <a:r>
              <a:rPr lang="en-US">
                <a:latin typeface="Libre Franklin"/>
                <a:ea typeface="Libre Franklin"/>
                <a:cs typeface="Libre Franklin"/>
                <a:sym typeface="Libre Franklin"/>
              </a:rPr>
              <a:t>the space, and our goal is to map it. One powerful method is simply to have multiple chains going from different starting points.</a:t>
            </a:r>
            <a:endParaRPr/>
          </a:p>
        </p:txBody>
      </p:sp>
      <p:pic>
        <p:nvPicPr>
          <p:cNvPr descr="A picture containing text&#10;&#10;Description automatically generated" id="313" name="Google Shape;313;p12"/>
          <p:cNvPicPr preferRelativeResize="0"/>
          <p:nvPr/>
        </p:nvPicPr>
        <p:blipFill rotWithShape="1">
          <a:blip r:embed="rId4">
            <a:alphaModFix/>
          </a:blip>
          <a:srcRect b="0" l="0" r="0" t="0"/>
          <a:stretch/>
        </p:blipFill>
        <p:spPr>
          <a:xfrm>
            <a:off x="6940493" y="1512114"/>
            <a:ext cx="5162904" cy="402545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pic>
        <p:nvPicPr>
          <p:cNvPr id="318" name="Google Shape;318;p13"/>
          <p:cNvPicPr preferRelativeResize="0"/>
          <p:nvPr/>
        </p:nvPicPr>
        <p:blipFill rotWithShape="1">
          <a:blip r:embed="rId3">
            <a:alphaModFix/>
          </a:blip>
          <a:srcRect b="0" l="0" r="0" t="0"/>
          <a:stretch/>
        </p:blipFill>
        <p:spPr>
          <a:xfrm>
            <a:off x="8634957" y="6131859"/>
            <a:ext cx="3557043" cy="734035"/>
          </a:xfrm>
          <a:prstGeom prst="rect">
            <a:avLst/>
          </a:prstGeom>
          <a:noFill/>
          <a:ln>
            <a:noFill/>
          </a:ln>
        </p:spPr>
      </p:pic>
      <p:sp>
        <p:nvSpPr>
          <p:cNvPr id="319" name="Google Shape;319;p13"/>
          <p:cNvSpPr txBox="1"/>
          <p:nvPr/>
        </p:nvSpPr>
        <p:spPr>
          <a:xfrm>
            <a:off x="-1" y="6131859"/>
            <a:ext cx="8634957" cy="726141"/>
          </a:xfrm>
          <a:prstGeom prst="rect">
            <a:avLst/>
          </a:prstGeom>
          <a:solidFill>
            <a:srgbClr val="0B112B"/>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13"/>
          <p:cNvSpPr/>
          <p:nvPr/>
        </p:nvSpPr>
        <p:spPr>
          <a:xfrm>
            <a:off x="0" y="-7894"/>
            <a:ext cx="12192000" cy="998009"/>
          </a:xfrm>
          <a:prstGeom prst="rect">
            <a:avLst/>
          </a:prstGeom>
          <a:solidFill>
            <a:srgbClr val="0B112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321" name="Google Shape;321;p13"/>
          <p:cNvSpPr txBox="1"/>
          <p:nvPr/>
        </p:nvSpPr>
        <p:spPr>
          <a:xfrm>
            <a:off x="139781" y="29445"/>
            <a:ext cx="11261416"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0" i="0" lang="en-US" sz="4800" u="none" cap="none" strike="noStrike">
                <a:solidFill>
                  <a:srgbClr val="ED7D31"/>
                </a:solidFill>
                <a:latin typeface="Franklin Gothic"/>
                <a:ea typeface="Franklin Gothic"/>
                <a:cs typeface="Franklin Gothic"/>
                <a:sym typeface="Franklin Gothic"/>
              </a:rPr>
              <a:t>Sampler Diagnostics – An </a:t>
            </a:r>
            <a:r>
              <a:rPr b="0" i="0" lang="en-US" sz="4800" u="none" cap="none" strike="noStrike">
                <a:solidFill>
                  <a:srgbClr val="ED7D31"/>
                </a:solidFill>
                <a:latin typeface="Franklin Gothic"/>
                <a:ea typeface="Franklin Gothic"/>
                <a:cs typeface="Franklin Gothic"/>
                <a:sym typeface="Franklin Gothic"/>
              </a:rPr>
              <a:t>I</a:t>
            </a:r>
            <a:r>
              <a:rPr b="0" i="0" lang="en-US" sz="4800" u="none" cap="none" strike="noStrike">
                <a:solidFill>
                  <a:srgbClr val="ED7D31"/>
                </a:solidFill>
                <a:latin typeface="Franklin Gothic"/>
                <a:ea typeface="Franklin Gothic"/>
                <a:cs typeface="Franklin Gothic"/>
                <a:sym typeface="Franklin Gothic"/>
              </a:rPr>
              <a:t>nformal Guide</a:t>
            </a:r>
            <a:endParaRPr/>
          </a:p>
        </p:txBody>
      </p:sp>
      <p:sp>
        <p:nvSpPr>
          <p:cNvPr id="322" name="Google Shape;322;p13"/>
          <p:cNvSpPr txBox="1"/>
          <p:nvPr>
            <p:ph idx="1" type="body"/>
          </p:nvPr>
        </p:nvSpPr>
        <p:spPr>
          <a:xfrm>
            <a:off x="192200" y="1027454"/>
            <a:ext cx="6748294" cy="4994773"/>
          </a:xfrm>
          <a:prstGeom prst="rect">
            <a:avLst/>
          </a:prstGeom>
          <a:blipFill rotWithShape="1">
            <a:blip r:embed="rId4">
              <a:alphaModFix/>
            </a:blip>
            <a:stretch>
              <a:fillRect b="0" l="-1896" r="-2438" t="0"/>
            </a:stretch>
          </a:blipFill>
          <a:ln>
            <a:noFill/>
          </a:ln>
        </p:spPr>
        <p:txBody>
          <a:bodyPr anchorCtr="0" anchor="t" bIns="91425" lIns="91425" spcFirstLastPara="1" rIns="91425" wrap="square" tIns="91425">
            <a:noAutofit/>
          </a:bodyPr>
          <a:lstStyle/>
          <a:p>
            <a:pPr indent="-406400" lvl="0" marL="457200" marR="0" rtl="0" algn="l">
              <a:lnSpc>
                <a:spcPct val="90000"/>
              </a:lnSpc>
              <a:spcBef>
                <a:spcPts val="1000"/>
              </a:spcBef>
              <a:spcAft>
                <a:spcPts val="0"/>
              </a:spcAft>
              <a:buClr>
                <a:schemeClr val="dk1"/>
              </a:buClr>
              <a:buSzPts val="2800"/>
              <a:buFont typeface="Arial"/>
              <a:buChar char="•"/>
            </a:pPr>
            <a:r>
              <a:rPr lang="en-US"/>
              <a:t> </a:t>
            </a:r>
            <a:endParaRPr/>
          </a:p>
        </p:txBody>
      </p:sp>
      <p:pic>
        <p:nvPicPr>
          <p:cNvPr id="323" name="Google Shape;323;p13"/>
          <p:cNvPicPr preferRelativeResize="0"/>
          <p:nvPr/>
        </p:nvPicPr>
        <p:blipFill rotWithShape="1">
          <a:blip r:embed="rId5">
            <a:alphaModFix/>
          </a:blip>
          <a:srcRect b="0" l="0" r="0" t="0"/>
          <a:stretch/>
        </p:blipFill>
        <p:spPr>
          <a:xfrm>
            <a:off x="6329083" y="1099747"/>
            <a:ext cx="6281271" cy="439689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2">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pic>
        <p:nvPicPr>
          <p:cNvPr id="328" name="Google Shape;328;p14"/>
          <p:cNvPicPr preferRelativeResize="0"/>
          <p:nvPr/>
        </p:nvPicPr>
        <p:blipFill rotWithShape="1">
          <a:blip r:embed="rId3">
            <a:alphaModFix/>
          </a:blip>
          <a:srcRect b="0" l="0" r="0" t="0"/>
          <a:stretch/>
        </p:blipFill>
        <p:spPr>
          <a:xfrm>
            <a:off x="8634957" y="6131859"/>
            <a:ext cx="3557043" cy="734035"/>
          </a:xfrm>
          <a:prstGeom prst="rect">
            <a:avLst/>
          </a:prstGeom>
          <a:noFill/>
          <a:ln>
            <a:noFill/>
          </a:ln>
        </p:spPr>
      </p:pic>
      <p:sp>
        <p:nvSpPr>
          <p:cNvPr id="329" name="Google Shape;329;p14"/>
          <p:cNvSpPr txBox="1"/>
          <p:nvPr/>
        </p:nvSpPr>
        <p:spPr>
          <a:xfrm>
            <a:off x="-1" y="6131859"/>
            <a:ext cx="8634957" cy="726141"/>
          </a:xfrm>
          <a:prstGeom prst="rect">
            <a:avLst/>
          </a:prstGeom>
          <a:solidFill>
            <a:srgbClr val="0B112B"/>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14"/>
          <p:cNvSpPr/>
          <p:nvPr/>
        </p:nvSpPr>
        <p:spPr>
          <a:xfrm>
            <a:off x="0" y="-7894"/>
            <a:ext cx="12192000" cy="998009"/>
          </a:xfrm>
          <a:prstGeom prst="rect">
            <a:avLst/>
          </a:prstGeom>
          <a:solidFill>
            <a:srgbClr val="0B112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331" name="Google Shape;331;p14"/>
          <p:cNvSpPr txBox="1"/>
          <p:nvPr/>
        </p:nvSpPr>
        <p:spPr>
          <a:xfrm>
            <a:off x="139781" y="29445"/>
            <a:ext cx="11261416"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0" i="0" lang="en-US" sz="4800" u="none" cap="none" strike="noStrike">
                <a:solidFill>
                  <a:srgbClr val="ED7D31"/>
                </a:solidFill>
                <a:latin typeface="Franklin Gothic"/>
                <a:ea typeface="Franklin Gothic"/>
                <a:cs typeface="Franklin Gothic"/>
                <a:sym typeface="Franklin Gothic"/>
              </a:rPr>
              <a:t>Sampler Diagnostics – An </a:t>
            </a:r>
            <a:r>
              <a:rPr b="0" i="0" lang="en-US" sz="4800" u="none" cap="none" strike="noStrike">
                <a:solidFill>
                  <a:srgbClr val="ED7D31"/>
                </a:solidFill>
                <a:latin typeface="Franklin Gothic"/>
                <a:ea typeface="Franklin Gothic"/>
                <a:cs typeface="Franklin Gothic"/>
                <a:sym typeface="Franklin Gothic"/>
              </a:rPr>
              <a:t>I</a:t>
            </a:r>
            <a:r>
              <a:rPr b="0" i="0" lang="en-US" sz="4800" u="none" cap="none" strike="noStrike">
                <a:solidFill>
                  <a:srgbClr val="ED7D31"/>
                </a:solidFill>
                <a:latin typeface="Franklin Gothic"/>
                <a:ea typeface="Franklin Gothic"/>
                <a:cs typeface="Franklin Gothic"/>
                <a:sym typeface="Franklin Gothic"/>
              </a:rPr>
              <a:t>nformal Guide</a:t>
            </a:r>
            <a:endParaRPr/>
          </a:p>
        </p:txBody>
      </p:sp>
      <p:sp>
        <p:nvSpPr>
          <p:cNvPr id="332" name="Google Shape;332;p14"/>
          <p:cNvSpPr txBox="1"/>
          <p:nvPr>
            <p:ph idx="1" type="body"/>
          </p:nvPr>
        </p:nvSpPr>
        <p:spPr>
          <a:xfrm>
            <a:off x="5886823" y="1063600"/>
            <a:ext cx="6199411" cy="4994773"/>
          </a:xfrm>
          <a:prstGeom prst="rect">
            <a:avLst/>
          </a:prstGeom>
          <a:blipFill rotWithShape="1">
            <a:blip r:embed="rId4">
              <a:alphaModFix/>
            </a:blip>
            <a:stretch>
              <a:fillRect b="0" l="-2064" r="0" t="0"/>
            </a:stretch>
          </a:blipFill>
          <a:ln>
            <a:noFill/>
          </a:ln>
        </p:spPr>
        <p:txBody>
          <a:bodyPr anchorCtr="0" anchor="t" bIns="91425" lIns="91425" spcFirstLastPara="1" rIns="91425" wrap="square" tIns="91425">
            <a:noAutofit/>
          </a:bodyPr>
          <a:lstStyle/>
          <a:p>
            <a:pPr indent="-406400" lvl="0" marL="457200" marR="0" rtl="0" algn="l">
              <a:lnSpc>
                <a:spcPct val="90000"/>
              </a:lnSpc>
              <a:spcBef>
                <a:spcPts val="1000"/>
              </a:spcBef>
              <a:spcAft>
                <a:spcPts val="0"/>
              </a:spcAft>
              <a:buClr>
                <a:schemeClr val="dk1"/>
              </a:buClr>
              <a:buSzPts val="2800"/>
              <a:buFont typeface="Arial"/>
              <a:buChar char="•"/>
            </a:pPr>
            <a:r>
              <a:rPr lang="en-US"/>
              <a:t> </a:t>
            </a:r>
            <a:endParaRPr/>
          </a:p>
        </p:txBody>
      </p:sp>
      <p:pic>
        <p:nvPicPr>
          <p:cNvPr id="333" name="Google Shape;333;p14"/>
          <p:cNvPicPr preferRelativeResize="0"/>
          <p:nvPr/>
        </p:nvPicPr>
        <p:blipFill rotWithShape="1">
          <a:blip r:embed="rId5">
            <a:alphaModFix/>
          </a:blip>
          <a:srcRect b="0" l="0" r="0" t="0"/>
          <a:stretch/>
        </p:blipFill>
        <p:spPr>
          <a:xfrm>
            <a:off x="-531906" y="933927"/>
            <a:ext cx="6932706" cy="485289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pic>
        <p:nvPicPr>
          <p:cNvPr id="338" name="Google Shape;338;p15"/>
          <p:cNvPicPr preferRelativeResize="0"/>
          <p:nvPr/>
        </p:nvPicPr>
        <p:blipFill rotWithShape="1">
          <a:blip r:embed="rId3">
            <a:alphaModFix/>
          </a:blip>
          <a:srcRect b="0" l="0" r="0" t="0"/>
          <a:stretch/>
        </p:blipFill>
        <p:spPr>
          <a:xfrm>
            <a:off x="8634957" y="6131859"/>
            <a:ext cx="3557043" cy="734035"/>
          </a:xfrm>
          <a:prstGeom prst="rect">
            <a:avLst/>
          </a:prstGeom>
          <a:noFill/>
          <a:ln>
            <a:noFill/>
          </a:ln>
        </p:spPr>
      </p:pic>
      <p:sp>
        <p:nvSpPr>
          <p:cNvPr id="339" name="Google Shape;339;p15"/>
          <p:cNvSpPr txBox="1"/>
          <p:nvPr/>
        </p:nvSpPr>
        <p:spPr>
          <a:xfrm>
            <a:off x="-1" y="6131859"/>
            <a:ext cx="8634957" cy="726141"/>
          </a:xfrm>
          <a:prstGeom prst="rect">
            <a:avLst/>
          </a:prstGeom>
          <a:solidFill>
            <a:srgbClr val="0B112B"/>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15"/>
          <p:cNvSpPr/>
          <p:nvPr/>
        </p:nvSpPr>
        <p:spPr>
          <a:xfrm>
            <a:off x="0" y="-7894"/>
            <a:ext cx="12192000" cy="998009"/>
          </a:xfrm>
          <a:prstGeom prst="rect">
            <a:avLst/>
          </a:prstGeom>
          <a:solidFill>
            <a:srgbClr val="0B112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341" name="Google Shape;341;p15"/>
          <p:cNvSpPr txBox="1"/>
          <p:nvPr/>
        </p:nvSpPr>
        <p:spPr>
          <a:xfrm>
            <a:off x="139781" y="29445"/>
            <a:ext cx="10326866"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0" i="0" lang="en-US" sz="4800" u="none" cap="none" strike="noStrike">
                <a:solidFill>
                  <a:srgbClr val="ED7D31"/>
                </a:solidFill>
                <a:latin typeface="Franklin Gothic"/>
                <a:ea typeface="Franklin Gothic"/>
                <a:cs typeface="Franklin Gothic"/>
                <a:sym typeface="Franklin Gothic"/>
              </a:rPr>
              <a:t>NUTS Diagnostics– An </a:t>
            </a:r>
            <a:r>
              <a:rPr b="0" i="0" lang="en-US" sz="4800" u="none" cap="none" strike="noStrike">
                <a:solidFill>
                  <a:srgbClr val="ED7D31"/>
                </a:solidFill>
                <a:latin typeface="Franklin Gothic"/>
                <a:ea typeface="Franklin Gothic"/>
                <a:cs typeface="Franklin Gothic"/>
                <a:sym typeface="Franklin Gothic"/>
              </a:rPr>
              <a:t>I</a:t>
            </a:r>
            <a:r>
              <a:rPr b="0" i="0" lang="en-US" sz="4800" u="none" cap="none" strike="noStrike">
                <a:solidFill>
                  <a:srgbClr val="ED7D31"/>
                </a:solidFill>
                <a:latin typeface="Franklin Gothic"/>
                <a:ea typeface="Franklin Gothic"/>
                <a:cs typeface="Franklin Gothic"/>
                <a:sym typeface="Franklin Gothic"/>
              </a:rPr>
              <a:t>nformal Guide</a:t>
            </a:r>
            <a:endParaRPr/>
          </a:p>
        </p:txBody>
      </p:sp>
      <p:sp>
        <p:nvSpPr>
          <p:cNvPr id="342" name="Google Shape;342;p15"/>
          <p:cNvSpPr txBox="1"/>
          <p:nvPr>
            <p:ph idx="1" type="body"/>
          </p:nvPr>
        </p:nvSpPr>
        <p:spPr>
          <a:xfrm>
            <a:off x="145757" y="1063600"/>
            <a:ext cx="5950243" cy="4994773"/>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1000"/>
              </a:spcBef>
              <a:spcAft>
                <a:spcPts val="0"/>
              </a:spcAft>
              <a:buSzPts val="2800"/>
              <a:buNone/>
            </a:pPr>
            <a:r>
              <a:rPr lang="en-US">
                <a:latin typeface="Libre Franklin"/>
                <a:ea typeface="Libre Franklin"/>
                <a:cs typeface="Libre Franklin"/>
                <a:sym typeface="Libre Franklin"/>
              </a:rPr>
              <a:t>Recall that the NUTS sampler is using a “physical” simulation to, in essence, rollerblade around the space more effectively.</a:t>
            </a:r>
            <a:endParaRPr/>
          </a:p>
          <a:p>
            <a:pPr indent="0" lvl="0" marL="0" rtl="0" algn="l">
              <a:lnSpc>
                <a:spcPct val="90000"/>
              </a:lnSpc>
              <a:spcBef>
                <a:spcPts val="1000"/>
              </a:spcBef>
              <a:spcAft>
                <a:spcPts val="0"/>
              </a:spcAft>
              <a:buSzPts val="2800"/>
              <a:buNone/>
            </a:pPr>
            <a:r>
              <a:t/>
            </a:r>
            <a:endParaRPr>
              <a:latin typeface="Libre Franklin"/>
              <a:ea typeface="Libre Franklin"/>
              <a:cs typeface="Libre Franklin"/>
              <a:sym typeface="Libre Franklin"/>
            </a:endParaRPr>
          </a:p>
          <a:p>
            <a:pPr indent="0" lvl="0" marL="0" rtl="0" algn="l">
              <a:lnSpc>
                <a:spcPct val="90000"/>
              </a:lnSpc>
              <a:spcBef>
                <a:spcPts val="1000"/>
              </a:spcBef>
              <a:spcAft>
                <a:spcPts val="0"/>
              </a:spcAft>
              <a:buSzPts val="2800"/>
              <a:buNone/>
            </a:pPr>
            <a:r>
              <a:rPr lang="en-US">
                <a:latin typeface="Libre Franklin"/>
                <a:ea typeface="Libre Franklin"/>
                <a:cs typeface="Libre Franklin"/>
                <a:sym typeface="Libre Franklin"/>
              </a:rPr>
              <a:t>Divergence – When the sampler jumps too far from the target set.</a:t>
            </a:r>
            <a:endParaRPr/>
          </a:p>
          <a:p>
            <a:pPr indent="-457200" lvl="1" marL="914400" rtl="0" algn="l">
              <a:lnSpc>
                <a:spcPct val="90000"/>
              </a:lnSpc>
              <a:spcBef>
                <a:spcPts val="500"/>
              </a:spcBef>
              <a:spcAft>
                <a:spcPts val="0"/>
              </a:spcAft>
              <a:buSzPts val="2400"/>
              <a:buChar char="•"/>
            </a:pPr>
            <a:r>
              <a:rPr lang="en-US">
                <a:latin typeface="Libre Franklin"/>
                <a:ea typeface="Libre Franklin"/>
                <a:cs typeface="Libre Franklin"/>
                <a:sym typeface="Libre Franklin"/>
              </a:rPr>
              <a:t>Indicates that the space has some pathological curvature.</a:t>
            </a:r>
            <a:endParaRPr/>
          </a:p>
          <a:p>
            <a:pPr indent="-457200" lvl="1" marL="914400" rtl="0" algn="l">
              <a:lnSpc>
                <a:spcPct val="90000"/>
              </a:lnSpc>
              <a:spcBef>
                <a:spcPts val="500"/>
              </a:spcBef>
              <a:spcAft>
                <a:spcPts val="0"/>
              </a:spcAft>
              <a:buSzPts val="2400"/>
              <a:buChar char="•"/>
            </a:pPr>
            <a:r>
              <a:rPr lang="en-US">
                <a:latin typeface="Libre Franklin"/>
                <a:ea typeface="Libre Franklin"/>
                <a:cs typeface="Libre Franklin"/>
                <a:sym typeface="Libre Franklin"/>
              </a:rPr>
              <a:t>Possibly fixed by model reparameterization.</a:t>
            </a:r>
            <a:endParaRPr/>
          </a:p>
          <a:p>
            <a:pPr indent="0" lvl="0" marL="0" rtl="0" algn="l">
              <a:lnSpc>
                <a:spcPct val="90000"/>
              </a:lnSpc>
              <a:spcBef>
                <a:spcPts val="1000"/>
              </a:spcBef>
              <a:spcAft>
                <a:spcPts val="0"/>
              </a:spcAft>
              <a:buSzPts val="2800"/>
              <a:buNone/>
            </a:pPr>
            <a:r>
              <a:t/>
            </a:r>
            <a:endParaRPr>
              <a:latin typeface="Libre Franklin"/>
              <a:ea typeface="Libre Franklin"/>
              <a:cs typeface="Libre Franklin"/>
              <a:sym typeface="Libre Franklin"/>
            </a:endParaRPr>
          </a:p>
          <a:p>
            <a:pPr indent="0" lvl="0" marL="0" rtl="0" algn="l">
              <a:lnSpc>
                <a:spcPct val="90000"/>
              </a:lnSpc>
              <a:spcBef>
                <a:spcPts val="1000"/>
              </a:spcBef>
              <a:spcAft>
                <a:spcPts val="0"/>
              </a:spcAft>
              <a:buSzPts val="2800"/>
              <a:buNone/>
            </a:pPr>
            <a:r>
              <a:t/>
            </a:r>
            <a:endParaRPr>
              <a:latin typeface="Libre Franklin"/>
              <a:ea typeface="Libre Franklin"/>
              <a:cs typeface="Libre Franklin"/>
              <a:sym typeface="Libre Franklin"/>
            </a:endParaRPr>
          </a:p>
        </p:txBody>
      </p:sp>
      <p:sp>
        <p:nvSpPr>
          <p:cNvPr id="343" name="Google Shape;343;p15"/>
          <p:cNvSpPr/>
          <p:nvPr/>
        </p:nvSpPr>
        <p:spPr>
          <a:xfrm>
            <a:off x="6855012" y="1850558"/>
            <a:ext cx="5038164" cy="701395"/>
          </a:xfrm>
          <a:custGeom>
            <a:rect b="b" l="l" r="r" t="t"/>
            <a:pathLst>
              <a:path extrusionOk="0" h="701395" w="5038164">
                <a:moveTo>
                  <a:pt x="0" y="701395"/>
                </a:moveTo>
                <a:cubicBezTo>
                  <a:pt x="114051" y="471799"/>
                  <a:pt x="228102" y="242203"/>
                  <a:pt x="406400" y="151560"/>
                </a:cubicBezTo>
                <a:cubicBezTo>
                  <a:pt x="584698" y="60917"/>
                  <a:pt x="837702" y="182438"/>
                  <a:pt x="1069788" y="157536"/>
                </a:cubicBezTo>
                <a:cubicBezTo>
                  <a:pt x="1301874" y="132634"/>
                  <a:pt x="1505074" y="-19766"/>
                  <a:pt x="1798917" y="2148"/>
                </a:cubicBezTo>
                <a:cubicBezTo>
                  <a:pt x="2092760" y="24062"/>
                  <a:pt x="2505137" y="284038"/>
                  <a:pt x="2832847" y="289018"/>
                </a:cubicBezTo>
                <a:cubicBezTo>
                  <a:pt x="3160557" y="293998"/>
                  <a:pt x="3446431" y="33026"/>
                  <a:pt x="3765176" y="32030"/>
                </a:cubicBezTo>
                <a:cubicBezTo>
                  <a:pt x="4083921" y="31034"/>
                  <a:pt x="4533152" y="206344"/>
                  <a:pt x="4745317" y="283042"/>
                </a:cubicBezTo>
                <a:cubicBezTo>
                  <a:pt x="4957482" y="359740"/>
                  <a:pt x="4973419" y="455363"/>
                  <a:pt x="5038164" y="492218"/>
                </a:cubicBezTo>
              </a:path>
            </a:pathLst>
          </a:cu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44" name="Google Shape;344;p15"/>
          <p:cNvSpPr/>
          <p:nvPr/>
        </p:nvSpPr>
        <p:spPr>
          <a:xfrm>
            <a:off x="6902824" y="3472297"/>
            <a:ext cx="5205505" cy="2027806"/>
          </a:xfrm>
          <a:custGeom>
            <a:rect b="b" l="l" r="r" t="t"/>
            <a:pathLst>
              <a:path extrusionOk="0" h="2027806" w="5205505">
                <a:moveTo>
                  <a:pt x="0" y="185303"/>
                </a:moveTo>
                <a:cubicBezTo>
                  <a:pt x="102596" y="1055378"/>
                  <a:pt x="205192" y="1925453"/>
                  <a:pt x="490070" y="1894574"/>
                </a:cubicBezTo>
                <a:cubicBezTo>
                  <a:pt x="774948" y="1863696"/>
                  <a:pt x="1467223" y="-8933"/>
                  <a:pt x="1709270" y="32"/>
                </a:cubicBezTo>
                <a:cubicBezTo>
                  <a:pt x="1951317" y="8997"/>
                  <a:pt x="1716242" y="1670456"/>
                  <a:pt x="1942352" y="1948362"/>
                </a:cubicBezTo>
                <a:cubicBezTo>
                  <a:pt x="2168462" y="2226268"/>
                  <a:pt x="2582831" y="1687390"/>
                  <a:pt x="3065929" y="1667468"/>
                </a:cubicBezTo>
                <a:cubicBezTo>
                  <a:pt x="3549027" y="1647546"/>
                  <a:pt x="4484345" y="1804926"/>
                  <a:pt x="4840941" y="1828832"/>
                </a:cubicBezTo>
                <a:cubicBezTo>
                  <a:pt x="5197537" y="1852738"/>
                  <a:pt x="5160682" y="1805923"/>
                  <a:pt x="5205505" y="1810903"/>
                </a:cubicBezTo>
              </a:path>
            </a:pathLst>
          </a:cu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45" name="Google Shape;345;p15"/>
          <p:cNvSpPr/>
          <p:nvPr/>
        </p:nvSpPr>
        <p:spPr>
          <a:xfrm>
            <a:off x="6795248" y="2336800"/>
            <a:ext cx="107576" cy="107576"/>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46" name="Google Shape;346;p15"/>
          <p:cNvSpPr/>
          <p:nvPr/>
        </p:nvSpPr>
        <p:spPr>
          <a:xfrm>
            <a:off x="7007412" y="1993153"/>
            <a:ext cx="107576" cy="107576"/>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47" name="Google Shape;347;p15"/>
          <p:cNvSpPr/>
          <p:nvPr/>
        </p:nvSpPr>
        <p:spPr>
          <a:xfrm>
            <a:off x="7419790" y="1850558"/>
            <a:ext cx="107576" cy="107576"/>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48" name="Google Shape;348;p15"/>
          <p:cNvSpPr/>
          <p:nvPr/>
        </p:nvSpPr>
        <p:spPr>
          <a:xfrm>
            <a:off x="8092144" y="1850558"/>
            <a:ext cx="107576" cy="107576"/>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49" name="Google Shape;349;p15"/>
          <p:cNvSpPr/>
          <p:nvPr/>
        </p:nvSpPr>
        <p:spPr>
          <a:xfrm>
            <a:off x="8631968" y="1780786"/>
            <a:ext cx="107576" cy="107576"/>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50" name="Google Shape;350;p15"/>
          <p:cNvSpPr/>
          <p:nvPr/>
        </p:nvSpPr>
        <p:spPr>
          <a:xfrm>
            <a:off x="9212730" y="1919287"/>
            <a:ext cx="107576" cy="107576"/>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51" name="Google Shape;351;p15"/>
          <p:cNvSpPr/>
          <p:nvPr/>
        </p:nvSpPr>
        <p:spPr>
          <a:xfrm>
            <a:off x="10025530" y="1919287"/>
            <a:ext cx="107576" cy="107576"/>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52" name="Google Shape;352;p15"/>
          <p:cNvSpPr/>
          <p:nvPr/>
        </p:nvSpPr>
        <p:spPr>
          <a:xfrm>
            <a:off x="10941874" y="1834574"/>
            <a:ext cx="107576" cy="107576"/>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53" name="Google Shape;353;p15"/>
          <p:cNvSpPr/>
          <p:nvPr/>
        </p:nvSpPr>
        <p:spPr>
          <a:xfrm>
            <a:off x="6923742" y="3732104"/>
            <a:ext cx="107576" cy="107576"/>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54" name="Google Shape;354;p15"/>
          <p:cNvSpPr/>
          <p:nvPr/>
        </p:nvSpPr>
        <p:spPr>
          <a:xfrm>
            <a:off x="7312214" y="5238174"/>
            <a:ext cx="107576" cy="107576"/>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55" name="Google Shape;355;p15"/>
          <p:cNvSpPr/>
          <p:nvPr/>
        </p:nvSpPr>
        <p:spPr>
          <a:xfrm>
            <a:off x="8276368" y="3624528"/>
            <a:ext cx="107576" cy="107576"/>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56" name="Google Shape;356;p15"/>
          <p:cNvSpPr/>
          <p:nvPr/>
        </p:nvSpPr>
        <p:spPr>
          <a:xfrm>
            <a:off x="8969639" y="2904549"/>
            <a:ext cx="107576" cy="107576"/>
          </a:xfrm>
          <a:prstGeom prst="ellipse">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pic>
        <p:nvPicPr>
          <p:cNvPr id="361" name="Google Shape;361;p16"/>
          <p:cNvPicPr preferRelativeResize="0"/>
          <p:nvPr/>
        </p:nvPicPr>
        <p:blipFill rotWithShape="1">
          <a:blip r:embed="rId3">
            <a:alphaModFix/>
          </a:blip>
          <a:srcRect b="0" l="0" r="0" t="0"/>
          <a:stretch/>
        </p:blipFill>
        <p:spPr>
          <a:xfrm>
            <a:off x="8634957" y="6131859"/>
            <a:ext cx="3557043" cy="734035"/>
          </a:xfrm>
          <a:prstGeom prst="rect">
            <a:avLst/>
          </a:prstGeom>
          <a:noFill/>
          <a:ln>
            <a:noFill/>
          </a:ln>
        </p:spPr>
      </p:pic>
      <p:sp>
        <p:nvSpPr>
          <p:cNvPr id="362" name="Google Shape;362;p16"/>
          <p:cNvSpPr txBox="1"/>
          <p:nvPr/>
        </p:nvSpPr>
        <p:spPr>
          <a:xfrm>
            <a:off x="-1" y="6131859"/>
            <a:ext cx="8634957" cy="726141"/>
          </a:xfrm>
          <a:prstGeom prst="rect">
            <a:avLst/>
          </a:prstGeom>
          <a:solidFill>
            <a:srgbClr val="0B112B"/>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16"/>
          <p:cNvSpPr/>
          <p:nvPr/>
        </p:nvSpPr>
        <p:spPr>
          <a:xfrm>
            <a:off x="0" y="-7894"/>
            <a:ext cx="12192000" cy="998009"/>
          </a:xfrm>
          <a:prstGeom prst="rect">
            <a:avLst/>
          </a:prstGeom>
          <a:solidFill>
            <a:srgbClr val="0B112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364" name="Google Shape;364;p16"/>
          <p:cNvSpPr txBox="1"/>
          <p:nvPr/>
        </p:nvSpPr>
        <p:spPr>
          <a:xfrm>
            <a:off x="139781" y="29445"/>
            <a:ext cx="10326866"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0" i="0" lang="en-US" sz="4800" u="none" cap="none" strike="noStrike">
                <a:solidFill>
                  <a:srgbClr val="ED7D31"/>
                </a:solidFill>
                <a:latin typeface="Franklin Gothic"/>
                <a:ea typeface="Franklin Gothic"/>
                <a:cs typeface="Franklin Gothic"/>
                <a:sym typeface="Franklin Gothic"/>
              </a:rPr>
              <a:t>NUTS Diagnostics– An Informal Guide</a:t>
            </a:r>
            <a:endParaRPr/>
          </a:p>
        </p:txBody>
      </p:sp>
      <p:sp>
        <p:nvSpPr>
          <p:cNvPr id="365" name="Google Shape;365;p16"/>
          <p:cNvSpPr txBox="1"/>
          <p:nvPr>
            <p:ph idx="1" type="body"/>
          </p:nvPr>
        </p:nvSpPr>
        <p:spPr>
          <a:xfrm>
            <a:off x="145757" y="1063600"/>
            <a:ext cx="5950243" cy="4994773"/>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1000"/>
              </a:spcBef>
              <a:spcAft>
                <a:spcPts val="0"/>
              </a:spcAft>
              <a:buSzPts val="2800"/>
              <a:buNone/>
            </a:pPr>
            <a:r>
              <a:rPr lang="en-US">
                <a:latin typeface="Libre Franklin"/>
                <a:ea typeface="Libre Franklin"/>
                <a:cs typeface="Libre Franklin"/>
                <a:sym typeface="Libre Franklin"/>
              </a:rPr>
              <a:t>Divergences indication where in the parameter space there might be problems. </a:t>
            </a:r>
            <a:endParaRPr/>
          </a:p>
          <a:p>
            <a:pPr indent="-457200" lvl="1" marL="914400" rtl="0" algn="l">
              <a:lnSpc>
                <a:spcPct val="90000"/>
              </a:lnSpc>
              <a:spcBef>
                <a:spcPts val="500"/>
              </a:spcBef>
              <a:spcAft>
                <a:spcPts val="0"/>
              </a:spcAft>
              <a:buSzPts val="2400"/>
              <a:buChar char="•"/>
            </a:pPr>
            <a:r>
              <a:rPr lang="en-US">
                <a:latin typeface="Libre Franklin"/>
                <a:ea typeface="Libre Franklin"/>
                <a:cs typeface="Libre Franklin"/>
                <a:sym typeface="Libre Franklin"/>
              </a:rPr>
              <a:t>Clustered divergences are indicators!</a:t>
            </a:r>
            <a:endParaRPr/>
          </a:p>
          <a:p>
            <a:pPr indent="0" lvl="0" marL="0" rtl="0" algn="l">
              <a:lnSpc>
                <a:spcPct val="90000"/>
              </a:lnSpc>
              <a:spcBef>
                <a:spcPts val="1000"/>
              </a:spcBef>
              <a:spcAft>
                <a:spcPts val="0"/>
              </a:spcAft>
              <a:buSzPts val="2800"/>
              <a:buNone/>
            </a:pPr>
            <a:r>
              <a:rPr lang="en-US">
                <a:latin typeface="Libre Franklin"/>
                <a:ea typeface="Libre Franklin"/>
                <a:cs typeface="Libre Franklin"/>
                <a:sym typeface="Libre Franklin"/>
              </a:rPr>
              <a:t>But divergences can happen because the step size is too large.</a:t>
            </a:r>
            <a:endParaRPr/>
          </a:p>
          <a:p>
            <a:pPr indent="-457200" lvl="1" marL="914400" rtl="0" algn="l">
              <a:lnSpc>
                <a:spcPct val="90000"/>
              </a:lnSpc>
              <a:spcBef>
                <a:spcPts val="500"/>
              </a:spcBef>
              <a:spcAft>
                <a:spcPts val="0"/>
              </a:spcAft>
              <a:buSzPts val="2400"/>
              <a:buChar char="•"/>
            </a:pPr>
            <a:r>
              <a:rPr lang="en-US">
                <a:latin typeface="Libre Franklin"/>
                <a:ea typeface="Libre Franklin"/>
                <a:cs typeface="Libre Franklin"/>
                <a:sym typeface="Libre Franklin"/>
              </a:rPr>
              <a:t>Then the divergences are more uniformly distributed.</a:t>
            </a:r>
            <a:endParaRPr/>
          </a:p>
          <a:p>
            <a:pPr indent="0" lvl="0" marL="0" rtl="0" algn="l">
              <a:lnSpc>
                <a:spcPct val="90000"/>
              </a:lnSpc>
              <a:spcBef>
                <a:spcPts val="1000"/>
              </a:spcBef>
              <a:spcAft>
                <a:spcPts val="0"/>
              </a:spcAft>
              <a:buSzPts val="2800"/>
              <a:buNone/>
            </a:pPr>
            <a:r>
              <a:t/>
            </a:r>
            <a:endParaRPr>
              <a:latin typeface="Libre Franklin"/>
              <a:ea typeface="Libre Franklin"/>
              <a:cs typeface="Libre Franklin"/>
              <a:sym typeface="Libre Franklin"/>
            </a:endParaRPr>
          </a:p>
          <a:p>
            <a:pPr indent="0" lvl="0" marL="0" rtl="0" algn="l">
              <a:lnSpc>
                <a:spcPct val="90000"/>
              </a:lnSpc>
              <a:spcBef>
                <a:spcPts val="1000"/>
              </a:spcBef>
              <a:spcAft>
                <a:spcPts val="0"/>
              </a:spcAft>
              <a:buSzPts val="2800"/>
              <a:buNone/>
            </a:pPr>
            <a:r>
              <a:rPr b="1" lang="en-US">
                <a:latin typeface="Libre Franklin"/>
                <a:ea typeface="Libre Franklin"/>
                <a:cs typeface="Libre Franklin"/>
                <a:sym typeface="Libre Franklin"/>
              </a:rPr>
              <a:t>Guideline:</a:t>
            </a:r>
            <a:r>
              <a:rPr lang="en-US">
                <a:latin typeface="Libre Franklin"/>
                <a:ea typeface="Libre Franklin"/>
                <a:cs typeface="Libre Franklin"/>
                <a:sym typeface="Libre Franklin"/>
              </a:rPr>
              <a:t> More divergences, more issues.</a:t>
            </a:r>
            <a:endParaRPr/>
          </a:p>
          <a:p>
            <a:pPr indent="0" lvl="0" marL="0" rtl="0" algn="l">
              <a:lnSpc>
                <a:spcPct val="90000"/>
              </a:lnSpc>
              <a:spcBef>
                <a:spcPts val="1000"/>
              </a:spcBef>
              <a:spcAft>
                <a:spcPts val="0"/>
              </a:spcAft>
              <a:buSzPts val="2800"/>
              <a:buNone/>
            </a:pPr>
            <a:r>
              <a:t/>
            </a:r>
            <a:endParaRPr>
              <a:latin typeface="Libre Franklin"/>
              <a:ea typeface="Libre Franklin"/>
              <a:cs typeface="Libre Franklin"/>
              <a:sym typeface="Libre Franklin"/>
            </a:endParaRPr>
          </a:p>
        </p:txBody>
      </p:sp>
      <p:pic>
        <p:nvPicPr>
          <p:cNvPr descr="Chart, scatter chart&#10;&#10;Description automatically generated" id="366" name="Google Shape;366;p16"/>
          <p:cNvPicPr preferRelativeResize="0"/>
          <p:nvPr/>
        </p:nvPicPr>
        <p:blipFill rotWithShape="1">
          <a:blip r:embed="rId4">
            <a:alphaModFix/>
          </a:blip>
          <a:srcRect b="0" l="0" r="0" t="0"/>
          <a:stretch/>
        </p:blipFill>
        <p:spPr>
          <a:xfrm>
            <a:off x="7066105" y="1049792"/>
            <a:ext cx="4310742" cy="2379208"/>
          </a:xfrm>
          <a:prstGeom prst="rect">
            <a:avLst/>
          </a:prstGeom>
          <a:noFill/>
          <a:ln>
            <a:noFill/>
          </a:ln>
        </p:spPr>
      </p:pic>
      <p:pic>
        <p:nvPicPr>
          <p:cNvPr descr="Chart, scatter chart&#10;&#10;Description automatically generated" id="367" name="Google Shape;367;p16"/>
          <p:cNvPicPr preferRelativeResize="0"/>
          <p:nvPr/>
        </p:nvPicPr>
        <p:blipFill rotWithShape="1">
          <a:blip r:embed="rId5">
            <a:alphaModFix/>
          </a:blip>
          <a:srcRect b="0" l="0" r="0" t="0"/>
          <a:stretch/>
        </p:blipFill>
        <p:spPr>
          <a:xfrm>
            <a:off x="7066105" y="3502485"/>
            <a:ext cx="4518487" cy="2499701"/>
          </a:xfrm>
          <a:prstGeom prst="rect">
            <a:avLst/>
          </a:prstGeom>
          <a:noFill/>
          <a:ln>
            <a:noFill/>
          </a:ln>
        </p:spPr>
      </p:pic>
      <p:sp>
        <p:nvSpPr>
          <p:cNvPr id="368" name="Google Shape;368;p16"/>
          <p:cNvSpPr txBox="1"/>
          <p:nvPr/>
        </p:nvSpPr>
        <p:spPr>
          <a:xfrm>
            <a:off x="183777" y="6233319"/>
            <a:ext cx="7071658"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en-US">
                <a:solidFill>
                  <a:schemeClr val="lt1"/>
                </a:solidFill>
              </a:rPr>
              <a:t>https://docs.pymc.io/en/v3/pymc-examples/examples/diagnostics_and_criticism/Diagnosing_biased_Inference_with_Divergences.html</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pic>
        <p:nvPicPr>
          <p:cNvPr id="373" name="Google Shape;373;p17"/>
          <p:cNvPicPr preferRelativeResize="0"/>
          <p:nvPr/>
        </p:nvPicPr>
        <p:blipFill rotWithShape="1">
          <a:blip r:embed="rId3">
            <a:alphaModFix/>
          </a:blip>
          <a:srcRect b="0" l="0" r="0" t="0"/>
          <a:stretch/>
        </p:blipFill>
        <p:spPr>
          <a:xfrm>
            <a:off x="8634957" y="6131859"/>
            <a:ext cx="3557043" cy="734035"/>
          </a:xfrm>
          <a:prstGeom prst="rect">
            <a:avLst/>
          </a:prstGeom>
          <a:noFill/>
          <a:ln>
            <a:noFill/>
          </a:ln>
        </p:spPr>
      </p:pic>
      <p:sp>
        <p:nvSpPr>
          <p:cNvPr id="374" name="Google Shape;374;p17"/>
          <p:cNvSpPr txBox="1"/>
          <p:nvPr/>
        </p:nvSpPr>
        <p:spPr>
          <a:xfrm>
            <a:off x="-1" y="6131859"/>
            <a:ext cx="8634957" cy="726141"/>
          </a:xfrm>
          <a:prstGeom prst="rect">
            <a:avLst/>
          </a:prstGeom>
          <a:solidFill>
            <a:srgbClr val="0B112B"/>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17"/>
          <p:cNvSpPr/>
          <p:nvPr/>
        </p:nvSpPr>
        <p:spPr>
          <a:xfrm>
            <a:off x="0" y="-7894"/>
            <a:ext cx="12192000" cy="998009"/>
          </a:xfrm>
          <a:prstGeom prst="rect">
            <a:avLst/>
          </a:prstGeom>
          <a:solidFill>
            <a:srgbClr val="0B112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376" name="Google Shape;376;p17"/>
          <p:cNvSpPr txBox="1"/>
          <p:nvPr/>
        </p:nvSpPr>
        <p:spPr>
          <a:xfrm>
            <a:off x="139781" y="29445"/>
            <a:ext cx="8656537"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0" i="0" lang="en-US" sz="4800" u="none" cap="none" strike="noStrike">
                <a:solidFill>
                  <a:srgbClr val="ED7D31"/>
                </a:solidFill>
                <a:latin typeface="Franklin Gothic"/>
                <a:ea typeface="Franklin Gothic"/>
                <a:cs typeface="Franklin Gothic"/>
                <a:sym typeface="Franklin Gothic"/>
              </a:rPr>
              <a:t>Sampling Categorical Variables</a:t>
            </a:r>
            <a:endParaRPr/>
          </a:p>
        </p:txBody>
      </p:sp>
      <p:sp>
        <p:nvSpPr>
          <p:cNvPr id="377" name="Google Shape;377;p17"/>
          <p:cNvSpPr txBox="1"/>
          <p:nvPr>
            <p:ph idx="1" type="body"/>
          </p:nvPr>
        </p:nvSpPr>
        <p:spPr>
          <a:xfrm>
            <a:off x="199545" y="1053430"/>
            <a:ext cx="5950243" cy="4994773"/>
          </a:xfrm>
          <a:prstGeom prst="rect">
            <a:avLst/>
          </a:prstGeom>
          <a:blipFill rotWithShape="1">
            <a:blip r:embed="rId4">
              <a:alphaModFix/>
            </a:blip>
            <a:stretch>
              <a:fillRect b="0" l="-2150" r="0" t="0"/>
            </a:stretch>
          </a:blipFill>
          <a:ln>
            <a:noFill/>
          </a:ln>
        </p:spPr>
        <p:txBody>
          <a:bodyPr anchorCtr="0" anchor="t" bIns="91425" lIns="91425" spcFirstLastPara="1" rIns="91425" wrap="square" tIns="91425">
            <a:noAutofit/>
          </a:bodyPr>
          <a:lstStyle/>
          <a:p>
            <a:pPr indent="-406400" lvl="0" marL="457200" marR="0" rtl="0" algn="l">
              <a:lnSpc>
                <a:spcPct val="90000"/>
              </a:lnSpc>
              <a:spcBef>
                <a:spcPts val="1000"/>
              </a:spcBef>
              <a:spcAft>
                <a:spcPts val="0"/>
              </a:spcAft>
              <a:buClr>
                <a:schemeClr val="dk1"/>
              </a:buClr>
              <a:buSzPts val="2800"/>
              <a:buFont typeface="Arial"/>
              <a:buChar char="•"/>
            </a:pPr>
            <a:r>
              <a:rPr lang="en-US"/>
              <a:t> </a:t>
            </a:r>
            <a:endParaRPr/>
          </a:p>
        </p:txBody>
      </p:sp>
      <p:sp>
        <p:nvSpPr>
          <p:cNvPr id="378" name="Google Shape;378;p17"/>
          <p:cNvSpPr/>
          <p:nvPr/>
        </p:nvSpPr>
        <p:spPr>
          <a:xfrm>
            <a:off x="3667492" y="3673644"/>
            <a:ext cx="1466488" cy="734035"/>
          </a:xfrm>
          <a:prstGeom prst="ellipse">
            <a:avLst/>
          </a:prstGeom>
          <a:blipFill rotWithShape="1">
            <a:blip r:embed="rId5">
              <a:alphaModFix/>
            </a:blip>
            <a:stretch>
              <a:fillRect b="0" l="0" r="0" t="0"/>
            </a:stretch>
          </a:blip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sp>
        <p:nvSpPr>
          <p:cNvPr id="379" name="Google Shape;379;p17"/>
          <p:cNvSpPr/>
          <p:nvPr/>
        </p:nvSpPr>
        <p:spPr>
          <a:xfrm>
            <a:off x="4636495" y="2516196"/>
            <a:ext cx="576596" cy="576596"/>
          </a:xfrm>
          <a:prstGeom prst="triangle">
            <a:avLst>
              <a:gd fmla="val 50000" name="adj"/>
            </a:avLst>
          </a:prstGeom>
          <a:blipFill rotWithShape="1">
            <a:blip r:embed="rId6">
              <a:alphaModFix/>
            </a:blip>
            <a:stretch>
              <a:fillRect b="0" l="0" r="0" t="0"/>
            </a:stretch>
          </a:blip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cxnSp>
        <p:nvCxnSpPr>
          <p:cNvPr id="380" name="Google Shape;380;p17"/>
          <p:cNvCxnSpPr>
            <a:stCxn id="381" idx="5"/>
            <a:endCxn id="378" idx="1"/>
          </p:cNvCxnSpPr>
          <p:nvPr/>
        </p:nvCxnSpPr>
        <p:spPr>
          <a:xfrm flipH="1">
            <a:off x="3882254" y="2982973"/>
            <a:ext cx="6900" cy="798300"/>
          </a:xfrm>
          <a:prstGeom prst="straightConnector1">
            <a:avLst/>
          </a:prstGeom>
          <a:noFill/>
          <a:ln cap="flat" cmpd="sng" w="19050">
            <a:solidFill>
              <a:schemeClr val="dk1"/>
            </a:solidFill>
            <a:prstDash val="solid"/>
            <a:round/>
            <a:headEnd len="sm" w="sm" type="none"/>
            <a:tailEnd len="med" w="med" type="triangle"/>
          </a:ln>
        </p:spPr>
      </p:cxnSp>
      <p:cxnSp>
        <p:nvCxnSpPr>
          <p:cNvPr id="382" name="Google Shape;382;p17"/>
          <p:cNvCxnSpPr>
            <a:stCxn id="379" idx="3"/>
            <a:endCxn id="378" idx="7"/>
          </p:cNvCxnSpPr>
          <p:nvPr/>
        </p:nvCxnSpPr>
        <p:spPr>
          <a:xfrm flipH="1">
            <a:off x="4919093" y="3092792"/>
            <a:ext cx="5700" cy="688200"/>
          </a:xfrm>
          <a:prstGeom prst="straightConnector1">
            <a:avLst/>
          </a:prstGeom>
          <a:noFill/>
          <a:ln cap="flat" cmpd="sng" w="19050">
            <a:solidFill>
              <a:schemeClr val="dk1"/>
            </a:solidFill>
            <a:prstDash val="solid"/>
            <a:round/>
            <a:headEnd len="sm" w="sm" type="none"/>
            <a:tailEnd len="med" w="med" type="triangle"/>
          </a:ln>
        </p:spPr>
      </p:cxnSp>
      <p:sp>
        <p:nvSpPr>
          <p:cNvPr id="383" name="Google Shape;383;p17"/>
          <p:cNvSpPr/>
          <p:nvPr/>
        </p:nvSpPr>
        <p:spPr>
          <a:xfrm>
            <a:off x="1941033" y="3408484"/>
            <a:ext cx="3418631" cy="1354286"/>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84" name="Google Shape;384;p17"/>
          <p:cNvSpPr txBox="1"/>
          <p:nvPr/>
        </p:nvSpPr>
        <p:spPr>
          <a:xfrm>
            <a:off x="4441263" y="4454993"/>
            <a:ext cx="967060" cy="307777"/>
          </a:xfrm>
          <a:prstGeom prst="rect">
            <a:avLst/>
          </a:pr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sp>
        <p:nvSpPr>
          <p:cNvPr id="385" name="Google Shape;385;p17"/>
          <p:cNvSpPr/>
          <p:nvPr/>
        </p:nvSpPr>
        <p:spPr>
          <a:xfrm>
            <a:off x="2277032" y="2193867"/>
            <a:ext cx="2102331" cy="1145293"/>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386" name="Google Shape;386;p17"/>
          <p:cNvSpPr txBox="1"/>
          <p:nvPr/>
        </p:nvSpPr>
        <p:spPr>
          <a:xfrm>
            <a:off x="2266552" y="2967133"/>
            <a:ext cx="474092" cy="307777"/>
          </a:xfrm>
          <a:prstGeom prst="rect">
            <a:avLst/>
          </a:prstGeom>
          <a:blipFill rotWithShape="1">
            <a:blip r:embed="rId8">
              <a:alphaModFix/>
            </a:blip>
            <a:stretch>
              <a:fillRect b="-9998"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sp>
        <p:nvSpPr>
          <p:cNvPr id="387" name="Google Shape;387;p17"/>
          <p:cNvSpPr txBox="1"/>
          <p:nvPr/>
        </p:nvSpPr>
        <p:spPr>
          <a:xfrm>
            <a:off x="3432080" y="4207399"/>
            <a:ext cx="489686" cy="307777"/>
          </a:xfrm>
          <a:prstGeom prst="rect">
            <a:avLst/>
          </a:prstGeom>
          <a:blipFill rotWithShape="1">
            <a:blip r:embed="rId9">
              <a:alphaModFix/>
            </a:blip>
            <a:stretch>
              <a:fillRect b="-9803"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sp>
        <p:nvSpPr>
          <p:cNvPr id="388" name="Google Shape;388;p17"/>
          <p:cNvSpPr/>
          <p:nvPr/>
        </p:nvSpPr>
        <p:spPr>
          <a:xfrm>
            <a:off x="2090285" y="3719612"/>
            <a:ext cx="1020681" cy="607466"/>
          </a:xfrm>
          <a:prstGeom prst="ellipse">
            <a:avLst/>
          </a:prstGeom>
          <a:blipFill rotWithShape="1">
            <a:blip r:embed="rId10">
              <a:alphaModFix/>
            </a:blip>
            <a:stretch>
              <a:fillRect b="0" l="0" r="0" t="0"/>
            </a:stretch>
          </a:blip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sp>
        <p:nvSpPr>
          <p:cNvPr id="389" name="Google Shape;389;p17"/>
          <p:cNvSpPr txBox="1"/>
          <p:nvPr/>
        </p:nvSpPr>
        <p:spPr>
          <a:xfrm>
            <a:off x="1994182" y="4201244"/>
            <a:ext cx="339680" cy="307777"/>
          </a:xfrm>
          <a:prstGeom prst="rect">
            <a:avLst/>
          </a:prstGeom>
          <a:blipFill rotWithShape="1">
            <a:blip r:embed="rId11">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cxnSp>
        <p:nvCxnSpPr>
          <p:cNvPr id="390" name="Google Shape;390;p17"/>
          <p:cNvCxnSpPr/>
          <p:nvPr/>
        </p:nvCxnSpPr>
        <p:spPr>
          <a:xfrm>
            <a:off x="3110966" y="4008080"/>
            <a:ext cx="474987" cy="0"/>
          </a:xfrm>
          <a:prstGeom prst="straightConnector1">
            <a:avLst/>
          </a:prstGeom>
          <a:noFill/>
          <a:ln cap="flat" cmpd="sng" w="28575">
            <a:solidFill>
              <a:schemeClr val="dk1"/>
            </a:solidFill>
            <a:prstDash val="solid"/>
            <a:round/>
            <a:headEnd len="sm" w="sm" type="none"/>
            <a:tailEnd len="sm" w="sm" type="none"/>
          </a:ln>
        </p:spPr>
      </p:cxnSp>
      <p:cxnSp>
        <p:nvCxnSpPr>
          <p:cNvPr id="391" name="Google Shape;391;p17"/>
          <p:cNvCxnSpPr/>
          <p:nvPr/>
        </p:nvCxnSpPr>
        <p:spPr>
          <a:xfrm>
            <a:off x="3585118" y="3860298"/>
            <a:ext cx="0" cy="287483"/>
          </a:xfrm>
          <a:prstGeom prst="straightConnector1">
            <a:avLst/>
          </a:prstGeom>
          <a:noFill/>
          <a:ln cap="flat" cmpd="sng" w="28575">
            <a:solidFill>
              <a:schemeClr val="dk1"/>
            </a:solidFill>
            <a:prstDash val="solid"/>
            <a:round/>
            <a:headEnd len="sm" w="sm" type="none"/>
            <a:tailEnd len="sm" w="sm" type="none"/>
          </a:ln>
        </p:spPr>
      </p:cxnSp>
      <p:sp>
        <p:nvSpPr>
          <p:cNvPr id="392" name="Google Shape;392;p17"/>
          <p:cNvSpPr txBox="1"/>
          <p:nvPr/>
        </p:nvSpPr>
        <p:spPr>
          <a:xfrm>
            <a:off x="5090846" y="3047086"/>
            <a:ext cx="339680" cy="307777"/>
          </a:xfrm>
          <a:prstGeom prst="rect">
            <a:avLst/>
          </a:prstGeom>
          <a:blipFill rotWithShape="1">
            <a:blip r:embed="rId12">
              <a:alphaModFix/>
            </a:blip>
            <a:stretch>
              <a:fillRect b="-9998" l="0" r="-82142"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sp>
        <p:nvSpPr>
          <p:cNvPr id="393" name="Google Shape;393;p17"/>
          <p:cNvSpPr txBox="1"/>
          <p:nvPr/>
        </p:nvSpPr>
        <p:spPr>
          <a:xfrm>
            <a:off x="3389823" y="2184009"/>
            <a:ext cx="1034706" cy="307777"/>
          </a:xfrm>
          <a:prstGeom prst="rect">
            <a:avLst/>
          </a:prstGeom>
          <a:blipFill rotWithShape="1">
            <a:blip r:embed="rId1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sp>
        <p:nvSpPr>
          <p:cNvPr id="381" name="Google Shape;381;p17"/>
          <p:cNvSpPr/>
          <p:nvPr/>
        </p:nvSpPr>
        <p:spPr>
          <a:xfrm>
            <a:off x="2447970" y="2464468"/>
            <a:ext cx="1688452" cy="607466"/>
          </a:xfrm>
          <a:prstGeom prst="ellipse">
            <a:avLst/>
          </a:prstGeom>
          <a:blipFill rotWithShape="1">
            <a:blip r:embed="rId14">
              <a:alphaModFix/>
            </a:blip>
            <a:stretch>
              <a:fillRect b="0" l="0" r="0" t="0"/>
            </a:stretch>
          </a:blip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sp>
        <p:nvSpPr>
          <p:cNvPr id="394" name="Google Shape;394;p17"/>
          <p:cNvSpPr txBox="1"/>
          <p:nvPr/>
        </p:nvSpPr>
        <p:spPr>
          <a:xfrm>
            <a:off x="6149788" y="1095258"/>
            <a:ext cx="5950243" cy="4994773"/>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1000"/>
              </a:spcBef>
              <a:spcAft>
                <a:spcPts val="0"/>
              </a:spcAft>
              <a:buClr>
                <a:schemeClr val="dk1"/>
              </a:buClr>
              <a:buSzPts val="2800"/>
              <a:buFont typeface="Arial"/>
              <a:buNone/>
            </a:pPr>
            <a:r>
              <a:rPr b="0" i="0" lang="en-US" sz="2800" u="none" cap="none" strike="noStrike">
                <a:solidFill>
                  <a:schemeClr val="dk1"/>
                </a:solidFill>
                <a:latin typeface="Libre Franklin"/>
                <a:ea typeface="Libre Franklin"/>
                <a:cs typeface="Libre Franklin"/>
                <a:sym typeface="Libre Franklin"/>
              </a:rPr>
              <a:t>Consider a mixture model of 2 groups</a:t>
            </a:r>
            <a:endParaRPr/>
          </a:p>
          <a:p>
            <a:pPr indent="-457200" lvl="1" marL="9144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Libre Franklin"/>
                <a:ea typeface="Libre Franklin"/>
                <a:cs typeface="Libre Franklin"/>
                <a:sym typeface="Libre Franklin"/>
              </a:rPr>
              <a:t>A and B, each having different means.</a:t>
            </a:r>
            <a:endParaRPr/>
          </a:p>
          <a:p>
            <a:pPr indent="-304800" lvl="1" marL="914400" marR="0" rtl="0" algn="l">
              <a:lnSpc>
                <a:spcPct val="90000"/>
              </a:lnSpc>
              <a:spcBef>
                <a:spcPts val="500"/>
              </a:spcBef>
              <a:spcAft>
                <a:spcPts val="0"/>
              </a:spcAft>
              <a:buClr>
                <a:schemeClr val="dk1"/>
              </a:buClr>
              <a:buSzPts val="2400"/>
              <a:buFont typeface="Arial"/>
              <a:buNone/>
            </a:pPr>
            <a:r>
              <a:t/>
            </a:r>
            <a:endParaRPr b="0" i="0" sz="2400" u="none" cap="none" strike="noStrike">
              <a:solidFill>
                <a:schemeClr val="dk1"/>
              </a:solidFill>
              <a:latin typeface="Libre Franklin"/>
              <a:ea typeface="Libre Franklin"/>
              <a:cs typeface="Libre Franklin"/>
              <a:sym typeface="Libre Franklin"/>
            </a:endParaRPr>
          </a:p>
          <a:p>
            <a:pPr indent="0" lvl="0" marL="0" marR="0" rtl="0" algn="l">
              <a:lnSpc>
                <a:spcPct val="90000"/>
              </a:lnSpc>
              <a:spcBef>
                <a:spcPts val="1000"/>
              </a:spcBef>
              <a:spcAft>
                <a:spcPts val="0"/>
              </a:spcAft>
              <a:buClr>
                <a:schemeClr val="dk1"/>
              </a:buClr>
              <a:buSzPts val="2800"/>
              <a:buFont typeface="Arial"/>
              <a:buNone/>
            </a:pPr>
            <a:r>
              <a:rPr b="0" i="0" lang="en-US" sz="2800" u="none" cap="none" strike="noStrike">
                <a:solidFill>
                  <a:schemeClr val="dk1"/>
                </a:solidFill>
                <a:latin typeface="Libre Franklin"/>
                <a:ea typeface="Libre Franklin"/>
                <a:cs typeface="Libre Franklin"/>
                <a:sym typeface="Libre Franklin"/>
              </a:rPr>
              <a:t>When you build your sampler, you create a variable </a:t>
            </a:r>
            <a:r>
              <a:rPr b="0" i="0" lang="en-US" sz="2800" u="none" cap="none" strike="noStrike">
                <a:solidFill>
                  <a:schemeClr val="dk1"/>
                </a:solidFill>
                <a:latin typeface="Consolas"/>
                <a:ea typeface="Consolas"/>
                <a:cs typeface="Consolas"/>
                <a:sym typeface="Consolas"/>
              </a:rPr>
              <a:t>z_i</a:t>
            </a:r>
            <a:r>
              <a:rPr b="0" i="0" lang="en-US" sz="2800" u="none" cap="none" strike="noStrike">
                <a:solidFill>
                  <a:schemeClr val="dk1"/>
                </a:solidFill>
                <a:latin typeface="Libre Franklin"/>
                <a:ea typeface="Libre Franklin"/>
                <a:cs typeface="Libre Franklin"/>
                <a:sym typeface="Libre Franklin"/>
              </a:rPr>
              <a:t>, which takes on values </a:t>
            </a:r>
            <a:r>
              <a:rPr b="0" i="1" lang="en-US" sz="2800" u="none" cap="none" strike="noStrike">
                <a:solidFill>
                  <a:schemeClr val="dk1"/>
                </a:solidFill>
                <a:latin typeface="Consolas"/>
                <a:ea typeface="Consolas"/>
                <a:cs typeface="Consolas"/>
                <a:sym typeface="Consolas"/>
              </a:rPr>
              <a:t>A</a:t>
            </a:r>
            <a:r>
              <a:rPr b="0" i="1" lang="en-US" sz="2800" u="none" cap="none" strike="noStrike">
                <a:solidFill>
                  <a:schemeClr val="dk1"/>
                </a:solidFill>
                <a:latin typeface="Libre Franklin"/>
                <a:ea typeface="Libre Franklin"/>
                <a:cs typeface="Libre Franklin"/>
                <a:sym typeface="Libre Franklin"/>
              </a:rPr>
              <a:t> </a:t>
            </a:r>
            <a:r>
              <a:rPr b="0" i="0" lang="en-US" sz="2800" u="none" cap="none" strike="noStrike">
                <a:solidFill>
                  <a:schemeClr val="dk1"/>
                </a:solidFill>
                <a:latin typeface="Libre Franklin"/>
                <a:ea typeface="Libre Franklin"/>
                <a:cs typeface="Libre Franklin"/>
                <a:sym typeface="Libre Franklin"/>
              </a:rPr>
              <a:t>and</a:t>
            </a:r>
            <a:r>
              <a:rPr b="0" i="1" lang="en-US" sz="2800" u="none" cap="none" strike="noStrike">
                <a:solidFill>
                  <a:schemeClr val="dk1"/>
                </a:solidFill>
                <a:latin typeface="Libre Franklin"/>
                <a:ea typeface="Libre Franklin"/>
                <a:cs typeface="Libre Franklin"/>
                <a:sym typeface="Libre Franklin"/>
              </a:rPr>
              <a:t> </a:t>
            </a:r>
            <a:r>
              <a:rPr b="0" i="1" lang="en-US" sz="2800" u="none" cap="none" strike="noStrike">
                <a:solidFill>
                  <a:schemeClr val="dk1"/>
                </a:solidFill>
                <a:latin typeface="Consolas"/>
                <a:ea typeface="Consolas"/>
                <a:cs typeface="Consolas"/>
                <a:sym typeface="Consolas"/>
              </a:rPr>
              <a:t>B.</a:t>
            </a:r>
            <a:endParaRPr/>
          </a:p>
          <a:p>
            <a:pPr indent="0" lvl="0" marL="0" marR="0" rtl="0" algn="l">
              <a:lnSpc>
                <a:spcPct val="90000"/>
              </a:lnSpc>
              <a:spcBef>
                <a:spcPts val="1000"/>
              </a:spcBef>
              <a:spcAft>
                <a:spcPts val="0"/>
              </a:spcAft>
              <a:buClr>
                <a:schemeClr val="dk1"/>
              </a:buClr>
              <a:buSzPts val="2800"/>
              <a:buFont typeface="Arial"/>
              <a:buNone/>
            </a:pPr>
            <a:r>
              <a:t/>
            </a:r>
            <a:endParaRPr b="0" i="1" sz="2800" u="none" cap="none" strike="noStrike">
              <a:solidFill>
                <a:schemeClr val="dk1"/>
              </a:solidFill>
              <a:latin typeface="Libre Franklin"/>
              <a:ea typeface="Libre Franklin"/>
              <a:cs typeface="Libre Franklin"/>
              <a:sym typeface="Libre Franklin"/>
            </a:endParaRPr>
          </a:p>
          <a:p>
            <a:pPr indent="0" lvl="0" marL="0" marR="0" rtl="0" algn="l">
              <a:lnSpc>
                <a:spcPct val="90000"/>
              </a:lnSpc>
              <a:spcBef>
                <a:spcPts val="1000"/>
              </a:spcBef>
              <a:spcAft>
                <a:spcPts val="0"/>
              </a:spcAft>
              <a:buClr>
                <a:schemeClr val="dk1"/>
              </a:buClr>
              <a:buSzPts val="2800"/>
              <a:buFont typeface="Arial"/>
              <a:buNone/>
            </a:pPr>
            <a:r>
              <a:rPr b="0" i="0" lang="en-US" sz="2800" u="none" cap="none" strike="noStrike">
                <a:solidFill>
                  <a:schemeClr val="dk1"/>
                </a:solidFill>
                <a:latin typeface="Libre Franklin"/>
                <a:ea typeface="Libre Franklin"/>
                <a:cs typeface="Libre Franklin"/>
                <a:sym typeface="Libre Franklin"/>
              </a:rPr>
              <a:t>Question: </a:t>
            </a:r>
            <a:r>
              <a:rPr lang="en-US" sz="2800">
                <a:solidFill>
                  <a:schemeClr val="dk1"/>
                </a:solidFill>
                <a:latin typeface="Libre Franklin"/>
                <a:ea typeface="Libre Franklin"/>
                <a:cs typeface="Libre Franklin"/>
                <a:sym typeface="Libre Franklin"/>
              </a:rPr>
              <a:t>are there multiple parameter sets that produce the same likelihood?</a:t>
            </a:r>
            <a:endParaRPr/>
          </a:p>
          <a:p>
            <a:pPr indent="0" lvl="0" marL="0" marR="0" rtl="0" algn="l">
              <a:lnSpc>
                <a:spcPct val="90000"/>
              </a:lnSpc>
              <a:spcBef>
                <a:spcPts val="1000"/>
              </a:spcBef>
              <a:spcAft>
                <a:spcPts val="0"/>
              </a:spcAft>
              <a:buClr>
                <a:schemeClr val="dk1"/>
              </a:buClr>
              <a:buSzPts val="2800"/>
              <a:buFont typeface="Arial"/>
              <a:buNone/>
            </a:pPr>
            <a:r>
              <a:t/>
            </a:r>
            <a:endParaRPr b="0" i="0" sz="2800" u="none" cap="none" strike="noStrike">
              <a:solidFill>
                <a:schemeClr val="dk1"/>
              </a:solidFill>
              <a:latin typeface="Libre Franklin"/>
              <a:ea typeface="Libre Franklin"/>
              <a:cs typeface="Libre Franklin"/>
              <a:sym typeface="Libre Frankli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pic>
        <p:nvPicPr>
          <p:cNvPr id="399" name="Google Shape;399;p18"/>
          <p:cNvPicPr preferRelativeResize="0"/>
          <p:nvPr/>
        </p:nvPicPr>
        <p:blipFill rotWithShape="1">
          <a:blip r:embed="rId3">
            <a:alphaModFix/>
          </a:blip>
          <a:srcRect b="0" l="0" r="0" t="0"/>
          <a:stretch/>
        </p:blipFill>
        <p:spPr>
          <a:xfrm>
            <a:off x="8634957" y="6131859"/>
            <a:ext cx="3557043" cy="734035"/>
          </a:xfrm>
          <a:prstGeom prst="rect">
            <a:avLst/>
          </a:prstGeom>
          <a:noFill/>
          <a:ln>
            <a:noFill/>
          </a:ln>
        </p:spPr>
      </p:pic>
      <p:sp>
        <p:nvSpPr>
          <p:cNvPr id="400" name="Google Shape;400;p18"/>
          <p:cNvSpPr txBox="1"/>
          <p:nvPr/>
        </p:nvSpPr>
        <p:spPr>
          <a:xfrm>
            <a:off x="-1" y="6131859"/>
            <a:ext cx="8634957" cy="726141"/>
          </a:xfrm>
          <a:prstGeom prst="rect">
            <a:avLst/>
          </a:prstGeom>
          <a:solidFill>
            <a:srgbClr val="0B112B"/>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p18"/>
          <p:cNvSpPr/>
          <p:nvPr/>
        </p:nvSpPr>
        <p:spPr>
          <a:xfrm>
            <a:off x="0" y="-7894"/>
            <a:ext cx="12192000" cy="998009"/>
          </a:xfrm>
          <a:prstGeom prst="rect">
            <a:avLst/>
          </a:prstGeom>
          <a:solidFill>
            <a:srgbClr val="0B112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402" name="Google Shape;402;p18"/>
          <p:cNvSpPr txBox="1"/>
          <p:nvPr/>
        </p:nvSpPr>
        <p:spPr>
          <a:xfrm>
            <a:off x="139781" y="29445"/>
            <a:ext cx="4482317"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0" i="0" lang="en-US" sz="4800" u="none" cap="none" strike="noStrike">
                <a:solidFill>
                  <a:srgbClr val="ED7D31"/>
                </a:solidFill>
                <a:latin typeface="Franklin Gothic"/>
                <a:ea typeface="Franklin Gothic"/>
                <a:cs typeface="Franklin Gothic"/>
                <a:sym typeface="Franklin Gothic"/>
              </a:rPr>
              <a:t>Label Switching</a:t>
            </a:r>
            <a:endParaRPr/>
          </a:p>
        </p:txBody>
      </p:sp>
      <p:sp>
        <p:nvSpPr>
          <p:cNvPr id="403" name="Google Shape;403;p18"/>
          <p:cNvSpPr txBox="1"/>
          <p:nvPr>
            <p:ph idx="1" type="body"/>
          </p:nvPr>
        </p:nvSpPr>
        <p:spPr>
          <a:xfrm>
            <a:off x="199545" y="1053430"/>
            <a:ext cx="11615937" cy="4994773"/>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1000"/>
              </a:spcBef>
              <a:spcAft>
                <a:spcPts val="0"/>
              </a:spcAft>
              <a:buSzPts val="2800"/>
              <a:buNone/>
            </a:pPr>
            <a:r>
              <a:rPr b="1" lang="en-US">
                <a:latin typeface="Libre Franklin"/>
                <a:ea typeface="Libre Franklin"/>
                <a:cs typeface="Libre Franklin"/>
                <a:sym typeface="Libre Franklin"/>
              </a:rPr>
              <a:t>Label switching –</a:t>
            </a:r>
            <a:r>
              <a:rPr lang="en-US">
                <a:latin typeface="Libre Franklin"/>
                <a:ea typeface="Libre Franklin"/>
                <a:cs typeface="Libre Franklin"/>
                <a:sym typeface="Libre Franklin"/>
              </a:rPr>
              <a:t> When the meaning of category (i.e. discrete classes) differs between </a:t>
            </a:r>
            <a:r>
              <a:rPr b="1" lang="en-US" u="sng">
                <a:latin typeface="Libre Franklin"/>
                <a:ea typeface="Libre Franklin"/>
                <a:cs typeface="Libre Franklin"/>
                <a:sym typeface="Libre Franklin"/>
              </a:rPr>
              <a:t>AND WITHIN</a:t>
            </a:r>
            <a:r>
              <a:rPr lang="en-US">
                <a:latin typeface="Libre Franklin"/>
                <a:ea typeface="Libre Franklin"/>
                <a:cs typeface="Libre Franklin"/>
                <a:sym typeface="Libre Franklin"/>
              </a:rPr>
              <a:t> sampling runs/chains.</a:t>
            </a:r>
            <a:endParaRPr/>
          </a:p>
          <a:p>
            <a:pPr indent="0" lvl="0" marL="0" rtl="0" algn="l">
              <a:lnSpc>
                <a:spcPct val="90000"/>
              </a:lnSpc>
              <a:spcBef>
                <a:spcPts val="1000"/>
              </a:spcBef>
              <a:spcAft>
                <a:spcPts val="0"/>
              </a:spcAft>
              <a:buSzPts val="2800"/>
              <a:buNone/>
            </a:pPr>
            <a:r>
              <a:t/>
            </a:r>
            <a:endParaRPr>
              <a:latin typeface="Libre Franklin"/>
              <a:ea typeface="Libre Franklin"/>
              <a:cs typeface="Libre Franklin"/>
              <a:sym typeface="Libre Franklin"/>
            </a:endParaRPr>
          </a:p>
          <a:p>
            <a:pPr indent="0" lvl="0" marL="0" rtl="0" algn="l">
              <a:lnSpc>
                <a:spcPct val="90000"/>
              </a:lnSpc>
              <a:spcBef>
                <a:spcPts val="1000"/>
              </a:spcBef>
              <a:spcAft>
                <a:spcPts val="0"/>
              </a:spcAft>
              <a:buSzPts val="2800"/>
              <a:buNone/>
            </a:pPr>
            <a:r>
              <a:rPr b="1" lang="en-US">
                <a:latin typeface="Libre Franklin"/>
                <a:ea typeface="Libre Franklin"/>
                <a:cs typeface="Libre Franklin"/>
                <a:sym typeface="Libre Franklin"/>
              </a:rPr>
              <a:t>Why? – </a:t>
            </a:r>
            <a:r>
              <a:rPr lang="en-US">
                <a:latin typeface="Libre Franklin"/>
                <a:ea typeface="Libre Franklin"/>
                <a:cs typeface="Libre Franklin"/>
                <a:sym typeface="Libre Franklin"/>
              </a:rPr>
              <a:t>Reordered parameter/weight pairs produce same likelihood</a:t>
            </a:r>
            <a:r>
              <a:rPr lang="en-US">
                <a:latin typeface="Libre Franklin"/>
                <a:ea typeface="Libre Franklin"/>
                <a:cs typeface="Libre Franklin"/>
                <a:sym typeface="Libre Franklin"/>
              </a:rPr>
              <a:t> </a:t>
            </a:r>
            <a:endParaRPr/>
          </a:p>
          <a:p>
            <a:pPr indent="-457200" lvl="1" marL="914400" rtl="0" algn="l">
              <a:lnSpc>
                <a:spcPct val="90000"/>
              </a:lnSpc>
              <a:spcBef>
                <a:spcPts val="500"/>
              </a:spcBef>
              <a:spcAft>
                <a:spcPts val="0"/>
              </a:spcAft>
              <a:buSzPts val="2400"/>
              <a:buChar char="•"/>
            </a:pPr>
            <a:r>
              <a:rPr lang="en-US">
                <a:latin typeface="Libre Franklin"/>
                <a:ea typeface="Libre Franklin"/>
                <a:cs typeface="Libre Franklin"/>
                <a:sym typeface="Libre Franklin"/>
              </a:rPr>
              <a:t>The definition of each cluster depends its parameters</a:t>
            </a:r>
            <a:endParaRPr/>
          </a:p>
          <a:p>
            <a:pPr indent="-457200" lvl="1" marL="914400" rtl="0" algn="l">
              <a:lnSpc>
                <a:spcPct val="90000"/>
              </a:lnSpc>
              <a:spcBef>
                <a:spcPts val="500"/>
              </a:spcBef>
              <a:spcAft>
                <a:spcPts val="0"/>
              </a:spcAft>
              <a:buSzPts val="2400"/>
              <a:buChar char="•"/>
            </a:pPr>
            <a:r>
              <a:rPr lang="en-US">
                <a:latin typeface="Libre Franklin"/>
                <a:ea typeface="Libre Franklin"/>
                <a:cs typeface="Libre Franklin"/>
                <a:sym typeface="Libre Franklin"/>
              </a:rPr>
              <a:t>In one chain, True Group A could be labeled as Group 1, in another chain, Group 2. </a:t>
            </a:r>
            <a:endParaRPr/>
          </a:p>
          <a:p>
            <a:pPr indent="-457200" lvl="1" marL="914400" rtl="0" algn="l">
              <a:lnSpc>
                <a:spcPct val="90000"/>
              </a:lnSpc>
              <a:spcBef>
                <a:spcPts val="500"/>
              </a:spcBef>
              <a:spcAft>
                <a:spcPts val="0"/>
              </a:spcAft>
              <a:buSzPts val="2400"/>
              <a:buChar char="•"/>
            </a:pPr>
            <a:r>
              <a:rPr lang="en-US">
                <a:latin typeface="Libre Franklin"/>
                <a:ea typeface="Libre Franklin"/>
                <a:cs typeface="Libre Franklin"/>
                <a:sym typeface="Libre Franklin"/>
              </a:rPr>
              <a:t>If the clusters are not well defined, then this switch can happen mid sample.</a:t>
            </a:r>
            <a:endParaRPr/>
          </a:p>
          <a:p>
            <a:pPr indent="0" lvl="0" marL="0" rtl="0" algn="l">
              <a:lnSpc>
                <a:spcPct val="90000"/>
              </a:lnSpc>
              <a:spcBef>
                <a:spcPts val="1000"/>
              </a:spcBef>
              <a:spcAft>
                <a:spcPts val="0"/>
              </a:spcAft>
              <a:buSzPts val="2800"/>
              <a:buNone/>
            </a:pPr>
            <a:r>
              <a:rPr b="1" lang="en-US">
                <a:latin typeface="Libre Franklin"/>
                <a:ea typeface="Libre Franklin"/>
                <a:cs typeface="Libre Franklin"/>
                <a:sym typeface="Libre Franklin"/>
              </a:rPr>
              <a:t>Problems –</a:t>
            </a:r>
            <a:r>
              <a:rPr lang="en-US">
                <a:latin typeface="Libre Franklin"/>
                <a:ea typeface="Libre Franklin"/>
                <a:cs typeface="Libre Franklin"/>
                <a:sym typeface="Libre Franklin"/>
              </a:rPr>
              <a:t> Can’t run label specific between chain diagnostics.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pic>
        <p:nvPicPr>
          <p:cNvPr id="408" name="Google Shape;408;p21"/>
          <p:cNvPicPr preferRelativeResize="0"/>
          <p:nvPr/>
        </p:nvPicPr>
        <p:blipFill rotWithShape="1">
          <a:blip r:embed="rId3">
            <a:alphaModFix/>
          </a:blip>
          <a:srcRect b="0" l="0" r="0" t="0"/>
          <a:stretch/>
        </p:blipFill>
        <p:spPr>
          <a:xfrm>
            <a:off x="8634957" y="6131859"/>
            <a:ext cx="3557043" cy="734035"/>
          </a:xfrm>
          <a:prstGeom prst="rect">
            <a:avLst/>
          </a:prstGeom>
          <a:noFill/>
          <a:ln>
            <a:noFill/>
          </a:ln>
        </p:spPr>
      </p:pic>
      <p:sp>
        <p:nvSpPr>
          <p:cNvPr id="409" name="Google Shape;409;p21"/>
          <p:cNvSpPr txBox="1"/>
          <p:nvPr/>
        </p:nvSpPr>
        <p:spPr>
          <a:xfrm>
            <a:off x="-1" y="6131859"/>
            <a:ext cx="8634957" cy="726141"/>
          </a:xfrm>
          <a:prstGeom prst="rect">
            <a:avLst/>
          </a:prstGeom>
          <a:solidFill>
            <a:srgbClr val="0B112B"/>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p21"/>
          <p:cNvSpPr/>
          <p:nvPr/>
        </p:nvSpPr>
        <p:spPr>
          <a:xfrm>
            <a:off x="0" y="-7894"/>
            <a:ext cx="12192000" cy="998009"/>
          </a:xfrm>
          <a:prstGeom prst="rect">
            <a:avLst/>
          </a:prstGeom>
          <a:solidFill>
            <a:srgbClr val="0B112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411" name="Google Shape;411;p21"/>
          <p:cNvSpPr txBox="1"/>
          <p:nvPr/>
        </p:nvSpPr>
        <p:spPr>
          <a:xfrm>
            <a:off x="139781" y="29445"/>
            <a:ext cx="7978466"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0" i="0" lang="en-US" sz="4800" u="none" cap="none" strike="noStrike">
                <a:solidFill>
                  <a:srgbClr val="ED7D31"/>
                </a:solidFill>
                <a:latin typeface="Franklin Gothic"/>
                <a:ea typeface="Franklin Gothic"/>
                <a:cs typeface="Franklin Gothic"/>
                <a:sym typeface="Franklin Gothic"/>
              </a:rPr>
              <a:t>Combinatorics and Networks</a:t>
            </a:r>
            <a:endParaRPr/>
          </a:p>
        </p:txBody>
      </p:sp>
      <p:sp>
        <p:nvSpPr>
          <p:cNvPr id="412" name="Google Shape;412;p21"/>
          <p:cNvSpPr txBox="1"/>
          <p:nvPr>
            <p:ph idx="1" type="body"/>
          </p:nvPr>
        </p:nvSpPr>
        <p:spPr>
          <a:xfrm>
            <a:off x="56109" y="1007413"/>
            <a:ext cx="11996110" cy="4994773"/>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1000"/>
              </a:spcBef>
              <a:spcAft>
                <a:spcPts val="0"/>
              </a:spcAft>
              <a:buSzPts val="2800"/>
              <a:buNone/>
            </a:pPr>
            <a:r>
              <a:rPr b="1" lang="en-US">
                <a:latin typeface="Libre Franklin"/>
                <a:ea typeface="Libre Franklin"/>
                <a:cs typeface="Libre Franklin"/>
                <a:sym typeface="Libre Franklin"/>
              </a:rPr>
              <a:t>Clustering – </a:t>
            </a:r>
            <a:endParaRPr/>
          </a:p>
          <a:p>
            <a:pPr indent="-457200" lvl="1" marL="914400" rtl="0" algn="l">
              <a:lnSpc>
                <a:spcPct val="90000"/>
              </a:lnSpc>
              <a:spcBef>
                <a:spcPts val="500"/>
              </a:spcBef>
              <a:spcAft>
                <a:spcPts val="0"/>
              </a:spcAft>
              <a:buSzPts val="2400"/>
              <a:buChar char="•"/>
            </a:pPr>
            <a:r>
              <a:rPr lang="en-US">
                <a:latin typeface="Libre Franklin"/>
                <a:ea typeface="Libre Franklin"/>
                <a:cs typeface="Libre Franklin"/>
                <a:sym typeface="Libre Franklin"/>
              </a:rPr>
              <a:t>When categorical variables where the meaning of the categorical variable depends on the values across the entire sample (i.e. clustering), think carefully about how you update your cluster labels, and definitions of the clusters themselves.</a:t>
            </a:r>
            <a:endParaRPr/>
          </a:p>
          <a:p>
            <a:pPr indent="0" lvl="0" marL="0" rtl="0" algn="l">
              <a:lnSpc>
                <a:spcPct val="90000"/>
              </a:lnSpc>
              <a:spcBef>
                <a:spcPts val="1000"/>
              </a:spcBef>
              <a:spcAft>
                <a:spcPts val="0"/>
              </a:spcAft>
              <a:buSzPts val="2800"/>
              <a:buNone/>
            </a:pPr>
            <a:r>
              <a:rPr b="1" lang="en-US">
                <a:latin typeface="Libre Franklin"/>
                <a:ea typeface="Libre Franklin"/>
                <a:cs typeface="Libre Franklin"/>
                <a:sym typeface="Libre Franklin"/>
              </a:rPr>
              <a:t>Parametric Modeling –</a:t>
            </a:r>
            <a:endParaRPr/>
          </a:p>
          <a:p>
            <a:pPr indent="-457200" lvl="1" marL="914400" rtl="0" algn="l">
              <a:lnSpc>
                <a:spcPct val="90000"/>
              </a:lnSpc>
              <a:spcBef>
                <a:spcPts val="500"/>
              </a:spcBef>
              <a:spcAft>
                <a:spcPts val="0"/>
              </a:spcAft>
              <a:buSzPts val="2400"/>
              <a:buChar char="•"/>
            </a:pPr>
            <a:r>
              <a:rPr lang="en-US">
                <a:latin typeface="Libre Franklin"/>
                <a:ea typeface="Libre Franklin"/>
                <a:cs typeface="Libre Franklin"/>
                <a:sym typeface="Libre Franklin"/>
              </a:rPr>
              <a:t>Consider estimating multiple categorical variables within an observation…</a:t>
            </a:r>
            <a:endParaRPr/>
          </a:p>
          <a:p>
            <a:pPr indent="-457200" lvl="2" marL="1371600" rtl="0" algn="l">
              <a:lnSpc>
                <a:spcPct val="90000"/>
              </a:lnSpc>
              <a:spcBef>
                <a:spcPts val="500"/>
              </a:spcBef>
              <a:spcAft>
                <a:spcPts val="0"/>
              </a:spcAft>
              <a:buSzPts val="2000"/>
              <a:buChar char="•"/>
            </a:pPr>
            <a:r>
              <a:rPr lang="en-US">
                <a:latin typeface="Libre Franklin"/>
                <a:ea typeface="Libre Franklin"/>
                <a:cs typeface="Libre Franklin"/>
                <a:sym typeface="Libre Franklin"/>
              </a:rPr>
              <a:t>It pains me to my core, but I’ll use the Myers-Briggs personality “test” as an example.</a:t>
            </a:r>
            <a:endParaRPr/>
          </a:p>
          <a:p>
            <a:pPr indent="-457200" lvl="1" marL="914400" rtl="0" algn="l">
              <a:lnSpc>
                <a:spcPct val="90000"/>
              </a:lnSpc>
              <a:spcBef>
                <a:spcPts val="500"/>
              </a:spcBef>
              <a:spcAft>
                <a:spcPts val="0"/>
              </a:spcAft>
              <a:buSzPts val="2400"/>
              <a:buChar char="•"/>
            </a:pPr>
            <a:r>
              <a:rPr lang="en-US">
                <a:latin typeface="Libre Franklin"/>
                <a:ea typeface="Libre Franklin"/>
                <a:cs typeface="Libre Franklin"/>
                <a:sym typeface="Libre Franklin"/>
              </a:rPr>
              <a:t>If the meaning of the combination is highly specific to the exact combination, then each combination needs to be evaluated.</a:t>
            </a:r>
            <a:endParaRPr/>
          </a:p>
          <a:p>
            <a:pPr indent="-457200" lvl="1" marL="914400" rtl="0" algn="l">
              <a:lnSpc>
                <a:spcPct val="90000"/>
              </a:lnSpc>
              <a:spcBef>
                <a:spcPts val="500"/>
              </a:spcBef>
              <a:spcAft>
                <a:spcPts val="0"/>
              </a:spcAft>
              <a:buSzPts val="2400"/>
              <a:buChar char="•"/>
            </a:pPr>
            <a:r>
              <a:rPr lang="en-US">
                <a:latin typeface="Libre Franklin"/>
                <a:ea typeface="Libre Franklin"/>
                <a:cs typeface="Libre Franklin"/>
                <a:sym typeface="Libre Franklin"/>
              </a:rPr>
              <a:t>Assumptions help:</a:t>
            </a:r>
            <a:endParaRPr/>
          </a:p>
          <a:p>
            <a:pPr indent="-457200" lvl="2" marL="1371600" rtl="0" algn="l">
              <a:lnSpc>
                <a:spcPct val="90000"/>
              </a:lnSpc>
              <a:spcBef>
                <a:spcPts val="500"/>
              </a:spcBef>
              <a:spcAft>
                <a:spcPts val="0"/>
              </a:spcAft>
              <a:buSzPts val="2000"/>
              <a:buChar char="•"/>
            </a:pPr>
            <a:r>
              <a:rPr lang="en-US">
                <a:latin typeface="Libre Franklin"/>
                <a:ea typeface="Libre Franklin"/>
                <a:cs typeface="Libre Franklin"/>
                <a:sym typeface="Libre Franklin"/>
              </a:rPr>
              <a:t>For example, define the combination of categories as an additive sum, e.g. mental health diagnoses.</a:t>
            </a:r>
            <a:endParaRPr/>
          </a:p>
          <a:p>
            <a:pPr indent="0" lvl="0" marL="0" rtl="0" algn="l">
              <a:lnSpc>
                <a:spcPct val="90000"/>
              </a:lnSpc>
              <a:spcBef>
                <a:spcPts val="1000"/>
              </a:spcBef>
              <a:spcAft>
                <a:spcPts val="0"/>
              </a:spcAft>
              <a:buSzPts val="2800"/>
              <a:buNone/>
            </a:pPr>
            <a:r>
              <a:rPr lang="en-US">
                <a:latin typeface="Libre Franklin"/>
                <a:ea typeface="Libre Franklin"/>
                <a:cs typeface="Libre Franklin"/>
                <a:sym typeface="Libre Franklin"/>
              </a:rPr>
              <a:t>Fairly niche topic yes, but when it comes up, it comes up bad…</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pic>
        <p:nvPicPr>
          <p:cNvPr id="417" name="Google Shape;417;p22"/>
          <p:cNvPicPr preferRelativeResize="0"/>
          <p:nvPr/>
        </p:nvPicPr>
        <p:blipFill rotWithShape="1">
          <a:blip r:embed="rId3">
            <a:alphaModFix/>
          </a:blip>
          <a:srcRect b="0" l="0" r="0" t="0"/>
          <a:stretch/>
        </p:blipFill>
        <p:spPr>
          <a:xfrm>
            <a:off x="8634957" y="6131859"/>
            <a:ext cx="3557043" cy="734035"/>
          </a:xfrm>
          <a:prstGeom prst="rect">
            <a:avLst/>
          </a:prstGeom>
          <a:noFill/>
          <a:ln>
            <a:noFill/>
          </a:ln>
        </p:spPr>
      </p:pic>
      <p:sp>
        <p:nvSpPr>
          <p:cNvPr id="418" name="Google Shape;418;p22"/>
          <p:cNvSpPr txBox="1"/>
          <p:nvPr/>
        </p:nvSpPr>
        <p:spPr>
          <a:xfrm>
            <a:off x="-1" y="6131859"/>
            <a:ext cx="8634957" cy="726141"/>
          </a:xfrm>
          <a:prstGeom prst="rect">
            <a:avLst/>
          </a:prstGeom>
          <a:solidFill>
            <a:srgbClr val="0B112B"/>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22"/>
          <p:cNvSpPr/>
          <p:nvPr/>
        </p:nvSpPr>
        <p:spPr>
          <a:xfrm>
            <a:off x="0" y="-7894"/>
            <a:ext cx="12192000" cy="998009"/>
          </a:xfrm>
          <a:prstGeom prst="rect">
            <a:avLst/>
          </a:prstGeom>
          <a:solidFill>
            <a:srgbClr val="0B112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420" name="Google Shape;420;p22"/>
          <p:cNvSpPr txBox="1"/>
          <p:nvPr/>
        </p:nvSpPr>
        <p:spPr>
          <a:xfrm>
            <a:off x="139781" y="29445"/>
            <a:ext cx="2712602"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0" i="0" lang="en-US" sz="4800" u="none" cap="none" strike="noStrike">
                <a:solidFill>
                  <a:srgbClr val="ED7D31"/>
                </a:solidFill>
                <a:latin typeface="Franklin Gothic"/>
                <a:ea typeface="Franklin Gothic"/>
                <a:cs typeface="Franklin Gothic"/>
                <a:sym typeface="Franklin Gothic"/>
              </a:rPr>
              <a:t>Summary</a:t>
            </a:r>
            <a:endParaRPr/>
          </a:p>
        </p:txBody>
      </p:sp>
      <p:sp>
        <p:nvSpPr>
          <p:cNvPr id="421" name="Google Shape;421;p22"/>
          <p:cNvSpPr txBox="1"/>
          <p:nvPr>
            <p:ph idx="1" type="body"/>
          </p:nvPr>
        </p:nvSpPr>
        <p:spPr>
          <a:xfrm>
            <a:off x="139781" y="798237"/>
            <a:ext cx="11996100" cy="4994700"/>
          </a:xfrm>
          <a:prstGeom prst="rect">
            <a:avLst/>
          </a:prstGeom>
          <a:blipFill rotWithShape="1">
            <a:blip r:embed="rId4">
              <a:alphaModFix/>
            </a:blip>
            <a:stretch>
              <a:fillRect b="-9887" l="-1066" r="-201" t="0"/>
            </a:stretch>
          </a:blipFill>
          <a:ln>
            <a:noFill/>
          </a:ln>
        </p:spPr>
        <p:txBody>
          <a:bodyPr anchorCtr="0" anchor="t" bIns="91425" lIns="91425" spcFirstLastPara="1" rIns="91425" wrap="square" tIns="91425">
            <a:noAutofit/>
          </a:bodyPr>
          <a:lstStyle/>
          <a:p>
            <a:pPr indent="-406400" lvl="0" marL="457200" marR="0" rtl="0" algn="l">
              <a:lnSpc>
                <a:spcPct val="90000"/>
              </a:lnSpc>
              <a:spcBef>
                <a:spcPts val="1000"/>
              </a:spcBef>
              <a:spcAft>
                <a:spcPts val="0"/>
              </a:spcAft>
              <a:buClr>
                <a:schemeClr val="dk1"/>
              </a:buClr>
              <a:buSzPts val="2800"/>
              <a:buFont typeface="Arial"/>
              <a:buChar char="•"/>
            </a:pPr>
            <a:r>
              <a:rPr lang="en-US"/>
              <a:t>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pic>
        <p:nvPicPr>
          <p:cNvPr id="426" name="Google Shape;426;p23"/>
          <p:cNvPicPr preferRelativeResize="0"/>
          <p:nvPr/>
        </p:nvPicPr>
        <p:blipFill rotWithShape="1">
          <a:blip r:embed="rId3">
            <a:alphaModFix/>
          </a:blip>
          <a:srcRect b="0" l="0" r="0" t="0"/>
          <a:stretch/>
        </p:blipFill>
        <p:spPr>
          <a:xfrm>
            <a:off x="8634957" y="6131859"/>
            <a:ext cx="3557043" cy="734035"/>
          </a:xfrm>
          <a:prstGeom prst="rect">
            <a:avLst/>
          </a:prstGeom>
          <a:noFill/>
          <a:ln>
            <a:noFill/>
          </a:ln>
        </p:spPr>
      </p:pic>
      <p:sp>
        <p:nvSpPr>
          <p:cNvPr id="427" name="Google Shape;427;p23"/>
          <p:cNvSpPr txBox="1"/>
          <p:nvPr/>
        </p:nvSpPr>
        <p:spPr>
          <a:xfrm>
            <a:off x="-1" y="6131859"/>
            <a:ext cx="8634957" cy="726141"/>
          </a:xfrm>
          <a:prstGeom prst="rect">
            <a:avLst/>
          </a:prstGeom>
          <a:solidFill>
            <a:srgbClr val="0B112B"/>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23"/>
          <p:cNvSpPr/>
          <p:nvPr/>
        </p:nvSpPr>
        <p:spPr>
          <a:xfrm>
            <a:off x="0" y="-7894"/>
            <a:ext cx="12192000" cy="998009"/>
          </a:xfrm>
          <a:prstGeom prst="rect">
            <a:avLst/>
          </a:prstGeom>
          <a:solidFill>
            <a:srgbClr val="0B112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429" name="Google Shape;429;p23"/>
          <p:cNvSpPr txBox="1"/>
          <p:nvPr/>
        </p:nvSpPr>
        <p:spPr>
          <a:xfrm>
            <a:off x="139781" y="29445"/>
            <a:ext cx="9355446"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0" i="0" lang="en-US" sz="4800" u="none" cap="none" strike="noStrike">
                <a:solidFill>
                  <a:srgbClr val="ED7D31"/>
                </a:solidFill>
                <a:latin typeface="Franklin Gothic"/>
                <a:ea typeface="Franklin Gothic"/>
                <a:cs typeface="Franklin Gothic"/>
                <a:sym typeface="Franklin Gothic"/>
              </a:rPr>
              <a:t>Next Time: Wrapping Up Samplers</a:t>
            </a:r>
            <a:endParaRPr/>
          </a:p>
        </p:txBody>
      </p:sp>
      <p:sp>
        <p:nvSpPr>
          <p:cNvPr id="430" name="Google Shape;430;p23"/>
          <p:cNvSpPr txBox="1"/>
          <p:nvPr>
            <p:ph idx="1" type="body"/>
          </p:nvPr>
        </p:nvSpPr>
        <p:spPr>
          <a:xfrm>
            <a:off x="56110" y="1129192"/>
            <a:ext cx="11996110" cy="4994773"/>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1000"/>
              </a:spcBef>
              <a:spcAft>
                <a:spcPts val="0"/>
              </a:spcAft>
              <a:buSzPts val="2800"/>
              <a:buNone/>
            </a:pPr>
            <a:r>
              <a:rPr b="1" lang="en-US" u="sng">
                <a:solidFill>
                  <a:schemeClr val="dk1"/>
                </a:solidFill>
                <a:latin typeface="Libre Franklin"/>
                <a:ea typeface="Libre Franklin"/>
                <a:cs typeface="Libre Franklin"/>
                <a:sym typeface="Libre Franklin"/>
              </a:rPr>
              <a:t>Hierarchical Bayesian Models</a:t>
            </a:r>
            <a:endParaRPr/>
          </a:p>
          <a:p>
            <a:pPr indent="-457200" lvl="1" marL="914400" rtl="0" algn="l">
              <a:lnSpc>
                <a:spcPct val="90000"/>
              </a:lnSpc>
              <a:spcBef>
                <a:spcPts val="500"/>
              </a:spcBef>
              <a:spcAft>
                <a:spcPts val="0"/>
              </a:spcAft>
              <a:buSzPts val="2400"/>
              <a:buChar char="•"/>
            </a:pPr>
            <a:r>
              <a:rPr b="1" lang="en-US">
                <a:solidFill>
                  <a:schemeClr val="dk1"/>
                </a:solidFill>
                <a:latin typeface="Libre Franklin"/>
                <a:ea typeface="Libre Franklin"/>
                <a:cs typeface="Libre Franklin"/>
                <a:sym typeface="Libre Franklin"/>
              </a:rPr>
              <a:t>Nested Data – It’s everywhere. And not accounting for it is not an option.</a:t>
            </a:r>
            <a:endParaRPr/>
          </a:p>
          <a:p>
            <a:pPr indent="-457200" lvl="2" marL="1371600" rtl="0" algn="l">
              <a:lnSpc>
                <a:spcPct val="90000"/>
              </a:lnSpc>
              <a:spcBef>
                <a:spcPts val="500"/>
              </a:spcBef>
              <a:spcAft>
                <a:spcPts val="0"/>
              </a:spcAft>
              <a:buSzPts val="2000"/>
              <a:buChar char="•"/>
            </a:pPr>
            <a:r>
              <a:rPr lang="en-US">
                <a:solidFill>
                  <a:schemeClr val="dk1"/>
                </a:solidFill>
                <a:latin typeface="Libre Franklin"/>
                <a:ea typeface="Libre Franklin"/>
                <a:cs typeface="Libre Franklin"/>
                <a:sym typeface="Libre Franklin"/>
              </a:rPr>
              <a:t>Sales within person</a:t>
            </a:r>
            <a:endParaRPr/>
          </a:p>
          <a:p>
            <a:pPr indent="-457200" lvl="2" marL="1371600" rtl="0" algn="l">
              <a:lnSpc>
                <a:spcPct val="90000"/>
              </a:lnSpc>
              <a:spcBef>
                <a:spcPts val="500"/>
              </a:spcBef>
              <a:spcAft>
                <a:spcPts val="0"/>
              </a:spcAft>
              <a:buSzPts val="2000"/>
              <a:buChar char="•"/>
            </a:pPr>
            <a:r>
              <a:rPr lang="en-US">
                <a:solidFill>
                  <a:schemeClr val="dk1"/>
                </a:solidFill>
                <a:latin typeface="Libre Franklin"/>
                <a:ea typeface="Libre Franklin"/>
                <a:cs typeface="Libre Franklin"/>
                <a:sym typeface="Libre Franklin"/>
              </a:rPr>
              <a:t>Students in schools</a:t>
            </a:r>
            <a:endParaRPr/>
          </a:p>
          <a:p>
            <a:pPr indent="-457200" lvl="2" marL="1371600" rtl="0" algn="l">
              <a:lnSpc>
                <a:spcPct val="90000"/>
              </a:lnSpc>
              <a:spcBef>
                <a:spcPts val="500"/>
              </a:spcBef>
              <a:spcAft>
                <a:spcPts val="0"/>
              </a:spcAft>
              <a:buSzPts val="2000"/>
              <a:buChar char="•"/>
            </a:pPr>
            <a:r>
              <a:rPr lang="en-US">
                <a:solidFill>
                  <a:schemeClr val="dk1"/>
                </a:solidFill>
                <a:latin typeface="Libre Franklin"/>
                <a:ea typeface="Libre Franklin"/>
                <a:cs typeface="Libre Franklin"/>
                <a:sym typeface="Libre Franklin"/>
              </a:rPr>
              <a:t>Time within patient within doctor crossed with hospital within state within country.</a:t>
            </a:r>
            <a:endParaRPr/>
          </a:p>
          <a:p>
            <a:pPr indent="-457200" lvl="2" marL="1371600" rtl="0" algn="l">
              <a:lnSpc>
                <a:spcPct val="90000"/>
              </a:lnSpc>
              <a:spcBef>
                <a:spcPts val="500"/>
              </a:spcBef>
              <a:spcAft>
                <a:spcPts val="0"/>
              </a:spcAft>
              <a:buSzPts val="2000"/>
              <a:buChar char="•"/>
            </a:pPr>
            <a:r>
              <a:rPr lang="en-US">
                <a:solidFill>
                  <a:schemeClr val="dk1"/>
                </a:solidFill>
                <a:latin typeface="Libre Franklin"/>
                <a:ea typeface="Libre Franklin"/>
                <a:cs typeface="Libre Franklin"/>
                <a:sym typeface="Libre Franklin"/>
              </a:rPr>
              <a:t>Document within action with agent within country within region (for you GDELT fans)</a:t>
            </a:r>
            <a:endParaRPr/>
          </a:p>
          <a:p>
            <a:pPr indent="-457200" lvl="1" marL="914400" rtl="0" algn="l">
              <a:lnSpc>
                <a:spcPct val="90000"/>
              </a:lnSpc>
              <a:spcBef>
                <a:spcPts val="500"/>
              </a:spcBef>
              <a:spcAft>
                <a:spcPts val="0"/>
              </a:spcAft>
              <a:buSzPts val="2400"/>
              <a:buChar char="•"/>
            </a:pPr>
            <a:r>
              <a:rPr lang="en-US">
                <a:solidFill>
                  <a:schemeClr val="dk1"/>
                </a:solidFill>
                <a:latin typeface="Libre Franklin"/>
                <a:ea typeface="Libre Franklin"/>
                <a:cs typeface="Libre Franklin"/>
                <a:sym typeface="Libre Franklin"/>
              </a:rPr>
              <a:t>Bayes really shines with nested data.</a:t>
            </a:r>
            <a:endParaRPr/>
          </a:p>
          <a:p>
            <a:pPr indent="0" lvl="0" marL="0" rtl="0" algn="l">
              <a:lnSpc>
                <a:spcPct val="90000"/>
              </a:lnSpc>
              <a:spcBef>
                <a:spcPts val="1000"/>
              </a:spcBef>
              <a:spcAft>
                <a:spcPts val="0"/>
              </a:spcAft>
              <a:buSzPts val="2800"/>
              <a:buNone/>
            </a:pPr>
            <a:r>
              <a:rPr b="1" lang="en-US" u="sng">
                <a:solidFill>
                  <a:schemeClr val="dk1"/>
                </a:solidFill>
                <a:latin typeface="Libre Franklin"/>
                <a:ea typeface="Libre Franklin"/>
                <a:cs typeface="Libre Franklin"/>
                <a:sym typeface="Libre Franklin"/>
              </a:rPr>
              <a:t>Bayesian Model Averaging</a:t>
            </a:r>
            <a:endParaRPr/>
          </a:p>
          <a:p>
            <a:pPr indent="-457200" lvl="1" marL="914400" rtl="0" algn="l">
              <a:lnSpc>
                <a:spcPct val="90000"/>
              </a:lnSpc>
              <a:spcBef>
                <a:spcPts val="500"/>
              </a:spcBef>
              <a:spcAft>
                <a:spcPts val="0"/>
              </a:spcAft>
              <a:buSzPts val="2400"/>
              <a:buChar char="•"/>
            </a:pPr>
            <a:r>
              <a:rPr lang="en-US">
                <a:solidFill>
                  <a:schemeClr val="dk1"/>
                </a:solidFill>
                <a:latin typeface="Libre Franklin"/>
                <a:ea typeface="Libre Franklin"/>
                <a:cs typeface="Libre Franklin"/>
                <a:sym typeface="Libre Franklin"/>
              </a:rPr>
              <a:t>The Bayesian Ensemble Method</a:t>
            </a:r>
            <a:endParaRPr/>
          </a:p>
          <a:p>
            <a:pPr indent="-457200" lvl="1" marL="914400" rtl="0" algn="l">
              <a:lnSpc>
                <a:spcPct val="90000"/>
              </a:lnSpc>
              <a:spcBef>
                <a:spcPts val="500"/>
              </a:spcBef>
              <a:spcAft>
                <a:spcPts val="0"/>
              </a:spcAft>
              <a:buSzPts val="2400"/>
              <a:buChar char="•"/>
            </a:pPr>
            <a:r>
              <a:rPr lang="en-US">
                <a:solidFill>
                  <a:schemeClr val="dk1"/>
                </a:solidFill>
                <a:latin typeface="Libre Franklin"/>
                <a:ea typeface="Libre Franklin"/>
                <a:cs typeface="Libre Franklin"/>
                <a:sym typeface="Libre Franklin"/>
              </a:rPr>
              <a:t>Focus on computability, not complexity</a:t>
            </a:r>
            <a:endParaRPr/>
          </a:p>
          <a:p>
            <a:pPr indent="-304800" lvl="1" marL="914400" rtl="0" algn="l">
              <a:lnSpc>
                <a:spcPct val="90000"/>
              </a:lnSpc>
              <a:spcBef>
                <a:spcPts val="500"/>
              </a:spcBef>
              <a:spcAft>
                <a:spcPts val="0"/>
              </a:spcAft>
              <a:buSzPts val="2400"/>
              <a:buNone/>
            </a:pPr>
            <a:r>
              <a:t/>
            </a:r>
            <a:endParaRPr b="1" u="sng">
              <a:solidFill>
                <a:schemeClr val="dk1"/>
              </a:solidFill>
              <a:latin typeface="Libre Franklin"/>
              <a:ea typeface="Libre Franklin"/>
              <a:cs typeface="Libre Franklin"/>
              <a:sym typeface="Libre Franklin"/>
            </a:endParaRPr>
          </a:p>
          <a:p>
            <a:pPr indent="0" lvl="0" marL="0" rtl="0" algn="l">
              <a:lnSpc>
                <a:spcPct val="90000"/>
              </a:lnSpc>
              <a:spcBef>
                <a:spcPts val="1000"/>
              </a:spcBef>
              <a:spcAft>
                <a:spcPts val="0"/>
              </a:spcAft>
              <a:buSzPts val="2800"/>
              <a:buNone/>
            </a:pPr>
            <a:r>
              <a:rPr lang="en-US">
                <a:solidFill>
                  <a:schemeClr val="dk1"/>
                </a:solidFill>
                <a:latin typeface="Libre Franklin"/>
                <a:ea typeface="Libre Franklin"/>
                <a:cs typeface="Libre Franklin"/>
                <a:sym typeface="Libre Franklin"/>
              </a:rPr>
              <a:t>HW4 will be on both of these.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William Basener</dc:creator>
</cp:coreProperties>
</file>