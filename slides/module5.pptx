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27.png" ContentType="image/png"/>
  <Override PartName="/ppt/media/image4.png" ContentType="image/png"/>
  <Override PartName="/ppt/media/image34.png" ContentType="image/png"/>
  <Override PartName="/ppt/media/image9.png" ContentType="image/png"/>
  <Override PartName="/ppt/media/image29.png" ContentType="image/png"/>
  <Override PartName="/ppt/media/image6.png" ContentType="image/png"/>
  <Override PartName="/ppt/media/image31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30.png" ContentType="image/png"/>
  <Override PartName="/ppt/media/image28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2.png" ContentType="image/png"/>
  <Override PartName="/ppt/media/image2.png" ContentType="image/png"/>
  <Override PartName="/ppt/media/image25.png" ContentType="image/png"/>
  <Override PartName="/ppt/media/image1.jpeg" ContentType="image/jpeg"/>
  <Override PartName="/ppt/media/image10.png" ContentType="image/png"/>
  <Override PartName="/ppt/media/image5.png" ContentType="image/png"/>
  <Override PartName="/ppt/media/image35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tIns="91440" bIns="91440" anchor="b">
            <a:noAutofit/>
          </a:bodyPr>
          <a:p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B3C5FB5F-A3DA-490D-8F51-73D15DDD798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tIns="91440" bIns="91440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0B2708AA-A0F8-49A4-9726-06B8CF8926A3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hyperlink" Target="https://arxiv.org/abs/1701.02434" TargetMode="External"/><Relationship Id="rId4" Type="http://schemas.openxmlformats.org/officeDocument/2006/relationships/hyperlink" Target="https://arxiv.org/abs/1701.02434" TargetMode="External"/><Relationship Id="rId5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hyperlink" Target="http://www.stat.columbia.edu/~gelman/research/published/nuts" TargetMode="External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266760" y="5691240"/>
            <a:ext cx="2005560" cy="73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DS6040 Summer 2022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Taylor Brown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0" y="1214640"/>
            <a:ext cx="12191760" cy="2590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6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Estimation Part I:</a:t>
            </a:r>
            <a:endParaRPr b="0" lang="en-US" sz="6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6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Samplers</a:t>
            </a:r>
            <a:endParaRPr b="0" lang="en-US" sz="6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Franklin Gothic"/>
                <a:ea typeface="Franklin Gothic"/>
              </a:rPr>
              <a:t>Module 5 Live Session (6/22/2022)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84" name="Google Shape;69;p1" descr="A picture containing application&#10;&#10;Description automatically generated"/>
          <p:cNvPicPr/>
          <p:nvPr/>
        </p:nvPicPr>
        <p:blipFill>
          <a:blip r:embed="rId1"/>
          <a:stretch/>
        </p:blipFill>
        <p:spPr>
          <a:xfrm>
            <a:off x="3826440" y="5766480"/>
            <a:ext cx="4806360" cy="892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Shape 1"/>
          <p:cNvSpPr txBox="1"/>
          <p:nvPr/>
        </p:nvSpPr>
        <p:spPr>
          <a:xfrm>
            <a:off x="192240" y="1027440"/>
            <a:ext cx="1174140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HW 1 has been successfully turned in!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lvl="1" marL="1028880" indent="-5713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These will continue to be graded throughout the week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4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Project Proposals have been turned in!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lvl="1" marL="1028880" indent="-5713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I’ll be reaching out with comments throughout the week.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Google Shape;75;p2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87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CustomShape 4"/>
          <p:cNvSpPr/>
          <p:nvPr/>
        </p:nvSpPr>
        <p:spPr>
          <a:xfrm>
            <a:off x="139680" y="29520"/>
            <a:ext cx="736020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54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Course Updates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192240" y="1027440"/>
            <a:ext cx="1174140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marL="571680" indent="-5713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Posterior Review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571680" indent="-5713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Monte Carlo Sampling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571680" indent="-57132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Markov Chain Monte Carlo Sampling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lvl="1" marL="1028880" indent="-5713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Gibbs Samplers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1028880" indent="-5713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Random Walk Metropolis/-Hastings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 lvl="1" marL="1028880" indent="-5713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Hamiltonian MCMC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lvl="1" marL="1028880" indent="-5713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4000" spc="-1" strike="noStrike">
                <a:solidFill>
                  <a:srgbClr val="000000"/>
                </a:solidFill>
                <a:latin typeface="Libre Franklin"/>
              </a:rPr>
              <a:t> 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Google Shape;84;p3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92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CustomShape 4"/>
          <p:cNvSpPr/>
          <p:nvPr/>
        </p:nvSpPr>
        <p:spPr>
          <a:xfrm>
            <a:off x="139680" y="29520"/>
            <a:ext cx="360936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54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Outline</a:t>
            </a:r>
            <a:endParaRPr b="0" lang="en-US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2;p4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96" name="CustomShape 1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CustomShape 2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3"/>
          <p:cNvSpPr/>
          <p:nvPr/>
        </p:nvSpPr>
        <p:spPr>
          <a:xfrm>
            <a:off x="139680" y="29520"/>
            <a:ext cx="2377080" cy="1737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54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Review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99" name="CustomShape 4"/>
          <p:cNvSpPr/>
          <p:nvPr/>
        </p:nvSpPr>
        <p:spPr>
          <a:xfrm>
            <a:off x="3751560" y="2796120"/>
            <a:ext cx="4789440" cy="1265400"/>
          </a:xfrm>
          <a:prstGeom prst="rect">
            <a:avLst/>
          </a:prstGeom>
          <a:blipFill rotWithShape="0">
            <a:blip r:embed="rId2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CustomShape 5"/>
          <p:cNvSpPr/>
          <p:nvPr/>
        </p:nvSpPr>
        <p:spPr>
          <a:xfrm>
            <a:off x="3908160" y="3127680"/>
            <a:ext cx="1438200" cy="634320"/>
          </a:xfrm>
          <a:prstGeom prst="rect">
            <a:avLst/>
          </a:prstGeom>
          <a:noFill/>
          <a:ln w="2556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CustomShape 6"/>
          <p:cNvSpPr/>
          <p:nvPr/>
        </p:nvSpPr>
        <p:spPr>
          <a:xfrm rot="10800000">
            <a:off x="2219400" y="2656080"/>
            <a:ext cx="1688760" cy="46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eb79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CustomShape 7"/>
          <p:cNvSpPr/>
          <p:nvPr/>
        </p:nvSpPr>
        <p:spPr>
          <a:xfrm>
            <a:off x="529920" y="1947960"/>
            <a:ext cx="3377520" cy="700920"/>
          </a:xfrm>
          <a:prstGeom prst="rect">
            <a:avLst/>
          </a:prstGeom>
          <a:noFill/>
          <a:ln w="2844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Posterior Distribution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Our Target Distribution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3" name="CustomShape 8"/>
          <p:cNvSpPr/>
          <p:nvPr/>
        </p:nvSpPr>
        <p:spPr>
          <a:xfrm>
            <a:off x="5911560" y="2796120"/>
            <a:ext cx="1397520" cy="634320"/>
          </a:xfrm>
          <a:prstGeom prst="rect">
            <a:avLst/>
          </a:prstGeom>
          <a:noFill/>
          <a:ln w="2556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CustomShape 9"/>
          <p:cNvSpPr/>
          <p:nvPr/>
        </p:nvSpPr>
        <p:spPr>
          <a:xfrm flipH="1" rot="10800000">
            <a:off x="6610680" y="1792800"/>
            <a:ext cx="1440" cy="1003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eb79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CustomShape 10"/>
          <p:cNvSpPr/>
          <p:nvPr/>
        </p:nvSpPr>
        <p:spPr>
          <a:xfrm>
            <a:off x="4923360" y="1084320"/>
            <a:ext cx="3377520" cy="700920"/>
          </a:xfrm>
          <a:prstGeom prst="rect">
            <a:avLst/>
          </a:prstGeom>
          <a:noFill/>
          <a:ln w="2844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Likelihood 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We can evaluate this function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6" name="CustomShape 11"/>
          <p:cNvSpPr/>
          <p:nvPr/>
        </p:nvSpPr>
        <p:spPr>
          <a:xfrm>
            <a:off x="8724600" y="2756160"/>
            <a:ext cx="3377520" cy="640080"/>
          </a:xfrm>
          <a:prstGeom prst="rect">
            <a:avLst/>
          </a:prstGeom>
          <a:noFill/>
          <a:ln w="2844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Prior Distribution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We can evaluate this function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7" name="CustomShape 12"/>
          <p:cNvSpPr/>
          <p:nvPr/>
        </p:nvSpPr>
        <p:spPr>
          <a:xfrm>
            <a:off x="7402680" y="2792880"/>
            <a:ext cx="995400" cy="634320"/>
          </a:xfrm>
          <a:prstGeom prst="rect">
            <a:avLst/>
          </a:prstGeom>
          <a:noFill/>
          <a:ln w="2556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CustomShape 13"/>
          <p:cNvSpPr/>
          <p:nvPr/>
        </p:nvSpPr>
        <p:spPr>
          <a:xfrm flipH="1" rot="10800000">
            <a:off x="8398080" y="3079800"/>
            <a:ext cx="325800" cy="30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eb79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CustomShape 14"/>
          <p:cNvSpPr/>
          <p:nvPr/>
        </p:nvSpPr>
        <p:spPr>
          <a:xfrm>
            <a:off x="6610320" y="3515040"/>
            <a:ext cx="1047960" cy="546480"/>
          </a:xfrm>
          <a:prstGeom prst="rect">
            <a:avLst/>
          </a:prstGeom>
          <a:noFill/>
          <a:ln w="25560">
            <a:solidFill>
              <a:srgbClr val="ed7d3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CustomShape 15"/>
          <p:cNvSpPr/>
          <p:nvPr/>
        </p:nvSpPr>
        <p:spPr>
          <a:xfrm>
            <a:off x="5445720" y="4620960"/>
            <a:ext cx="3377520" cy="457560"/>
          </a:xfrm>
          <a:prstGeom prst="rect">
            <a:avLst/>
          </a:prstGeom>
          <a:noFill/>
          <a:ln w="2844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Marginal Distribution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1" name="CustomShape 16"/>
          <p:cNvSpPr/>
          <p:nvPr/>
        </p:nvSpPr>
        <p:spPr>
          <a:xfrm>
            <a:off x="7134480" y="4061880"/>
            <a:ext cx="360" cy="558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eb79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CustomShape 17"/>
          <p:cNvSpPr/>
          <p:nvPr/>
        </p:nvSpPr>
        <p:spPr>
          <a:xfrm>
            <a:off x="529920" y="4323960"/>
            <a:ext cx="4390920" cy="1301400"/>
          </a:xfrm>
          <a:prstGeom prst="rect">
            <a:avLst/>
          </a:prstGeom>
          <a:noFill/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CustomShape 18"/>
          <p:cNvSpPr/>
          <p:nvPr/>
        </p:nvSpPr>
        <p:spPr>
          <a:xfrm>
            <a:off x="508680" y="4332240"/>
            <a:ext cx="4222080" cy="658440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4" name="CustomShape 19"/>
          <p:cNvSpPr/>
          <p:nvPr/>
        </p:nvSpPr>
        <p:spPr>
          <a:xfrm flipH="1">
            <a:off x="4920840" y="4851720"/>
            <a:ext cx="523800" cy="122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rgbClr val="eb792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CustomShape 20"/>
          <p:cNvSpPr/>
          <p:nvPr/>
        </p:nvSpPr>
        <p:spPr>
          <a:xfrm>
            <a:off x="513360" y="5042160"/>
            <a:ext cx="451260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Can’t evaluate this because solving the integral is usually impossible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" dur="indefinite" restart="never" nodeType="tmRoot">
          <p:childTnLst>
            <p:seq>
              <p:cTn id="54" dur="indefinite" nodeType="mainSeq">
                <p:childTnLst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Shape 1"/>
          <p:cNvSpPr txBox="1"/>
          <p:nvPr/>
        </p:nvSpPr>
        <p:spPr>
          <a:xfrm>
            <a:off x="418680" y="1137240"/>
            <a:ext cx="5903280" cy="499428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txBody>
          <a:bodyPr tIns="91440" bIns="91440">
            <a:noAutofit/>
          </a:bodyPr>
          <a:p>
            <a:pPr marL="457200" indent="-406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7" name="Google Shape;118;p5" descr=""/>
          <p:cNvPicPr/>
          <p:nvPr/>
        </p:nvPicPr>
        <p:blipFill>
          <a:blip r:embed="rId2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118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CustomShape 4"/>
          <p:cNvSpPr/>
          <p:nvPr/>
        </p:nvSpPr>
        <p:spPr>
          <a:xfrm>
            <a:off x="139680" y="29520"/>
            <a:ext cx="12104280" cy="91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54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Sampling Parameters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21" name="CustomShape 5"/>
          <p:cNvSpPr/>
          <p:nvPr/>
        </p:nvSpPr>
        <p:spPr>
          <a:xfrm>
            <a:off x="8074080" y="2151360"/>
            <a:ext cx="2258640" cy="1637280"/>
          </a:xfrm>
          <a:prstGeom prst="ellipse">
            <a:avLst/>
          </a:prstGeom>
          <a:noFill/>
          <a:ln w="255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CustomShape 6"/>
          <p:cNvSpPr/>
          <p:nvPr/>
        </p:nvSpPr>
        <p:spPr>
          <a:xfrm>
            <a:off x="7497360" y="1691280"/>
            <a:ext cx="3271680" cy="3038400"/>
          </a:xfrm>
          <a:prstGeom prst="rect">
            <a:avLst/>
          </a:prstGeom>
          <a:noFill/>
          <a:ln w="255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23" name="Group 7"/>
          <p:cNvGrpSpPr/>
          <p:nvPr/>
        </p:nvGrpSpPr>
        <p:grpSpPr>
          <a:xfrm>
            <a:off x="7600320" y="1759680"/>
            <a:ext cx="3139560" cy="2915640"/>
            <a:chOff x="7600320" y="1759680"/>
            <a:chExt cx="3139560" cy="2915640"/>
          </a:xfrm>
        </p:grpSpPr>
        <p:sp>
          <p:nvSpPr>
            <p:cNvPr id="124" name="CustomShape 8"/>
            <p:cNvSpPr/>
            <p:nvPr/>
          </p:nvSpPr>
          <p:spPr>
            <a:xfrm>
              <a:off x="8647920" y="33843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CustomShape 9"/>
            <p:cNvSpPr/>
            <p:nvPr/>
          </p:nvSpPr>
          <p:spPr>
            <a:xfrm>
              <a:off x="9511560" y="33307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CustomShape 10"/>
            <p:cNvSpPr/>
            <p:nvPr/>
          </p:nvSpPr>
          <p:spPr>
            <a:xfrm>
              <a:off x="9093240" y="35470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CustomShape 11"/>
            <p:cNvSpPr/>
            <p:nvPr/>
          </p:nvSpPr>
          <p:spPr>
            <a:xfrm>
              <a:off x="7820280" y="23652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CustomShape 12"/>
            <p:cNvSpPr/>
            <p:nvPr/>
          </p:nvSpPr>
          <p:spPr>
            <a:xfrm>
              <a:off x="9520560" y="24966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CustomShape 13"/>
            <p:cNvSpPr/>
            <p:nvPr/>
          </p:nvSpPr>
          <p:spPr>
            <a:xfrm>
              <a:off x="8364240" y="3174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CustomShape 14"/>
            <p:cNvSpPr/>
            <p:nvPr/>
          </p:nvSpPr>
          <p:spPr>
            <a:xfrm>
              <a:off x="8876520" y="2760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CustomShape 15"/>
            <p:cNvSpPr/>
            <p:nvPr/>
          </p:nvSpPr>
          <p:spPr>
            <a:xfrm>
              <a:off x="9311400" y="29674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CustomShape 16"/>
            <p:cNvSpPr/>
            <p:nvPr/>
          </p:nvSpPr>
          <p:spPr>
            <a:xfrm>
              <a:off x="8417880" y="26967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CustomShape 17"/>
            <p:cNvSpPr/>
            <p:nvPr/>
          </p:nvSpPr>
          <p:spPr>
            <a:xfrm>
              <a:off x="8770320" y="24966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CustomShape 18"/>
            <p:cNvSpPr/>
            <p:nvPr/>
          </p:nvSpPr>
          <p:spPr>
            <a:xfrm>
              <a:off x="8794440" y="30751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CustomShape 19"/>
            <p:cNvSpPr/>
            <p:nvPr/>
          </p:nvSpPr>
          <p:spPr>
            <a:xfrm>
              <a:off x="9124560" y="25246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CustomShape 20"/>
            <p:cNvSpPr/>
            <p:nvPr/>
          </p:nvSpPr>
          <p:spPr>
            <a:xfrm>
              <a:off x="9825480" y="29570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CustomShape 21"/>
            <p:cNvSpPr/>
            <p:nvPr/>
          </p:nvSpPr>
          <p:spPr>
            <a:xfrm>
              <a:off x="7793280" y="3138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CustomShape 22"/>
            <p:cNvSpPr/>
            <p:nvPr/>
          </p:nvSpPr>
          <p:spPr>
            <a:xfrm>
              <a:off x="7739640" y="3493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CustomShape 23"/>
            <p:cNvSpPr/>
            <p:nvPr/>
          </p:nvSpPr>
          <p:spPr>
            <a:xfrm>
              <a:off x="8417880" y="39052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CustomShape 24"/>
            <p:cNvSpPr/>
            <p:nvPr/>
          </p:nvSpPr>
          <p:spPr>
            <a:xfrm>
              <a:off x="7960680" y="3822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CustomShape 25"/>
            <p:cNvSpPr/>
            <p:nvPr/>
          </p:nvSpPr>
          <p:spPr>
            <a:xfrm>
              <a:off x="8540280" y="41792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CustomShape 26"/>
            <p:cNvSpPr/>
            <p:nvPr/>
          </p:nvSpPr>
          <p:spPr>
            <a:xfrm>
              <a:off x="9185760" y="41810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CustomShape 27"/>
            <p:cNvSpPr/>
            <p:nvPr/>
          </p:nvSpPr>
          <p:spPr>
            <a:xfrm>
              <a:off x="10043280" y="4249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CustomShape 28"/>
            <p:cNvSpPr/>
            <p:nvPr/>
          </p:nvSpPr>
          <p:spPr>
            <a:xfrm>
              <a:off x="7862040" y="44967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CustomShape 29"/>
            <p:cNvSpPr/>
            <p:nvPr/>
          </p:nvSpPr>
          <p:spPr>
            <a:xfrm>
              <a:off x="9245520" y="22006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6" name="CustomShape 30"/>
            <p:cNvSpPr/>
            <p:nvPr/>
          </p:nvSpPr>
          <p:spPr>
            <a:xfrm>
              <a:off x="8848080" y="17596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" name="CustomShape 31"/>
            <p:cNvSpPr/>
            <p:nvPr/>
          </p:nvSpPr>
          <p:spPr>
            <a:xfrm>
              <a:off x="8453880" y="21265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CustomShape 32"/>
            <p:cNvSpPr/>
            <p:nvPr/>
          </p:nvSpPr>
          <p:spPr>
            <a:xfrm>
              <a:off x="8889840" y="20350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CustomShape 33"/>
            <p:cNvSpPr/>
            <p:nvPr/>
          </p:nvSpPr>
          <p:spPr>
            <a:xfrm>
              <a:off x="7669440" y="18291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CustomShape 34"/>
            <p:cNvSpPr/>
            <p:nvPr/>
          </p:nvSpPr>
          <p:spPr>
            <a:xfrm>
              <a:off x="7732080" y="28360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CustomShape 35"/>
            <p:cNvSpPr/>
            <p:nvPr/>
          </p:nvSpPr>
          <p:spPr>
            <a:xfrm>
              <a:off x="7894800" y="19962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CustomShape 36"/>
            <p:cNvSpPr/>
            <p:nvPr/>
          </p:nvSpPr>
          <p:spPr>
            <a:xfrm>
              <a:off x="8256600" y="19353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" name="CustomShape 37"/>
            <p:cNvSpPr/>
            <p:nvPr/>
          </p:nvSpPr>
          <p:spPr>
            <a:xfrm>
              <a:off x="8148960" y="36021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CustomShape 38"/>
            <p:cNvSpPr/>
            <p:nvPr/>
          </p:nvSpPr>
          <p:spPr>
            <a:xfrm>
              <a:off x="8010000" y="29570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CustomShape 39"/>
            <p:cNvSpPr/>
            <p:nvPr/>
          </p:nvSpPr>
          <p:spPr>
            <a:xfrm>
              <a:off x="8142840" y="22590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CustomShape 40"/>
            <p:cNvSpPr/>
            <p:nvPr/>
          </p:nvSpPr>
          <p:spPr>
            <a:xfrm>
              <a:off x="8429760" y="25311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CustomShape 41"/>
            <p:cNvSpPr/>
            <p:nvPr/>
          </p:nvSpPr>
          <p:spPr>
            <a:xfrm>
              <a:off x="7673760" y="26006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CustomShape 42"/>
            <p:cNvSpPr/>
            <p:nvPr/>
          </p:nvSpPr>
          <p:spPr>
            <a:xfrm>
              <a:off x="7632000" y="20725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" name="CustomShape 43"/>
            <p:cNvSpPr/>
            <p:nvPr/>
          </p:nvSpPr>
          <p:spPr>
            <a:xfrm>
              <a:off x="9417600" y="19857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CustomShape 44"/>
            <p:cNvSpPr/>
            <p:nvPr/>
          </p:nvSpPr>
          <p:spPr>
            <a:xfrm>
              <a:off x="8223480" y="2499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CustomShape 45"/>
            <p:cNvSpPr/>
            <p:nvPr/>
          </p:nvSpPr>
          <p:spPr>
            <a:xfrm>
              <a:off x="9923760" y="26312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CustomShape 46"/>
            <p:cNvSpPr/>
            <p:nvPr/>
          </p:nvSpPr>
          <p:spPr>
            <a:xfrm>
              <a:off x="8821440" y="28314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CustomShape 47"/>
            <p:cNvSpPr/>
            <p:nvPr/>
          </p:nvSpPr>
          <p:spPr>
            <a:xfrm>
              <a:off x="9173880" y="26312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CustomShape 48"/>
            <p:cNvSpPr/>
            <p:nvPr/>
          </p:nvSpPr>
          <p:spPr>
            <a:xfrm>
              <a:off x="9528120" y="26593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CustomShape 49"/>
            <p:cNvSpPr/>
            <p:nvPr/>
          </p:nvSpPr>
          <p:spPr>
            <a:xfrm>
              <a:off x="9649080" y="23353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CustomShape 50"/>
            <p:cNvSpPr/>
            <p:nvPr/>
          </p:nvSpPr>
          <p:spPr>
            <a:xfrm>
              <a:off x="9251640" y="18943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CustomShape 51"/>
            <p:cNvSpPr/>
            <p:nvPr/>
          </p:nvSpPr>
          <p:spPr>
            <a:xfrm>
              <a:off x="8857080" y="22608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CustomShape 52"/>
            <p:cNvSpPr/>
            <p:nvPr/>
          </p:nvSpPr>
          <p:spPr>
            <a:xfrm>
              <a:off x="9293400" y="21697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CustomShape 53"/>
            <p:cNvSpPr/>
            <p:nvPr/>
          </p:nvSpPr>
          <p:spPr>
            <a:xfrm>
              <a:off x="8072640" y="1963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CustomShape 54"/>
            <p:cNvSpPr/>
            <p:nvPr/>
          </p:nvSpPr>
          <p:spPr>
            <a:xfrm>
              <a:off x="8298360" y="2130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CustomShape 55"/>
            <p:cNvSpPr/>
            <p:nvPr/>
          </p:nvSpPr>
          <p:spPr>
            <a:xfrm>
              <a:off x="8659800" y="20700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" name="CustomShape 56"/>
            <p:cNvSpPr/>
            <p:nvPr/>
          </p:nvSpPr>
          <p:spPr>
            <a:xfrm>
              <a:off x="8546400" y="23936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" name="CustomShape 57"/>
            <p:cNvSpPr/>
            <p:nvPr/>
          </p:nvSpPr>
          <p:spPr>
            <a:xfrm>
              <a:off x="8833320" y="2665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" name="CustomShape 58"/>
            <p:cNvSpPr/>
            <p:nvPr/>
          </p:nvSpPr>
          <p:spPr>
            <a:xfrm>
              <a:off x="8077320" y="27352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" name="CustomShape 59"/>
            <p:cNvSpPr/>
            <p:nvPr/>
          </p:nvSpPr>
          <p:spPr>
            <a:xfrm>
              <a:off x="8035200" y="22071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" name="CustomShape 60"/>
            <p:cNvSpPr/>
            <p:nvPr/>
          </p:nvSpPr>
          <p:spPr>
            <a:xfrm>
              <a:off x="8151840" y="36594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" name="CustomShape 61"/>
            <p:cNvSpPr/>
            <p:nvPr/>
          </p:nvSpPr>
          <p:spPr>
            <a:xfrm>
              <a:off x="9852120" y="37911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CustomShape 62"/>
            <p:cNvSpPr/>
            <p:nvPr/>
          </p:nvSpPr>
          <p:spPr>
            <a:xfrm>
              <a:off x="8749440" y="39909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CustomShape 63"/>
            <p:cNvSpPr/>
            <p:nvPr/>
          </p:nvSpPr>
          <p:spPr>
            <a:xfrm>
              <a:off x="9102240" y="37911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CustomShape 64"/>
            <p:cNvSpPr/>
            <p:nvPr/>
          </p:nvSpPr>
          <p:spPr>
            <a:xfrm>
              <a:off x="9456120" y="38188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CustomShape 65"/>
            <p:cNvSpPr/>
            <p:nvPr/>
          </p:nvSpPr>
          <p:spPr>
            <a:xfrm>
              <a:off x="9577440" y="34948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CustomShape 66"/>
            <p:cNvSpPr/>
            <p:nvPr/>
          </p:nvSpPr>
          <p:spPr>
            <a:xfrm>
              <a:off x="9180000" y="30538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CustomShape 67"/>
            <p:cNvSpPr/>
            <p:nvPr/>
          </p:nvSpPr>
          <p:spPr>
            <a:xfrm>
              <a:off x="8785440" y="34207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CustomShape 68"/>
            <p:cNvSpPr/>
            <p:nvPr/>
          </p:nvSpPr>
          <p:spPr>
            <a:xfrm>
              <a:off x="9221760" y="33296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CustomShape 69"/>
            <p:cNvSpPr/>
            <p:nvPr/>
          </p:nvSpPr>
          <p:spPr>
            <a:xfrm>
              <a:off x="8001000" y="31233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CustomShape 70"/>
            <p:cNvSpPr/>
            <p:nvPr/>
          </p:nvSpPr>
          <p:spPr>
            <a:xfrm>
              <a:off x="8226720" y="32907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CustomShape 71"/>
            <p:cNvSpPr/>
            <p:nvPr/>
          </p:nvSpPr>
          <p:spPr>
            <a:xfrm>
              <a:off x="8588160" y="32295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CustomShape 72"/>
            <p:cNvSpPr/>
            <p:nvPr/>
          </p:nvSpPr>
          <p:spPr>
            <a:xfrm>
              <a:off x="8474760" y="35532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CustomShape 73"/>
            <p:cNvSpPr/>
            <p:nvPr/>
          </p:nvSpPr>
          <p:spPr>
            <a:xfrm>
              <a:off x="8761680" y="38253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0" name="CustomShape 74"/>
            <p:cNvSpPr/>
            <p:nvPr/>
          </p:nvSpPr>
          <p:spPr>
            <a:xfrm>
              <a:off x="8005320" y="3894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1" name="CustomShape 75"/>
            <p:cNvSpPr/>
            <p:nvPr/>
          </p:nvSpPr>
          <p:spPr>
            <a:xfrm>
              <a:off x="7963560" y="33667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grpSp>
          <p:nvGrpSpPr>
            <p:cNvPr id="192" name="Group 76"/>
            <p:cNvGrpSpPr/>
            <p:nvPr/>
          </p:nvGrpSpPr>
          <p:grpSpPr>
            <a:xfrm>
              <a:off x="8916120" y="1839600"/>
              <a:ext cx="1823760" cy="1663200"/>
              <a:chOff x="8916120" y="1839600"/>
              <a:chExt cx="1823760" cy="1663200"/>
            </a:xfrm>
          </p:grpSpPr>
          <p:sp>
            <p:nvSpPr>
              <p:cNvPr id="193" name="CustomShape 77"/>
              <p:cNvSpPr/>
              <p:nvPr/>
            </p:nvSpPr>
            <p:spPr>
              <a:xfrm rot="18502800">
                <a:off x="9451800" y="31125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4" name="CustomShape 78"/>
              <p:cNvSpPr/>
              <p:nvPr/>
            </p:nvSpPr>
            <p:spPr>
              <a:xfrm rot="18502800">
                <a:off x="10610640" y="18612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5" name="CustomShape 79"/>
              <p:cNvSpPr/>
              <p:nvPr/>
            </p:nvSpPr>
            <p:spPr>
              <a:xfrm rot="18502800">
                <a:off x="10082880" y="28497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6" name="CustomShape 80"/>
              <p:cNvSpPr/>
              <p:nvPr/>
            </p:nvSpPr>
            <p:spPr>
              <a:xfrm rot="18502800">
                <a:off x="10145160" y="244908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7" name="CustomShape 81"/>
              <p:cNvSpPr/>
              <p:nvPr/>
            </p:nvSpPr>
            <p:spPr>
              <a:xfrm rot="18502800">
                <a:off x="10386720" y="21888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8" name="CustomShape 82"/>
              <p:cNvSpPr/>
              <p:nvPr/>
            </p:nvSpPr>
            <p:spPr>
              <a:xfrm rot="18502800">
                <a:off x="10207800" y="189288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99" name="CustomShape 83"/>
              <p:cNvSpPr/>
              <p:nvPr/>
            </p:nvSpPr>
            <p:spPr>
              <a:xfrm rot="18502800">
                <a:off x="9615240" y="193068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0" name="CustomShape 84"/>
              <p:cNvSpPr/>
              <p:nvPr/>
            </p:nvSpPr>
            <p:spPr>
              <a:xfrm rot="18502800">
                <a:off x="9658080" y="2467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1" name="CustomShape 85"/>
              <p:cNvSpPr/>
              <p:nvPr/>
            </p:nvSpPr>
            <p:spPr>
              <a:xfrm rot="18502800">
                <a:off x="9857520" y="20689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2" name="CustomShape 86"/>
              <p:cNvSpPr/>
              <p:nvPr/>
            </p:nvSpPr>
            <p:spPr>
              <a:xfrm rot="18502800">
                <a:off x="8937720" y="28976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3" name="CustomShape 87"/>
              <p:cNvSpPr/>
              <p:nvPr/>
            </p:nvSpPr>
            <p:spPr>
              <a:xfrm rot="18502800">
                <a:off x="9209160" y="28249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4" name="CustomShape 88"/>
              <p:cNvSpPr/>
              <p:nvPr/>
            </p:nvSpPr>
            <p:spPr>
              <a:xfrm rot="18502800">
                <a:off x="9385920" y="2503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5" name="CustomShape 89"/>
              <p:cNvSpPr/>
              <p:nvPr/>
            </p:nvSpPr>
            <p:spPr>
              <a:xfrm rot="18502800">
                <a:off x="9569160" y="27936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6" name="CustomShape 90"/>
              <p:cNvSpPr/>
              <p:nvPr/>
            </p:nvSpPr>
            <p:spPr>
              <a:xfrm rot="18502800">
                <a:off x="9960480" y="2737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7" name="CustomShape 91"/>
              <p:cNvSpPr/>
              <p:nvPr/>
            </p:nvSpPr>
            <p:spPr>
              <a:xfrm rot="18502800">
                <a:off x="9545400" y="33735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08" name="CustomShape 92"/>
              <p:cNvSpPr/>
              <p:nvPr/>
            </p:nvSpPr>
            <p:spPr>
              <a:xfrm rot="18502800">
                <a:off x="9105480" y="30783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09" name="Group 93"/>
            <p:cNvGrpSpPr/>
            <p:nvPr/>
          </p:nvGrpSpPr>
          <p:grpSpPr>
            <a:xfrm>
              <a:off x="9552960" y="2690640"/>
              <a:ext cx="1093680" cy="1963440"/>
              <a:chOff x="9552960" y="2690640"/>
              <a:chExt cx="1093680" cy="1963440"/>
            </a:xfrm>
          </p:grpSpPr>
          <p:sp>
            <p:nvSpPr>
              <p:cNvPr id="210" name="CustomShape 94"/>
              <p:cNvSpPr/>
              <p:nvPr/>
            </p:nvSpPr>
            <p:spPr>
              <a:xfrm rot="16724400">
                <a:off x="10113120" y="43585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1" name="CustomShape 95"/>
              <p:cNvSpPr/>
              <p:nvPr/>
            </p:nvSpPr>
            <p:spPr>
              <a:xfrm rot="16724400">
                <a:off x="10501560" y="26982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2" name="CustomShape 96"/>
              <p:cNvSpPr/>
              <p:nvPr/>
            </p:nvSpPr>
            <p:spPr>
              <a:xfrm rot="16724400">
                <a:off x="10531440" y="38185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3" name="CustomShape 97"/>
              <p:cNvSpPr/>
              <p:nvPr/>
            </p:nvSpPr>
            <p:spPr>
              <a:xfrm rot="16724400">
                <a:off x="10387440" y="3439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4" name="CustomShape 98"/>
              <p:cNvSpPr/>
              <p:nvPr/>
            </p:nvSpPr>
            <p:spPr>
              <a:xfrm rot="16724400">
                <a:off x="10468800" y="30938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5" name="CustomShape 99"/>
              <p:cNvSpPr/>
              <p:nvPr/>
            </p:nvSpPr>
            <p:spPr>
              <a:xfrm rot="16724400">
                <a:off x="10167120" y="29250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6" name="CustomShape 100"/>
              <p:cNvSpPr/>
              <p:nvPr/>
            </p:nvSpPr>
            <p:spPr>
              <a:xfrm rot="16724400">
                <a:off x="9670680" y="3250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7" name="CustomShape 101"/>
              <p:cNvSpPr/>
              <p:nvPr/>
            </p:nvSpPr>
            <p:spPr>
              <a:xfrm rot="16724400">
                <a:off x="9973440" y="36961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8" name="CustomShape 102"/>
              <p:cNvSpPr/>
              <p:nvPr/>
            </p:nvSpPr>
            <p:spPr>
              <a:xfrm rot="16724400">
                <a:off x="9949680" y="32511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19" name="CustomShape 103"/>
              <p:cNvSpPr/>
              <p:nvPr/>
            </p:nvSpPr>
            <p:spPr>
              <a:xfrm rot="16724400">
                <a:off x="9560160" y="44262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0" name="CustomShape 104"/>
              <p:cNvSpPr/>
              <p:nvPr/>
            </p:nvSpPr>
            <p:spPr>
              <a:xfrm rot="16724400">
                <a:off x="9759960" y="42289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1" name="CustomShape 105"/>
              <p:cNvSpPr/>
              <p:nvPr/>
            </p:nvSpPr>
            <p:spPr>
              <a:xfrm rot="16724400">
                <a:off x="9754560" y="386208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2" name="CustomShape 106"/>
              <p:cNvSpPr/>
              <p:nvPr/>
            </p:nvSpPr>
            <p:spPr>
              <a:xfrm rot="16724400">
                <a:off x="10057320" y="40237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3" name="CustomShape 107"/>
              <p:cNvSpPr/>
              <p:nvPr/>
            </p:nvSpPr>
            <p:spPr>
              <a:xfrm rot="16724400">
                <a:off x="10369800" y="3781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4" name="CustomShape 108"/>
              <p:cNvSpPr/>
              <p:nvPr/>
            </p:nvSpPr>
            <p:spPr>
              <a:xfrm rot="16724400">
                <a:off x="10323720" y="45392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5" name="CustomShape 109"/>
              <p:cNvSpPr/>
              <p:nvPr/>
            </p:nvSpPr>
            <p:spPr>
              <a:xfrm rot="16724400">
                <a:off x="9795240" y="45003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26" name="Group 110"/>
            <p:cNvGrpSpPr/>
            <p:nvPr/>
          </p:nvGrpSpPr>
          <p:grpSpPr>
            <a:xfrm>
              <a:off x="7600320" y="3630960"/>
              <a:ext cx="1995840" cy="1044360"/>
              <a:chOff x="7600320" y="3630960"/>
              <a:chExt cx="1995840" cy="1044360"/>
            </a:xfrm>
          </p:grpSpPr>
          <p:sp>
            <p:nvSpPr>
              <p:cNvPr id="227" name="CustomShape 111"/>
              <p:cNvSpPr/>
              <p:nvPr/>
            </p:nvSpPr>
            <p:spPr>
              <a:xfrm>
                <a:off x="7788600" y="42368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8" name="CustomShape 112"/>
              <p:cNvSpPr/>
              <p:nvPr/>
            </p:nvSpPr>
            <p:spPr>
              <a:xfrm>
                <a:off x="9488880" y="43682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29" name="CustomShape 113"/>
              <p:cNvSpPr/>
              <p:nvPr/>
            </p:nvSpPr>
            <p:spPr>
              <a:xfrm>
                <a:off x="8386200" y="45680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0" name="CustomShape 114"/>
              <p:cNvSpPr/>
              <p:nvPr/>
            </p:nvSpPr>
            <p:spPr>
              <a:xfrm>
                <a:off x="8739000" y="43682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1" name="CustomShape 115"/>
              <p:cNvSpPr/>
              <p:nvPr/>
            </p:nvSpPr>
            <p:spPr>
              <a:xfrm>
                <a:off x="9092880" y="43959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2" name="CustomShape 116"/>
              <p:cNvSpPr/>
              <p:nvPr/>
            </p:nvSpPr>
            <p:spPr>
              <a:xfrm>
                <a:off x="9213840" y="40719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3" name="CustomShape 117"/>
              <p:cNvSpPr/>
              <p:nvPr/>
            </p:nvSpPr>
            <p:spPr>
              <a:xfrm>
                <a:off x="8816400" y="36309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4" name="CustomShape 118"/>
              <p:cNvSpPr/>
              <p:nvPr/>
            </p:nvSpPr>
            <p:spPr>
              <a:xfrm>
                <a:off x="8422200" y="39978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5" name="CustomShape 119"/>
              <p:cNvSpPr/>
              <p:nvPr/>
            </p:nvSpPr>
            <p:spPr>
              <a:xfrm>
                <a:off x="8858520" y="39067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6" name="CustomShape 120"/>
              <p:cNvSpPr/>
              <p:nvPr/>
            </p:nvSpPr>
            <p:spPr>
              <a:xfrm>
                <a:off x="7637760" y="3700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7" name="CustomShape 121"/>
              <p:cNvSpPr/>
              <p:nvPr/>
            </p:nvSpPr>
            <p:spPr>
              <a:xfrm>
                <a:off x="7863480" y="38678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8" name="CustomShape 122"/>
              <p:cNvSpPr/>
              <p:nvPr/>
            </p:nvSpPr>
            <p:spPr>
              <a:xfrm>
                <a:off x="8224920" y="38066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39" name="CustomShape 123"/>
              <p:cNvSpPr/>
              <p:nvPr/>
            </p:nvSpPr>
            <p:spPr>
              <a:xfrm>
                <a:off x="8111520" y="413028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0" name="CustomShape 124"/>
              <p:cNvSpPr/>
              <p:nvPr/>
            </p:nvSpPr>
            <p:spPr>
              <a:xfrm>
                <a:off x="8398080" y="4402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1" name="CustomShape 125"/>
              <p:cNvSpPr/>
              <p:nvPr/>
            </p:nvSpPr>
            <p:spPr>
              <a:xfrm>
                <a:off x="7642080" y="44719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2" name="CustomShape 126"/>
              <p:cNvSpPr/>
              <p:nvPr/>
            </p:nvSpPr>
            <p:spPr>
              <a:xfrm>
                <a:off x="7600320" y="39438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243" name="Group 127"/>
            <p:cNvGrpSpPr/>
            <p:nvPr/>
          </p:nvGrpSpPr>
          <p:grpSpPr>
            <a:xfrm>
              <a:off x="8160120" y="2748960"/>
              <a:ext cx="1995840" cy="1044360"/>
              <a:chOff x="8160120" y="2748960"/>
              <a:chExt cx="1995840" cy="1044360"/>
            </a:xfrm>
          </p:grpSpPr>
          <p:sp>
            <p:nvSpPr>
              <p:cNvPr id="244" name="CustomShape 128"/>
              <p:cNvSpPr/>
              <p:nvPr/>
            </p:nvSpPr>
            <p:spPr>
              <a:xfrm>
                <a:off x="8348400" y="33548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5" name="CustomShape 129"/>
              <p:cNvSpPr/>
              <p:nvPr/>
            </p:nvSpPr>
            <p:spPr>
              <a:xfrm>
                <a:off x="10048680" y="34862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6" name="CustomShape 130"/>
              <p:cNvSpPr/>
              <p:nvPr/>
            </p:nvSpPr>
            <p:spPr>
              <a:xfrm>
                <a:off x="8946000" y="36860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7" name="CustomShape 131"/>
              <p:cNvSpPr/>
              <p:nvPr/>
            </p:nvSpPr>
            <p:spPr>
              <a:xfrm>
                <a:off x="9298800" y="34862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8" name="CustomShape 132"/>
              <p:cNvSpPr/>
              <p:nvPr/>
            </p:nvSpPr>
            <p:spPr>
              <a:xfrm>
                <a:off x="9652680" y="35139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49" name="CustomShape 133"/>
              <p:cNvSpPr/>
              <p:nvPr/>
            </p:nvSpPr>
            <p:spPr>
              <a:xfrm>
                <a:off x="9774000" y="31899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0" name="CustomShape 134"/>
              <p:cNvSpPr/>
              <p:nvPr/>
            </p:nvSpPr>
            <p:spPr>
              <a:xfrm>
                <a:off x="9376560" y="274896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1" name="CustomShape 135"/>
              <p:cNvSpPr/>
              <p:nvPr/>
            </p:nvSpPr>
            <p:spPr>
              <a:xfrm>
                <a:off x="8982000" y="31158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2" name="CustomShape 136"/>
              <p:cNvSpPr/>
              <p:nvPr/>
            </p:nvSpPr>
            <p:spPr>
              <a:xfrm>
                <a:off x="9418320" y="30247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3" name="CustomShape 137"/>
              <p:cNvSpPr/>
              <p:nvPr/>
            </p:nvSpPr>
            <p:spPr>
              <a:xfrm>
                <a:off x="8197560" y="2818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4" name="CustomShape 138"/>
              <p:cNvSpPr/>
              <p:nvPr/>
            </p:nvSpPr>
            <p:spPr>
              <a:xfrm>
                <a:off x="8423280" y="29858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5" name="CustomShape 139"/>
              <p:cNvSpPr/>
              <p:nvPr/>
            </p:nvSpPr>
            <p:spPr>
              <a:xfrm>
                <a:off x="8784720" y="29246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6" name="CustomShape 140"/>
              <p:cNvSpPr/>
              <p:nvPr/>
            </p:nvSpPr>
            <p:spPr>
              <a:xfrm>
                <a:off x="8671320" y="324828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7" name="CustomShape 141"/>
              <p:cNvSpPr/>
              <p:nvPr/>
            </p:nvSpPr>
            <p:spPr>
              <a:xfrm>
                <a:off x="8957880" y="352044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8" name="CustomShape 142"/>
              <p:cNvSpPr/>
              <p:nvPr/>
            </p:nvSpPr>
            <p:spPr>
              <a:xfrm>
                <a:off x="8201880" y="358992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259" name="CustomShape 143"/>
              <p:cNvSpPr/>
              <p:nvPr/>
            </p:nvSpPr>
            <p:spPr>
              <a:xfrm>
                <a:off x="8160120" y="3061800"/>
                <a:ext cx="107280" cy="107280"/>
              </a:xfrm>
              <a:prstGeom prst="ellipse">
                <a:avLst/>
              </a:prstGeom>
              <a:solidFill>
                <a:srgbClr val="ff0000"/>
              </a:solidFill>
              <a:ln w="25560">
                <a:solidFill>
                  <a:srgbClr val="ff000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7" dur="indefinite" restart="never" nodeType="tmRoot">
          <p:childTnLst>
            <p:seq>
              <p:cTn id="98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5;p6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261" name="CustomShape 1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CustomShape 2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CustomShape 3"/>
          <p:cNvSpPr/>
          <p:nvPr/>
        </p:nvSpPr>
        <p:spPr>
          <a:xfrm>
            <a:off x="139680" y="29520"/>
            <a:ext cx="10983600" cy="1553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Sampling – Approximating the Posterior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64" name="CustomShape 4"/>
          <p:cNvSpPr/>
          <p:nvPr/>
        </p:nvSpPr>
        <p:spPr>
          <a:xfrm>
            <a:off x="8074080" y="2151360"/>
            <a:ext cx="2258640" cy="1637280"/>
          </a:xfrm>
          <a:prstGeom prst="ellipse">
            <a:avLst/>
          </a:prstGeom>
          <a:noFill/>
          <a:ln w="255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5" name="CustomShape 5"/>
          <p:cNvSpPr/>
          <p:nvPr/>
        </p:nvSpPr>
        <p:spPr>
          <a:xfrm>
            <a:off x="7497360" y="1691280"/>
            <a:ext cx="3271680" cy="3038400"/>
          </a:xfrm>
          <a:prstGeom prst="rect">
            <a:avLst/>
          </a:prstGeom>
          <a:noFill/>
          <a:ln w="255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6" name="CustomShape 6"/>
          <p:cNvSpPr/>
          <p:nvPr/>
        </p:nvSpPr>
        <p:spPr>
          <a:xfrm>
            <a:off x="8647920" y="33843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7" name="CustomShape 7"/>
          <p:cNvSpPr/>
          <p:nvPr/>
        </p:nvSpPr>
        <p:spPr>
          <a:xfrm>
            <a:off x="9511560" y="33307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8" name="CustomShape 8"/>
          <p:cNvSpPr/>
          <p:nvPr/>
        </p:nvSpPr>
        <p:spPr>
          <a:xfrm>
            <a:off x="9093240" y="35470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9" name="CustomShape 9"/>
          <p:cNvSpPr/>
          <p:nvPr/>
        </p:nvSpPr>
        <p:spPr>
          <a:xfrm>
            <a:off x="7820280" y="23652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0" name="CustomShape 10"/>
          <p:cNvSpPr/>
          <p:nvPr/>
        </p:nvSpPr>
        <p:spPr>
          <a:xfrm>
            <a:off x="9520560" y="24966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CustomShape 11"/>
          <p:cNvSpPr/>
          <p:nvPr/>
        </p:nvSpPr>
        <p:spPr>
          <a:xfrm>
            <a:off x="8364240" y="31748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2" name="CustomShape 12"/>
          <p:cNvSpPr/>
          <p:nvPr/>
        </p:nvSpPr>
        <p:spPr>
          <a:xfrm>
            <a:off x="8876520" y="27608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CustomShape 13"/>
          <p:cNvSpPr/>
          <p:nvPr/>
        </p:nvSpPr>
        <p:spPr>
          <a:xfrm>
            <a:off x="9311400" y="29674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4" name="CustomShape 14"/>
          <p:cNvSpPr/>
          <p:nvPr/>
        </p:nvSpPr>
        <p:spPr>
          <a:xfrm>
            <a:off x="8417880" y="26967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5" name="CustomShape 15"/>
          <p:cNvSpPr/>
          <p:nvPr/>
        </p:nvSpPr>
        <p:spPr>
          <a:xfrm>
            <a:off x="8770320" y="24966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CustomShape 16"/>
          <p:cNvSpPr/>
          <p:nvPr/>
        </p:nvSpPr>
        <p:spPr>
          <a:xfrm>
            <a:off x="8794440" y="30751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7" name="CustomShape 17"/>
          <p:cNvSpPr/>
          <p:nvPr/>
        </p:nvSpPr>
        <p:spPr>
          <a:xfrm>
            <a:off x="9124560" y="25246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CustomShape 18"/>
          <p:cNvSpPr/>
          <p:nvPr/>
        </p:nvSpPr>
        <p:spPr>
          <a:xfrm>
            <a:off x="9825480" y="29570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79" name="CustomShape 19"/>
          <p:cNvSpPr/>
          <p:nvPr/>
        </p:nvSpPr>
        <p:spPr>
          <a:xfrm>
            <a:off x="7793280" y="31388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0" name="CustomShape 20"/>
          <p:cNvSpPr/>
          <p:nvPr/>
        </p:nvSpPr>
        <p:spPr>
          <a:xfrm>
            <a:off x="7739640" y="34934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CustomShape 21"/>
          <p:cNvSpPr/>
          <p:nvPr/>
        </p:nvSpPr>
        <p:spPr>
          <a:xfrm>
            <a:off x="8417880" y="39052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2" name="CustomShape 22"/>
          <p:cNvSpPr/>
          <p:nvPr/>
        </p:nvSpPr>
        <p:spPr>
          <a:xfrm>
            <a:off x="7960680" y="38228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CustomShape 23"/>
          <p:cNvSpPr/>
          <p:nvPr/>
        </p:nvSpPr>
        <p:spPr>
          <a:xfrm>
            <a:off x="8540280" y="41792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4" name="CustomShape 24"/>
          <p:cNvSpPr/>
          <p:nvPr/>
        </p:nvSpPr>
        <p:spPr>
          <a:xfrm>
            <a:off x="9185760" y="41810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5" name="CustomShape 25"/>
          <p:cNvSpPr/>
          <p:nvPr/>
        </p:nvSpPr>
        <p:spPr>
          <a:xfrm>
            <a:off x="10043280" y="42494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CustomShape 26"/>
          <p:cNvSpPr/>
          <p:nvPr/>
        </p:nvSpPr>
        <p:spPr>
          <a:xfrm>
            <a:off x="7862040" y="44967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7" name="CustomShape 27"/>
          <p:cNvSpPr/>
          <p:nvPr/>
        </p:nvSpPr>
        <p:spPr>
          <a:xfrm>
            <a:off x="9245520" y="22006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CustomShape 28"/>
          <p:cNvSpPr/>
          <p:nvPr/>
        </p:nvSpPr>
        <p:spPr>
          <a:xfrm>
            <a:off x="8848080" y="17596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89" name="CustomShape 29"/>
          <p:cNvSpPr/>
          <p:nvPr/>
        </p:nvSpPr>
        <p:spPr>
          <a:xfrm>
            <a:off x="8453880" y="21265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0" name="CustomShape 30"/>
          <p:cNvSpPr/>
          <p:nvPr/>
        </p:nvSpPr>
        <p:spPr>
          <a:xfrm>
            <a:off x="8889840" y="20350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CustomShape 31"/>
          <p:cNvSpPr/>
          <p:nvPr/>
        </p:nvSpPr>
        <p:spPr>
          <a:xfrm>
            <a:off x="7669440" y="18291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2" name="CustomShape 32"/>
          <p:cNvSpPr/>
          <p:nvPr/>
        </p:nvSpPr>
        <p:spPr>
          <a:xfrm>
            <a:off x="7732080" y="28360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CustomShape 33"/>
          <p:cNvSpPr/>
          <p:nvPr/>
        </p:nvSpPr>
        <p:spPr>
          <a:xfrm>
            <a:off x="7894800" y="19962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4" name="CustomShape 34"/>
          <p:cNvSpPr/>
          <p:nvPr/>
        </p:nvSpPr>
        <p:spPr>
          <a:xfrm>
            <a:off x="8256600" y="19353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5" name="CustomShape 35"/>
          <p:cNvSpPr/>
          <p:nvPr/>
        </p:nvSpPr>
        <p:spPr>
          <a:xfrm>
            <a:off x="8148960" y="36021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CustomShape 36"/>
          <p:cNvSpPr/>
          <p:nvPr/>
        </p:nvSpPr>
        <p:spPr>
          <a:xfrm>
            <a:off x="8010000" y="29570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7" name="CustomShape 37"/>
          <p:cNvSpPr/>
          <p:nvPr/>
        </p:nvSpPr>
        <p:spPr>
          <a:xfrm>
            <a:off x="8142840" y="22590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ustomShape 38"/>
          <p:cNvSpPr/>
          <p:nvPr/>
        </p:nvSpPr>
        <p:spPr>
          <a:xfrm>
            <a:off x="8429760" y="25311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CustomShape 39"/>
          <p:cNvSpPr/>
          <p:nvPr/>
        </p:nvSpPr>
        <p:spPr>
          <a:xfrm>
            <a:off x="7673760" y="26006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CustomShape 40"/>
          <p:cNvSpPr/>
          <p:nvPr/>
        </p:nvSpPr>
        <p:spPr>
          <a:xfrm>
            <a:off x="7632000" y="20725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1" name="CustomShape 41"/>
          <p:cNvSpPr/>
          <p:nvPr/>
        </p:nvSpPr>
        <p:spPr>
          <a:xfrm>
            <a:off x="9417600" y="19857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2" name="CustomShape 42"/>
          <p:cNvSpPr/>
          <p:nvPr/>
        </p:nvSpPr>
        <p:spPr>
          <a:xfrm>
            <a:off x="8223480" y="24998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CustomShape 43"/>
          <p:cNvSpPr/>
          <p:nvPr/>
        </p:nvSpPr>
        <p:spPr>
          <a:xfrm>
            <a:off x="9923760" y="26312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4" name="CustomShape 44"/>
          <p:cNvSpPr/>
          <p:nvPr/>
        </p:nvSpPr>
        <p:spPr>
          <a:xfrm>
            <a:off x="8821440" y="28314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CustomShape 45"/>
          <p:cNvSpPr/>
          <p:nvPr/>
        </p:nvSpPr>
        <p:spPr>
          <a:xfrm>
            <a:off x="9173880" y="26312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CustomShape 46"/>
          <p:cNvSpPr/>
          <p:nvPr/>
        </p:nvSpPr>
        <p:spPr>
          <a:xfrm>
            <a:off x="9528120" y="26593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7" name="CustomShape 47"/>
          <p:cNvSpPr/>
          <p:nvPr/>
        </p:nvSpPr>
        <p:spPr>
          <a:xfrm>
            <a:off x="9649080" y="23353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CustomShape 48"/>
          <p:cNvSpPr/>
          <p:nvPr/>
        </p:nvSpPr>
        <p:spPr>
          <a:xfrm>
            <a:off x="9251640" y="18943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CustomShape 49"/>
          <p:cNvSpPr/>
          <p:nvPr/>
        </p:nvSpPr>
        <p:spPr>
          <a:xfrm>
            <a:off x="8857080" y="22608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0" name="CustomShape 50"/>
          <p:cNvSpPr/>
          <p:nvPr/>
        </p:nvSpPr>
        <p:spPr>
          <a:xfrm>
            <a:off x="9293400" y="21697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CustomShape 51"/>
          <p:cNvSpPr/>
          <p:nvPr/>
        </p:nvSpPr>
        <p:spPr>
          <a:xfrm>
            <a:off x="8072640" y="19634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CustomShape 52"/>
          <p:cNvSpPr/>
          <p:nvPr/>
        </p:nvSpPr>
        <p:spPr>
          <a:xfrm>
            <a:off x="8298360" y="21308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CustomShape 53"/>
          <p:cNvSpPr/>
          <p:nvPr/>
        </p:nvSpPr>
        <p:spPr>
          <a:xfrm>
            <a:off x="8659800" y="20700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4" name="CustomShape 54"/>
          <p:cNvSpPr/>
          <p:nvPr/>
        </p:nvSpPr>
        <p:spPr>
          <a:xfrm>
            <a:off x="8546400" y="23936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CustomShape 55"/>
          <p:cNvSpPr/>
          <p:nvPr/>
        </p:nvSpPr>
        <p:spPr>
          <a:xfrm>
            <a:off x="8833320" y="26654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6" name="CustomShape 56"/>
          <p:cNvSpPr/>
          <p:nvPr/>
        </p:nvSpPr>
        <p:spPr>
          <a:xfrm>
            <a:off x="8077320" y="27352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CustomShape 57"/>
          <p:cNvSpPr/>
          <p:nvPr/>
        </p:nvSpPr>
        <p:spPr>
          <a:xfrm>
            <a:off x="8035200" y="22071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8" name="CustomShape 58"/>
          <p:cNvSpPr/>
          <p:nvPr/>
        </p:nvSpPr>
        <p:spPr>
          <a:xfrm>
            <a:off x="8151840" y="36594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CustomShape 59"/>
          <p:cNvSpPr/>
          <p:nvPr/>
        </p:nvSpPr>
        <p:spPr>
          <a:xfrm>
            <a:off x="9852120" y="37911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CustomShape 60"/>
          <p:cNvSpPr/>
          <p:nvPr/>
        </p:nvSpPr>
        <p:spPr>
          <a:xfrm>
            <a:off x="8749440" y="39909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CustomShape 61"/>
          <p:cNvSpPr/>
          <p:nvPr/>
        </p:nvSpPr>
        <p:spPr>
          <a:xfrm>
            <a:off x="9102240" y="37911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ustomShape 62"/>
          <p:cNvSpPr/>
          <p:nvPr/>
        </p:nvSpPr>
        <p:spPr>
          <a:xfrm>
            <a:off x="9456120" y="38188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CustomShape 63"/>
          <p:cNvSpPr/>
          <p:nvPr/>
        </p:nvSpPr>
        <p:spPr>
          <a:xfrm>
            <a:off x="9577440" y="34948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CustomShape 64"/>
          <p:cNvSpPr/>
          <p:nvPr/>
        </p:nvSpPr>
        <p:spPr>
          <a:xfrm>
            <a:off x="9180000" y="305388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CustomShape 65"/>
          <p:cNvSpPr/>
          <p:nvPr/>
        </p:nvSpPr>
        <p:spPr>
          <a:xfrm>
            <a:off x="8785440" y="34207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CustomShape 66"/>
          <p:cNvSpPr/>
          <p:nvPr/>
        </p:nvSpPr>
        <p:spPr>
          <a:xfrm>
            <a:off x="9221760" y="33296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CustomShape 67"/>
          <p:cNvSpPr/>
          <p:nvPr/>
        </p:nvSpPr>
        <p:spPr>
          <a:xfrm>
            <a:off x="8001000" y="31233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CustomShape 68"/>
          <p:cNvSpPr/>
          <p:nvPr/>
        </p:nvSpPr>
        <p:spPr>
          <a:xfrm>
            <a:off x="8226720" y="32907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29" name="CustomShape 69"/>
          <p:cNvSpPr/>
          <p:nvPr/>
        </p:nvSpPr>
        <p:spPr>
          <a:xfrm>
            <a:off x="8588160" y="32295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CustomShape 70"/>
          <p:cNvSpPr/>
          <p:nvPr/>
        </p:nvSpPr>
        <p:spPr>
          <a:xfrm>
            <a:off x="8474760" y="355320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1" name="CustomShape 71"/>
          <p:cNvSpPr/>
          <p:nvPr/>
        </p:nvSpPr>
        <p:spPr>
          <a:xfrm>
            <a:off x="8761680" y="382536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2" name="CustomShape 72"/>
          <p:cNvSpPr/>
          <p:nvPr/>
        </p:nvSpPr>
        <p:spPr>
          <a:xfrm>
            <a:off x="8005320" y="389484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33" name="CustomShape 73"/>
          <p:cNvSpPr/>
          <p:nvPr/>
        </p:nvSpPr>
        <p:spPr>
          <a:xfrm>
            <a:off x="7963560" y="3366720"/>
            <a:ext cx="107280" cy="107280"/>
          </a:xfrm>
          <a:prstGeom prst="ellipse">
            <a:avLst/>
          </a:prstGeom>
          <a:solidFill>
            <a:srgbClr val="ff0000"/>
          </a:solidFill>
          <a:ln w="2556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334" name="Group 74"/>
          <p:cNvGrpSpPr/>
          <p:nvPr/>
        </p:nvGrpSpPr>
        <p:grpSpPr>
          <a:xfrm>
            <a:off x="8916120" y="1839600"/>
            <a:ext cx="1823760" cy="1663200"/>
            <a:chOff x="8916120" y="1839600"/>
            <a:chExt cx="1823760" cy="1663200"/>
          </a:xfrm>
        </p:grpSpPr>
        <p:sp>
          <p:nvSpPr>
            <p:cNvPr id="335" name="CustomShape 75"/>
            <p:cNvSpPr/>
            <p:nvPr/>
          </p:nvSpPr>
          <p:spPr>
            <a:xfrm rot="18502800">
              <a:off x="9451800" y="31125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6" name="CustomShape 76"/>
            <p:cNvSpPr/>
            <p:nvPr/>
          </p:nvSpPr>
          <p:spPr>
            <a:xfrm rot="18502800">
              <a:off x="10610640" y="18612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7" name="CustomShape 77"/>
            <p:cNvSpPr/>
            <p:nvPr/>
          </p:nvSpPr>
          <p:spPr>
            <a:xfrm rot="18502800">
              <a:off x="10082880" y="28497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CustomShape 78"/>
            <p:cNvSpPr/>
            <p:nvPr/>
          </p:nvSpPr>
          <p:spPr>
            <a:xfrm rot="18502800">
              <a:off x="10145160" y="24490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9" name="CustomShape 79"/>
            <p:cNvSpPr/>
            <p:nvPr/>
          </p:nvSpPr>
          <p:spPr>
            <a:xfrm rot="18502800">
              <a:off x="10386720" y="21888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0" name="CustomShape 80"/>
            <p:cNvSpPr/>
            <p:nvPr/>
          </p:nvSpPr>
          <p:spPr>
            <a:xfrm rot="18502800">
              <a:off x="10207800" y="18928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1" name="CustomShape 81"/>
            <p:cNvSpPr/>
            <p:nvPr/>
          </p:nvSpPr>
          <p:spPr>
            <a:xfrm rot="18502800">
              <a:off x="9615240" y="19306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2" name="CustomShape 82"/>
            <p:cNvSpPr/>
            <p:nvPr/>
          </p:nvSpPr>
          <p:spPr>
            <a:xfrm rot="18502800">
              <a:off x="9658080" y="2467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3" name="CustomShape 83"/>
            <p:cNvSpPr/>
            <p:nvPr/>
          </p:nvSpPr>
          <p:spPr>
            <a:xfrm rot="18502800">
              <a:off x="9857520" y="20689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4" name="CustomShape 84"/>
            <p:cNvSpPr/>
            <p:nvPr/>
          </p:nvSpPr>
          <p:spPr>
            <a:xfrm rot="18502800">
              <a:off x="8937720" y="28976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5" name="CustomShape 85"/>
            <p:cNvSpPr/>
            <p:nvPr/>
          </p:nvSpPr>
          <p:spPr>
            <a:xfrm rot="18502800">
              <a:off x="9209160" y="28249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6" name="CustomShape 86"/>
            <p:cNvSpPr/>
            <p:nvPr/>
          </p:nvSpPr>
          <p:spPr>
            <a:xfrm rot="18502800">
              <a:off x="9385920" y="2503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7" name="CustomShape 87"/>
            <p:cNvSpPr/>
            <p:nvPr/>
          </p:nvSpPr>
          <p:spPr>
            <a:xfrm rot="18502800">
              <a:off x="9569160" y="27936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8" name="CustomShape 88"/>
            <p:cNvSpPr/>
            <p:nvPr/>
          </p:nvSpPr>
          <p:spPr>
            <a:xfrm rot="18502800">
              <a:off x="9960480" y="2737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9" name="CustomShape 89"/>
            <p:cNvSpPr/>
            <p:nvPr/>
          </p:nvSpPr>
          <p:spPr>
            <a:xfrm rot="18502800">
              <a:off x="9545400" y="33735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CustomShape 90"/>
            <p:cNvSpPr/>
            <p:nvPr/>
          </p:nvSpPr>
          <p:spPr>
            <a:xfrm rot="18502800">
              <a:off x="9105480" y="30783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1" name="Group 91"/>
          <p:cNvGrpSpPr/>
          <p:nvPr/>
        </p:nvGrpSpPr>
        <p:grpSpPr>
          <a:xfrm>
            <a:off x="9552960" y="2690640"/>
            <a:ext cx="1093680" cy="1963440"/>
            <a:chOff x="9552960" y="2690640"/>
            <a:chExt cx="1093680" cy="1963440"/>
          </a:xfrm>
        </p:grpSpPr>
        <p:sp>
          <p:nvSpPr>
            <p:cNvPr id="352" name="CustomShape 92"/>
            <p:cNvSpPr/>
            <p:nvPr/>
          </p:nvSpPr>
          <p:spPr>
            <a:xfrm rot="16724400">
              <a:off x="10113120" y="43585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3" name="CustomShape 93"/>
            <p:cNvSpPr/>
            <p:nvPr/>
          </p:nvSpPr>
          <p:spPr>
            <a:xfrm rot="16724400">
              <a:off x="10501560" y="26982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4" name="CustomShape 94"/>
            <p:cNvSpPr/>
            <p:nvPr/>
          </p:nvSpPr>
          <p:spPr>
            <a:xfrm rot="16724400">
              <a:off x="10531440" y="38185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CustomShape 95"/>
            <p:cNvSpPr/>
            <p:nvPr/>
          </p:nvSpPr>
          <p:spPr>
            <a:xfrm rot="16724400">
              <a:off x="10387440" y="3439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6" name="CustomShape 96"/>
            <p:cNvSpPr/>
            <p:nvPr/>
          </p:nvSpPr>
          <p:spPr>
            <a:xfrm rot="16724400">
              <a:off x="10468800" y="3093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7" name="CustomShape 97"/>
            <p:cNvSpPr/>
            <p:nvPr/>
          </p:nvSpPr>
          <p:spPr>
            <a:xfrm rot="16724400">
              <a:off x="10167120" y="29250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8" name="CustomShape 98"/>
            <p:cNvSpPr/>
            <p:nvPr/>
          </p:nvSpPr>
          <p:spPr>
            <a:xfrm rot="16724400">
              <a:off x="9670680" y="3250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9" name="CustomShape 99"/>
            <p:cNvSpPr/>
            <p:nvPr/>
          </p:nvSpPr>
          <p:spPr>
            <a:xfrm rot="16724400">
              <a:off x="9973440" y="36961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0" name="CustomShape 100"/>
            <p:cNvSpPr/>
            <p:nvPr/>
          </p:nvSpPr>
          <p:spPr>
            <a:xfrm rot="16724400">
              <a:off x="9949680" y="32511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1" name="CustomShape 101"/>
            <p:cNvSpPr/>
            <p:nvPr/>
          </p:nvSpPr>
          <p:spPr>
            <a:xfrm rot="16724400">
              <a:off x="9560160" y="44262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2" name="CustomShape 102"/>
            <p:cNvSpPr/>
            <p:nvPr/>
          </p:nvSpPr>
          <p:spPr>
            <a:xfrm rot="16724400">
              <a:off x="9759960" y="42289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3" name="CustomShape 103"/>
            <p:cNvSpPr/>
            <p:nvPr/>
          </p:nvSpPr>
          <p:spPr>
            <a:xfrm rot="16724400">
              <a:off x="9754560" y="38620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4" name="CustomShape 104"/>
            <p:cNvSpPr/>
            <p:nvPr/>
          </p:nvSpPr>
          <p:spPr>
            <a:xfrm rot="16724400">
              <a:off x="10057320" y="40237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5" name="CustomShape 105"/>
            <p:cNvSpPr/>
            <p:nvPr/>
          </p:nvSpPr>
          <p:spPr>
            <a:xfrm rot="16724400">
              <a:off x="10369800" y="3781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6" name="CustomShape 106"/>
            <p:cNvSpPr/>
            <p:nvPr/>
          </p:nvSpPr>
          <p:spPr>
            <a:xfrm rot="16724400">
              <a:off x="10323720" y="45392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" name="CustomShape 107"/>
            <p:cNvSpPr/>
            <p:nvPr/>
          </p:nvSpPr>
          <p:spPr>
            <a:xfrm rot="16724400">
              <a:off x="9795240" y="45003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68" name="Group 108"/>
          <p:cNvGrpSpPr/>
          <p:nvPr/>
        </p:nvGrpSpPr>
        <p:grpSpPr>
          <a:xfrm>
            <a:off x="7600320" y="3630960"/>
            <a:ext cx="1995840" cy="1044360"/>
            <a:chOff x="7600320" y="3630960"/>
            <a:chExt cx="1995840" cy="1044360"/>
          </a:xfrm>
        </p:grpSpPr>
        <p:sp>
          <p:nvSpPr>
            <p:cNvPr id="369" name="CustomShape 109"/>
            <p:cNvSpPr/>
            <p:nvPr/>
          </p:nvSpPr>
          <p:spPr>
            <a:xfrm>
              <a:off x="7788600" y="4236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0" name="CustomShape 110"/>
            <p:cNvSpPr/>
            <p:nvPr/>
          </p:nvSpPr>
          <p:spPr>
            <a:xfrm>
              <a:off x="9488880" y="43682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1" name="CustomShape 111"/>
            <p:cNvSpPr/>
            <p:nvPr/>
          </p:nvSpPr>
          <p:spPr>
            <a:xfrm>
              <a:off x="8386200" y="45680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" name="CustomShape 112"/>
            <p:cNvSpPr/>
            <p:nvPr/>
          </p:nvSpPr>
          <p:spPr>
            <a:xfrm>
              <a:off x="8739000" y="43682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3" name="CustomShape 113"/>
            <p:cNvSpPr/>
            <p:nvPr/>
          </p:nvSpPr>
          <p:spPr>
            <a:xfrm>
              <a:off x="9092880" y="43959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4" name="CustomShape 114"/>
            <p:cNvSpPr/>
            <p:nvPr/>
          </p:nvSpPr>
          <p:spPr>
            <a:xfrm>
              <a:off x="9213840" y="40719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5" name="CustomShape 115"/>
            <p:cNvSpPr/>
            <p:nvPr/>
          </p:nvSpPr>
          <p:spPr>
            <a:xfrm>
              <a:off x="8816400" y="36309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6" name="CustomShape 116"/>
            <p:cNvSpPr/>
            <p:nvPr/>
          </p:nvSpPr>
          <p:spPr>
            <a:xfrm>
              <a:off x="8422200" y="39978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7" name="CustomShape 117"/>
            <p:cNvSpPr/>
            <p:nvPr/>
          </p:nvSpPr>
          <p:spPr>
            <a:xfrm>
              <a:off x="8858520" y="39067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8" name="CustomShape 118"/>
            <p:cNvSpPr/>
            <p:nvPr/>
          </p:nvSpPr>
          <p:spPr>
            <a:xfrm>
              <a:off x="7637760" y="3700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9" name="CustomShape 119"/>
            <p:cNvSpPr/>
            <p:nvPr/>
          </p:nvSpPr>
          <p:spPr>
            <a:xfrm>
              <a:off x="7863480" y="3867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0" name="CustomShape 120"/>
            <p:cNvSpPr/>
            <p:nvPr/>
          </p:nvSpPr>
          <p:spPr>
            <a:xfrm>
              <a:off x="8224920" y="38066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1" name="CustomShape 121"/>
            <p:cNvSpPr/>
            <p:nvPr/>
          </p:nvSpPr>
          <p:spPr>
            <a:xfrm>
              <a:off x="8111520" y="41302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2" name="CustomShape 122"/>
            <p:cNvSpPr/>
            <p:nvPr/>
          </p:nvSpPr>
          <p:spPr>
            <a:xfrm>
              <a:off x="8398080" y="4402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3" name="CustomShape 123"/>
            <p:cNvSpPr/>
            <p:nvPr/>
          </p:nvSpPr>
          <p:spPr>
            <a:xfrm>
              <a:off x="7642080" y="44719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4" name="CustomShape 124"/>
            <p:cNvSpPr/>
            <p:nvPr/>
          </p:nvSpPr>
          <p:spPr>
            <a:xfrm>
              <a:off x="7600320" y="39438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85" name="Group 125"/>
          <p:cNvGrpSpPr/>
          <p:nvPr/>
        </p:nvGrpSpPr>
        <p:grpSpPr>
          <a:xfrm>
            <a:off x="8160120" y="2748960"/>
            <a:ext cx="1995840" cy="1044360"/>
            <a:chOff x="8160120" y="2748960"/>
            <a:chExt cx="1995840" cy="1044360"/>
          </a:xfrm>
        </p:grpSpPr>
        <p:sp>
          <p:nvSpPr>
            <p:cNvPr id="386" name="CustomShape 126"/>
            <p:cNvSpPr/>
            <p:nvPr/>
          </p:nvSpPr>
          <p:spPr>
            <a:xfrm>
              <a:off x="8348400" y="3354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7" name="CustomShape 127"/>
            <p:cNvSpPr/>
            <p:nvPr/>
          </p:nvSpPr>
          <p:spPr>
            <a:xfrm>
              <a:off x="10048680" y="34862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8" name="CustomShape 128"/>
            <p:cNvSpPr/>
            <p:nvPr/>
          </p:nvSpPr>
          <p:spPr>
            <a:xfrm>
              <a:off x="8946000" y="36860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" name="CustomShape 129"/>
            <p:cNvSpPr/>
            <p:nvPr/>
          </p:nvSpPr>
          <p:spPr>
            <a:xfrm>
              <a:off x="9298800" y="34862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0" name="CustomShape 130"/>
            <p:cNvSpPr/>
            <p:nvPr/>
          </p:nvSpPr>
          <p:spPr>
            <a:xfrm>
              <a:off x="9652680" y="35139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1" name="CustomShape 131"/>
            <p:cNvSpPr/>
            <p:nvPr/>
          </p:nvSpPr>
          <p:spPr>
            <a:xfrm>
              <a:off x="9774000" y="31899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2" name="CustomShape 132"/>
            <p:cNvSpPr/>
            <p:nvPr/>
          </p:nvSpPr>
          <p:spPr>
            <a:xfrm>
              <a:off x="9376560" y="274896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3" name="CustomShape 133"/>
            <p:cNvSpPr/>
            <p:nvPr/>
          </p:nvSpPr>
          <p:spPr>
            <a:xfrm>
              <a:off x="8982000" y="31158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" name="CustomShape 134"/>
            <p:cNvSpPr/>
            <p:nvPr/>
          </p:nvSpPr>
          <p:spPr>
            <a:xfrm>
              <a:off x="9418320" y="30247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5" name="CustomShape 135"/>
            <p:cNvSpPr/>
            <p:nvPr/>
          </p:nvSpPr>
          <p:spPr>
            <a:xfrm>
              <a:off x="8197560" y="2818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6" name="CustomShape 136"/>
            <p:cNvSpPr/>
            <p:nvPr/>
          </p:nvSpPr>
          <p:spPr>
            <a:xfrm>
              <a:off x="8423280" y="29858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7" name="CustomShape 137"/>
            <p:cNvSpPr/>
            <p:nvPr/>
          </p:nvSpPr>
          <p:spPr>
            <a:xfrm>
              <a:off x="8784720" y="29246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8" name="CustomShape 138"/>
            <p:cNvSpPr/>
            <p:nvPr/>
          </p:nvSpPr>
          <p:spPr>
            <a:xfrm>
              <a:off x="8671320" y="324828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" name="CustomShape 139"/>
            <p:cNvSpPr/>
            <p:nvPr/>
          </p:nvSpPr>
          <p:spPr>
            <a:xfrm>
              <a:off x="8957880" y="352044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0" name="CustomShape 140"/>
            <p:cNvSpPr/>
            <p:nvPr/>
          </p:nvSpPr>
          <p:spPr>
            <a:xfrm>
              <a:off x="8201880" y="358992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1" name="CustomShape 141"/>
            <p:cNvSpPr/>
            <p:nvPr/>
          </p:nvSpPr>
          <p:spPr>
            <a:xfrm>
              <a:off x="8160120" y="3061800"/>
              <a:ext cx="107280" cy="107280"/>
            </a:xfrm>
            <a:prstGeom prst="ellipse">
              <a:avLst/>
            </a:prstGeom>
            <a:solidFill>
              <a:srgbClr val="ff0000"/>
            </a:solidFill>
            <a:ln w="25560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02" name="CustomShape 142"/>
          <p:cNvSpPr/>
          <p:nvPr/>
        </p:nvSpPr>
        <p:spPr>
          <a:xfrm>
            <a:off x="579600" y="1460160"/>
            <a:ext cx="6896520" cy="3593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Posterior expectations (theoretical averages) get replaced by sample averages.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“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Monte Carlo” just means “averaging samples”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Regular Monte Carlo isn’t possible when you don’t know your posterior exactly.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Fortunately, there are many algorithms that let you sample from the posterior, assuming you know only a little bit about your posterior.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Markov chain Monte Carlo  algorithms generate *correlated* samples from a Markov chain. You average the samples so it’s a Monte Carlo algorithm. Hence: MCMC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The fact that the “long-run” distribution of this chain is the same as the posterior is difficult to prove theoretically, but easy to diagnose with software.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Shape 1"/>
          <p:cNvSpPr txBox="1"/>
          <p:nvPr/>
        </p:nvSpPr>
        <p:spPr>
          <a:xfrm>
            <a:off x="192240" y="1027440"/>
            <a:ext cx="5903280" cy="499428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txBody>
          <a:bodyPr tIns="91440" bIns="91440">
            <a:noAutofit/>
          </a:bodyPr>
          <a:p>
            <a:pPr marL="457200" indent="-406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4" name="Google Shape;413;p7" descr=""/>
          <p:cNvPicPr/>
          <p:nvPr/>
        </p:nvPicPr>
        <p:blipFill>
          <a:blip r:embed="rId2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05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6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07" name="CustomShape 4"/>
          <p:cNvSpPr/>
          <p:nvPr/>
        </p:nvSpPr>
        <p:spPr>
          <a:xfrm>
            <a:off x="139680" y="29520"/>
            <a:ext cx="709812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The Gibbs Sampler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408" name="CustomShape 5"/>
          <p:cNvSpPr/>
          <p:nvPr/>
        </p:nvSpPr>
        <p:spPr>
          <a:xfrm>
            <a:off x="6213600" y="990000"/>
            <a:ext cx="5903280" cy="4994280"/>
          </a:xfrm>
          <a:prstGeom prst="rect">
            <a:avLst/>
          </a:prstGeom>
          <a:blipFill rotWithShape="0">
            <a:blip r:embed="rId3"/>
            <a:stretch>
              <a:fillRect l="-54499" t="0" r="0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09" name="CustomShape 6"/>
          <p:cNvSpPr/>
          <p:nvPr/>
        </p:nvSpPr>
        <p:spPr>
          <a:xfrm>
            <a:off x="6191640" y="1673280"/>
            <a:ext cx="5545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5" dur="indefinite" restart="never" nodeType="tmRoot">
          <p:childTnLst>
            <p:seq>
              <p:cTn id="116" dur="indefinite" nodeType="mainSeq">
                <p:childTnLst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TextShape 1"/>
          <p:cNvSpPr txBox="1"/>
          <p:nvPr/>
        </p:nvSpPr>
        <p:spPr>
          <a:xfrm>
            <a:off x="192240" y="1027440"/>
            <a:ext cx="5903280" cy="499428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txBody>
          <a:bodyPr tIns="91440" bIns="91440">
            <a:noAutofit/>
          </a:bodyPr>
          <a:p>
            <a:pPr marL="457200" indent="-406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1" name="Google Shape;424;p8" descr=""/>
          <p:cNvPicPr/>
          <p:nvPr/>
        </p:nvPicPr>
        <p:blipFill>
          <a:blip r:embed="rId2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12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3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4" name="CustomShape 4"/>
          <p:cNvSpPr/>
          <p:nvPr/>
        </p:nvSpPr>
        <p:spPr>
          <a:xfrm>
            <a:off x="139680" y="29520"/>
            <a:ext cx="1028448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The Gibbs Sampler - Example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15" name="Google Shape;428;p8" descr=""/>
          <p:cNvPicPr/>
          <p:nvPr/>
        </p:nvPicPr>
        <p:blipFill>
          <a:blip r:embed="rId3"/>
          <a:stretch/>
        </p:blipFill>
        <p:spPr>
          <a:xfrm>
            <a:off x="6095880" y="1362600"/>
            <a:ext cx="5903280" cy="41324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9" dur="indefinite" restart="never" nodeType="tmRoot">
          <p:childTnLst>
            <p:seq>
              <p:cTn id="130" dur="indefinite" nodeType="mainSeq">
                <p:childTnLst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TextShape 1"/>
          <p:cNvSpPr txBox="1"/>
          <p:nvPr/>
        </p:nvSpPr>
        <p:spPr>
          <a:xfrm>
            <a:off x="192240" y="1027440"/>
            <a:ext cx="590328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Gibbs Sampling simplifies estimation by only requiring that the conditional densities are known distributions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i.e. we can sample directly from them…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800280" indent="-19008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7" name="Google Shape;434;p9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18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9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0" name="CustomShape 4"/>
          <p:cNvSpPr/>
          <p:nvPr/>
        </p:nvSpPr>
        <p:spPr>
          <a:xfrm>
            <a:off x="139680" y="29520"/>
            <a:ext cx="742032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The Gibbs Sampler</a:t>
            </a:r>
            <a:endParaRPr b="0" lang="en-US" sz="4800" spc="-1" strike="noStrike">
              <a:latin typeface="Arial"/>
            </a:endParaRPr>
          </a:p>
        </p:txBody>
      </p:sp>
      <p:graphicFrame>
        <p:nvGraphicFramePr>
          <p:cNvPr id="421" name="Table 5"/>
          <p:cNvGraphicFramePr/>
          <p:nvPr/>
        </p:nvGraphicFramePr>
        <p:xfrm>
          <a:off x="7560360" y="2196000"/>
          <a:ext cx="2973600" cy="1112040"/>
        </p:xfrm>
        <a:graphic>
          <a:graphicData uri="http://schemas.openxmlformats.org/drawingml/2006/table">
            <a:tbl>
              <a:tblPr/>
              <a:tblGrid>
                <a:gridCol w="660600"/>
                <a:gridCol w="1156320"/>
                <a:gridCol w="1156680"/>
              </a:tblGrid>
              <a:tr h="370800">
                <a:tc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 = 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 = 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 = 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.5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0800">
                <a:tc>
                  <a:txBody>
                    <a:bodyPr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 = 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.5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2" name="CustomShape 6"/>
          <p:cNvSpPr/>
          <p:nvPr/>
        </p:nvSpPr>
        <p:spPr>
          <a:xfrm>
            <a:off x="6227640" y="1727280"/>
            <a:ext cx="5836320" cy="700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Probability Matrix for a 2 Dimensional State Variable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23" name="CustomShape 7"/>
          <p:cNvSpPr/>
          <p:nvPr/>
        </p:nvSpPr>
        <p:spPr>
          <a:xfrm>
            <a:off x="6846840" y="3561120"/>
            <a:ext cx="4400280" cy="1938600"/>
          </a:xfrm>
          <a:prstGeom prst="rect">
            <a:avLst/>
          </a:prstGeom>
          <a:blipFill rotWithShape="0">
            <a:blip r:embed="rId2"/>
            <a:stretch>
              <a:fillRect l="-36499" t="-41420" r="-18181" b="-124556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9" dur="indefinite" restart="never" nodeType="tmRoot">
          <p:childTnLst>
            <p:seq>
              <p:cTn id="140" dur="indefinite" nodeType="mainSeq">
                <p:childTnLst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TextShape 1"/>
          <p:cNvSpPr txBox="1"/>
          <p:nvPr/>
        </p:nvSpPr>
        <p:spPr>
          <a:xfrm>
            <a:off x="192240" y="1027440"/>
            <a:ext cx="5903280" cy="499428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txBody>
          <a:bodyPr tIns="91440" bIns="91440">
            <a:noAutofit/>
          </a:bodyPr>
          <a:p>
            <a:pPr marL="457200" indent="-406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5" name="Google Shape;446;p10" descr=""/>
          <p:cNvPicPr/>
          <p:nvPr/>
        </p:nvPicPr>
        <p:blipFill>
          <a:blip r:embed="rId2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26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7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28" name="CustomShape 4"/>
          <p:cNvSpPr/>
          <p:nvPr/>
        </p:nvSpPr>
        <p:spPr>
          <a:xfrm>
            <a:off x="139680" y="29520"/>
            <a:ext cx="845568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Into the Unknown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67" dur="indefinite" restart="never" nodeType="tmRoot">
          <p:childTnLst>
            <p:seq>
              <p:cTn id="168" dur="indefinite" nodeType="mainSeq">
                <p:childTnLst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54;p11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30" name="CustomShape 1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1" name="CustomShape 2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2" name="CustomShape 3"/>
          <p:cNvSpPr/>
          <p:nvPr/>
        </p:nvSpPr>
        <p:spPr>
          <a:xfrm>
            <a:off x="139680" y="29520"/>
            <a:ext cx="863856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Random Walk Metropolis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433" name="CustomShape 4"/>
          <p:cNvSpPr/>
          <p:nvPr/>
        </p:nvSpPr>
        <p:spPr>
          <a:xfrm>
            <a:off x="6148440" y="1063440"/>
            <a:ext cx="5903280" cy="4994280"/>
          </a:xfrm>
          <a:prstGeom prst="rect">
            <a:avLst/>
          </a:prstGeom>
          <a:blipFill rotWithShape="0">
            <a:blip r:embed="rId2"/>
            <a:stretch>
              <a:fillRect l="-57341" t="0" r="-51884" b="0"/>
            </a:stretch>
          </a:blipFill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 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34" name="CustomShape 5"/>
          <p:cNvSpPr/>
          <p:nvPr/>
        </p:nvSpPr>
        <p:spPr>
          <a:xfrm>
            <a:off x="6215400" y="1697400"/>
            <a:ext cx="583632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360">
            <a:solidFill>
              <a:schemeClr val="dk1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3" dur="indefinite" restart="never" nodeType="tmRoot">
          <p:childTnLst>
            <p:seq>
              <p:cTn id="174" dur="indefinite" nodeType="mainSeq">
                <p:childTnLst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TextShape 1"/>
          <p:cNvSpPr txBox="1"/>
          <p:nvPr/>
        </p:nvSpPr>
        <p:spPr>
          <a:xfrm>
            <a:off x="192240" y="1027440"/>
            <a:ext cx="5903280" cy="499428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txBody>
          <a:bodyPr tIns="91440" bIns="91440">
            <a:noAutofit/>
          </a:bodyPr>
          <a:p>
            <a:pPr marL="457200" indent="-406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6" name="Google Shape;465;p12" descr=""/>
          <p:cNvPicPr/>
          <p:nvPr/>
        </p:nvPicPr>
        <p:blipFill>
          <a:blip r:embed="rId2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37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8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39" name="CustomShape 4"/>
          <p:cNvSpPr/>
          <p:nvPr/>
        </p:nvSpPr>
        <p:spPr>
          <a:xfrm>
            <a:off x="139680" y="29520"/>
            <a:ext cx="1074168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Metropolis Sampler - Example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40" name="Google Shape;469;p12" descr=""/>
          <p:cNvPicPr/>
          <p:nvPr/>
        </p:nvPicPr>
        <p:blipFill>
          <a:blip r:embed="rId3"/>
          <a:stretch/>
        </p:blipFill>
        <p:spPr>
          <a:xfrm>
            <a:off x="5779080" y="1310040"/>
            <a:ext cx="6053760" cy="4237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3" dur="indefinite" restart="never" nodeType="tmRoot">
          <p:childTnLst>
            <p:seq>
              <p:cTn id="184" dur="indefinite" nodeType="mainSeq">
                <p:childTnLst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Shape 1"/>
          <p:cNvSpPr txBox="1"/>
          <p:nvPr/>
        </p:nvSpPr>
        <p:spPr>
          <a:xfrm>
            <a:off x="192240" y="1027440"/>
            <a:ext cx="11688840" cy="4994280"/>
          </a:xfrm>
          <a:prstGeom prst="rect">
            <a:avLst/>
          </a:prstGeom>
          <a:blipFill rotWithShape="0">
            <a:blip r:embed="rId1"/>
            <a:stretch>
              <a:fillRect/>
            </a:stretch>
          </a:blipFill>
          <a:ln>
            <a:noFill/>
          </a:ln>
        </p:spPr>
        <p:txBody>
          <a:bodyPr tIns="91440" bIns="91440">
            <a:noAutofit/>
          </a:bodyPr>
          <a:p>
            <a:pPr marL="457200" indent="-406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 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2" name="Google Shape;475;p13" descr=""/>
          <p:cNvPicPr/>
          <p:nvPr/>
        </p:nvPicPr>
        <p:blipFill>
          <a:blip r:embed="rId2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43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4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5" name="CustomShape 4"/>
          <p:cNvSpPr/>
          <p:nvPr/>
        </p:nvSpPr>
        <p:spPr>
          <a:xfrm>
            <a:off x="139680" y="29520"/>
            <a:ext cx="1119888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A General MH Sampler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TextShape 1"/>
          <p:cNvSpPr txBox="1"/>
          <p:nvPr/>
        </p:nvSpPr>
        <p:spPr>
          <a:xfrm>
            <a:off x="139680" y="1033560"/>
            <a:ext cx="1168848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 lvl="1" marL="80028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Gibbs doesn’t need to be “tuned”...just derived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Gibbs isn’t always available, but Metropolis-Hastings (almost always) 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679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Libre Franklin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Gibbs doesn’t work well for correlated parameters (can’t move “diagonally” well)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914400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MH: how big of a jump do you propose? Too small and too big lead to correlated samples.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7" name="Google Shape;484;gf43e220101_0_1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48" name="CustomShape 2"/>
          <p:cNvSpPr/>
          <p:nvPr/>
        </p:nvSpPr>
        <p:spPr>
          <a:xfrm>
            <a:off x="0" y="6131880"/>
            <a:ext cx="8634600" cy="30744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49" name="CustomShape 3"/>
          <p:cNvSpPr/>
          <p:nvPr/>
        </p:nvSpPr>
        <p:spPr>
          <a:xfrm>
            <a:off x="0" y="-7920"/>
            <a:ext cx="12191760" cy="99792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0" name="CustomShape 4"/>
          <p:cNvSpPr/>
          <p:nvPr/>
        </p:nvSpPr>
        <p:spPr>
          <a:xfrm>
            <a:off x="139680" y="29520"/>
            <a:ext cx="956988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Metropolis-Hastings vs. Gibbs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Shape 1"/>
          <p:cNvSpPr txBox="1"/>
          <p:nvPr/>
        </p:nvSpPr>
        <p:spPr>
          <a:xfrm>
            <a:off x="139680" y="1033560"/>
            <a:ext cx="1175904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Random walk” Metropolis/Metropolis-Hastings is sometimes difficult to tune. https://chi-feng.github.io/mcmc-demo/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800" spc="-1" strike="noStrike" u="sng">
                <a:solidFill>
                  <a:srgbClr val="000000"/>
                </a:solidFill>
                <a:uFillTx/>
                <a:latin typeface="Libre Franklin"/>
                <a:ea typeface="Libre Franklin"/>
              </a:rPr>
              <a:t>Issues: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-456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What your proposal density is matters a lot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You don’t want to reject huge leaps, and you don’t want to crawl slowly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aim for 22% acceptance rate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Libre Franklin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there exist rules of thumb for proposal’s covariance matrix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-4568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Wait for the sampler to explore the whole parameter space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You have to first reach the posterior, then you have to sample from it (burn-in?)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Libre Franklin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if multimodal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2" name="Google Shape;493;p16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53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4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5" name="CustomShape 4"/>
          <p:cNvSpPr/>
          <p:nvPr/>
        </p:nvSpPr>
        <p:spPr>
          <a:xfrm>
            <a:off x="139680" y="29520"/>
            <a:ext cx="1174752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MH Sampler – Considerations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5" dur="indefinite" restart="never" nodeType="tmRoot">
          <p:childTnLst>
            <p:seq>
              <p:cTn id="226" dur="indefinite" nodeType="mainSeq">
                <p:childTnLst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Shape 1"/>
          <p:cNvSpPr txBox="1"/>
          <p:nvPr/>
        </p:nvSpPr>
        <p:spPr>
          <a:xfrm>
            <a:off x="139680" y="1033560"/>
            <a:ext cx="1168884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You don’t need to sample your whole joint posterior in one shot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Libre Franklin"/>
                <a:ea typeface="Libre Franklin"/>
              </a:rPr>
              <a:t>Guideline: </a:t>
            </a: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 It tends to be easier to sample from smaller dimensional, conditional distributions, than it is to sample from high dimensional distributions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So, you don’t have nicely behaved conditionals (so no Gibbs) but you have many many parameters (so no one shot Metropolis-Hastings.).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Libre Franklin"/>
                <a:ea typeface="Libre Franklin"/>
              </a:rPr>
              <a:t>Metropolis-in-Gibbs </a:t>
            </a: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– Use Metropolis/Metropolis-Hastings to update each parameter conditional on the previous value of all other parameters.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272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Instead of sampling directly from nicely behaved conditionals…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1716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Libre Franklin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7" name="Google Shape;502;p14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58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9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0" name="CustomShape 4"/>
          <p:cNvSpPr/>
          <p:nvPr/>
        </p:nvSpPr>
        <p:spPr>
          <a:xfrm>
            <a:off x="139680" y="29520"/>
            <a:ext cx="1083312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Metropolis-Within-Gibbs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63" dur="indefinite" restart="never" nodeType="tmRoot">
          <p:childTnLst>
            <p:seq>
              <p:cTn id="264" dur="indefinite" nodeType="mainSeq">
                <p:childTnLst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Shape 1"/>
          <p:cNvSpPr txBox="1"/>
          <p:nvPr/>
        </p:nvSpPr>
        <p:spPr>
          <a:xfrm>
            <a:off x="139680" y="1033560"/>
            <a:ext cx="595584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000" spc="-1" strike="noStrike" u="sng">
                <a:solidFill>
                  <a:srgbClr val="000000"/>
                </a:solidFill>
                <a:uFillTx/>
                <a:latin typeface="Libre Franklin"/>
                <a:ea typeface="Libre Franklin"/>
              </a:rPr>
              <a:t>Big issue: </a:t>
            </a: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In high dimensions, most random walk proposals are in the “wrong” direction.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1" lang="en-US" sz="2000" spc="-1" strike="noStrike" u="sng">
                <a:solidFill>
                  <a:srgbClr val="000000"/>
                </a:solidFill>
                <a:uFillTx/>
                <a:latin typeface="Libre Franklin"/>
                <a:ea typeface="Libre Franklin"/>
              </a:rPr>
              <a:t>HMC –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Uses gradient information about the target posterior (a topological map)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Models our parameter estimates as “physical” particles moving along the posterior landscape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Give our guesses momentum so they keep going in the same “direction”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</a:rPr>
              <a:t>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2" name="Google Shape;511;p17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63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4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5" name="CustomShape 4"/>
          <p:cNvSpPr/>
          <p:nvPr/>
        </p:nvSpPr>
        <p:spPr>
          <a:xfrm>
            <a:off x="139680" y="29520"/>
            <a:ext cx="1072008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Hamiltonian (aka Hybrid) MC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66" name="Google Shape;515;p17" descr=""/>
          <p:cNvPicPr/>
          <p:nvPr/>
        </p:nvPicPr>
        <p:blipFill>
          <a:blip r:embed="rId2"/>
          <a:srcRect l="11835" t="13666" r="0" b="0"/>
          <a:stretch/>
        </p:blipFill>
        <p:spPr>
          <a:xfrm>
            <a:off x="6286680" y="1601640"/>
            <a:ext cx="4573440" cy="2885400"/>
          </a:xfrm>
          <a:prstGeom prst="rect">
            <a:avLst/>
          </a:prstGeom>
          <a:ln>
            <a:noFill/>
          </a:ln>
        </p:spPr>
      </p:pic>
      <p:sp>
        <p:nvSpPr>
          <p:cNvPr id="467" name="CustomShape 5"/>
          <p:cNvSpPr/>
          <p:nvPr/>
        </p:nvSpPr>
        <p:spPr>
          <a:xfrm>
            <a:off x="6592680" y="5098680"/>
            <a:ext cx="4084560" cy="518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From Fig 10 of “</a:t>
            </a:r>
            <a:r>
              <a:rPr b="0" lang="en-US" sz="1400" spc="-1" strike="noStrike" u="sng">
                <a:solidFill>
                  <a:srgbClr val="0563c1"/>
                </a:solidFill>
                <a:uFillTx/>
                <a:latin typeface="Arial"/>
                <a:ea typeface="Arial"/>
                <a:hlinkClick r:id="rId3"/>
              </a:rPr>
              <a:t>A Conceptual Introduction to</a:t>
            </a:r>
            <a:endParaRPr b="0" lang="en-US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 u="sng">
                <a:solidFill>
                  <a:srgbClr val="0563c1"/>
                </a:solidFill>
                <a:uFillTx/>
                <a:latin typeface="Arial"/>
                <a:ea typeface="Arial"/>
                <a:hlinkClick r:id="rId4"/>
              </a:rPr>
              <a:t>Hamiltonian Monte Carlo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” by Michael Betancourt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3" dur="indefinite" restart="never" nodeType="tmRoot">
          <p:childTnLst>
            <p:seq>
              <p:cTn id="294" dur="indefinite" nodeType="mainSeq">
                <p:childTnLst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TextShape 1"/>
          <p:cNvSpPr txBox="1"/>
          <p:nvPr/>
        </p:nvSpPr>
        <p:spPr>
          <a:xfrm>
            <a:off x="139680" y="1033560"/>
            <a:ext cx="595584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HMC is sensitive to two tuning parameters set by the analyst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The main one is the number of steps the “physical” simulation runs for any given update.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If tuning is set poorly, the HMC might loop back to where you started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In essence, it was too enthusiastic following the gradients.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NUTS automatically tunes the HMC to avoid those sorts of issues.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9" name="Google Shape;522;p18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70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1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2" name="CustomShape 4"/>
          <p:cNvSpPr/>
          <p:nvPr/>
        </p:nvSpPr>
        <p:spPr>
          <a:xfrm>
            <a:off x="139680" y="29520"/>
            <a:ext cx="1028448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No U-Turn Sampler – </a:t>
            </a:r>
            <a:r>
              <a:rPr b="0" lang="en-US" sz="4800" spc="-1" strike="noStrike" u="sng">
                <a:solidFill>
                  <a:srgbClr val="0563c1"/>
                </a:solidFill>
                <a:uFillTx/>
                <a:latin typeface="Franklin Gothic"/>
                <a:ea typeface="Franklin Gothic"/>
                <a:hlinkClick r:id="rId2"/>
              </a:rPr>
              <a:t>NUTS</a:t>
            </a: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 </a:t>
            </a:r>
            <a:endParaRPr b="0" lang="en-US" sz="4800" spc="-1" strike="noStrike">
              <a:latin typeface="Arial"/>
            </a:endParaRPr>
          </a:p>
        </p:txBody>
      </p:sp>
      <p:pic>
        <p:nvPicPr>
          <p:cNvPr id="473" name="Google Shape;526;p18" descr=""/>
          <p:cNvPicPr/>
          <p:nvPr/>
        </p:nvPicPr>
        <p:blipFill>
          <a:blip r:embed="rId3"/>
          <a:srcRect l="11835" t="13666" r="0" b="0"/>
          <a:stretch/>
        </p:blipFill>
        <p:spPr>
          <a:xfrm>
            <a:off x="6609600" y="1625760"/>
            <a:ext cx="4573440" cy="28854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5" dur="indefinite" restart="never" nodeType="tmRoot">
          <p:childTnLst>
            <p:seq>
              <p:cTn id="326" dur="indefinite" nodeType="mainSeq">
                <p:childTnLst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TextShape 1"/>
          <p:cNvSpPr txBox="1"/>
          <p:nvPr/>
        </p:nvSpPr>
        <p:spPr>
          <a:xfrm>
            <a:off x="139680" y="1033560"/>
            <a:ext cx="1175904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Samplers attempt to sample from the posterior distribution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Gibbs – When you have conjugate conditional distributions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Random Walk Metropolis Hastings – For, well, almost anything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Hamiltonian MC – A much better version of MH if you have the gradient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For high dimensional continuous parameter sets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Not much good for discrete parameters like mixtures (no gradient information)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NUTS – An “auto-tuned” Hamiltonian MC method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3716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Integrated into PyMC3, STAN, etc.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Issues arise with samplers because of the geometry of the posterior (hills and valleys, flat plains, sharp corners all cause issues). There is no one-size-fits-all algorithm.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visualizations: https://chi-feng.github.io/mcmc-demo/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5" name="Google Shape;532;p19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76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7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8" name="CustomShape 4"/>
          <p:cNvSpPr/>
          <p:nvPr/>
        </p:nvSpPr>
        <p:spPr>
          <a:xfrm>
            <a:off x="139680" y="29520"/>
            <a:ext cx="4340880" cy="82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8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Summary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1" dur="indefinite" restart="never" nodeType="tmRoot">
          <p:childTnLst>
            <p:seq>
              <p:cTn id="352" dur="indefinite" nodeType="mainSeq">
                <p:childTnLst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Shape 1"/>
          <p:cNvSpPr txBox="1"/>
          <p:nvPr/>
        </p:nvSpPr>
        <p:spPr>
          <a:xfrm>
            <a:off x="139680" y="1033560"/>
            <a:ext cx="11759040" cy="499428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Diagnosing your Sampler –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Multiple sampling chains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Convergence/divergence statistics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Eyeballing your traceplots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What’s the deal with categorical variables?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Handling combinatorics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Mixture models and label switching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Next, Next Week –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Putting it all together with a Bayesian Logistic Regression…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Libre Franklin"/>
                <a:ea typeface="Libre Franklin"/>
              </a:rPr>
              <a:t>HW3 will involve samplers!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4568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Libre Franklin"/>
              </a:rPr>
              <a:t>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0" name="Google Shape;541;p20" descr=""/>
          <p:cNvPicPr/>
          <p:nvPr/>
        </p:nvPicPr>
        <p:blipFill>
          <a:blip r:embed="rId1"/>
          <a:stretch/>
        </p:blipFill>
        <p:spPr>
          <a:xfrm>
            <a:off x="8634960" y="6131880"/>
            <a:ext cx="3556800" cy="733680"/>
          </a:xfrm>
          <a:prstGeom prst="rect">
            <a:avLst/>
          </a:prstGeom>
          <a:ln>
            <a:noFill/>
          </a:ln>
        </p:spPr>
      </p:pic>
      <p:sp>
        <p:nvSpPr>
          <p:cNvPr id="481" name="CustomShape 2"/>
          <p:cNvSpPr/>
          <p:nvPr/>
        </p:nvSpPr>
        <p:spPr>
          <a:xfrm>
            <a:off x="0" y="6131880"/>
            <a:ext cx="8634600" cy="7257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2" name="CustomShape 3"/>
          <p:cNvSpPr/>
          <p:nvPr/>
        </p:nvSpPr>
        <p:spPr>
          <a:xfrm>
            <a:off x="0" y="-7920"/>
            <a:ext cx="12191760" cy="997560"/>
          </a:xfrm>
          <a:prstGeom prst="rect">
            <a:avLst/>
          </a:prstGeom>
          <a:solidFill>
            <a:srgbClr val="0b112b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83" name="CustomShape 4"/>
          <p:cNvSpPr/>
          <p:nvPr/>
        </p:nvSpPr>
        <p:spPr>
          <a:xfrm>
            <a:off x="139680" y="29520"/>
            <a:ext cx="11988720" cy="1431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ed7d31"/>
                </a:solidFill>
                <a:latin typeface="Franklin Gothic"/>
                <a:ea typeface="Franklin Gothic"/>
              </a:rPr>
              <a:t>Next Week – Characterization and Computation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7" dur="indefinite" restart="never" nodeType="tmRoot">
          <p:childTnLst>
            <p:seq>
              <p:cTn id="398" dur="indefinite" nodeType="mainSeq">
                <p:childTnLst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7" fill="hold">
                      <p:stCondLst>
                        <p:cond delay="indefinite"/>
                      </p:stCondLst>
                      <p:childTnLst>
                        <p:par>
                          <p:cTn id="408" fill="hold">
                            <p:stCondLst>
                              <p:cond delay="0"/>
                            </p:stCondLst>
                            <p:childTnLst>
                              <p:par>
                                <p:cTn id="4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1" fill="hold">
                      <p:stCondLst>
                        <p:cond delay="indefinite"/>
                      </p:stCondLst>
                      <p:childTnLst>
                        <p:par>
                          <p:cTn id="412" fill="hold">
                            <p:stCondLst>
                              <p:cond delay="0"/>
                            </p:stCondLst>
                            <p:childTnLst>
                              <p:par>
                                <p:cTn id="4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 Basener</dc:creator>
  <dc:description/>
  <dc:language>en-US</dc:language>
  <cp:lastModifiedBy/>
  <dcterms:modified xsi:type="dcterms:W3CDTF">2022-06-20T23:54:05Z</dcterms:modified>
  <cp:revision>1</cp:revision>
  <dc:subject/>
  <dc:title/>
</cp:coreProperties>
</file>